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to open: we built a store 43 times smaller than the raw layers that answers plot checks about 16 times faster than Earth Engine, re-checks only what changed, and matches the raw-layer verdicts on every plot. Then go straight to why Ivory Coast cocoa.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about 15 seconds. Don’t read every card. How to say it: “A few terms first. EUDR is the EU rule: nothing sold in the EU may come from land deforested after the end of 2020, and it applies from 30 December. Four public datasets let us check that. GFC2020 is the EU’s own map of where forest stood at the end of 2020, the cut-off. Hansen and RADD tell us what was disturbed after that: Hansen yearly from optical satellites, RADD weekly from radar, which sees through cloud. And WDPA gives us the park boundaries.” If a judge asks about a layer later, point back to this slide; slide 7 shows what we keep from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land, then the law. About 45 seconds. The chart is Trase’s, from the EU Joint Research Centre’s satellite record: since 2000 Ivory Coast has lost or degraded 79% of its undisturbed forest, from about 5.6 to about 1.2 million hectares. Cocoa expansion drove about 45% of forest loss over 2003 to 2017. What’s left is mostly protected: in our study area, forest in 2020 is almost entirely Taï National Park, with cocoa farms right up to its edge. Now the market. Ivory Coast grew 36% of the world’s cocoa beans in 2024, and a record 66% of its exports go to the EU. From 30 December, 74 days from today, large and medium EU operators must prove every lot was not grown on land deforested after 2020. Ivory Coast is standard risk, so there is no simplified route: every plot gets a geolocated check. And a failed check is expensive: maximum fines of at least 4% of EU turnover, plus confiscation and temporary market bans. If asked about the older 59% EU share: that was an EU factsheet for 2023; Trase’s 2024 figure is 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 chose Ivory Coast cocoa: it’s the hardest test of the thing the judges score, decision fidelity. The plots are tiny. Over a million farmers work about 3.2 million hectares, around 3 hectares each. On the 9.2 metre forest grid, a 1 hectare plot is only about 120 cells, and our rule flags a plot at 3 disturbed cells, about 0.026 hectares. So every cell matters. Of the 144 cells a 1 hectare plot touches, 44, about a third, are cut by its boundary, and the pixel-centre rule decides each one. If the compact store and the raw pipeline handled even a few edge cells differently, small plots would flip verdicts. That’s why 100% decision fidelity on plots this small means something. Many plots aren’t even polygons: under 4 hectares, EUDR accepts a single GPS point, so we buffer it to a circle of the declared area. 157 of our 500 test plots are points. And the map shows where they are: cocoa reaches deep into protected areas, in some parks more than a third of the area, so plots sit right against forest, where one or two cells change the answer. SystemEarth’s sample is Thai rubber; we picked the case that stresses fidelity hardest, and kept their output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SystemEarth works today, from their product manager on 14 October. The customer submits plots and a due-diligence CSV. SystemEarth analyses the plots in Earth Engine against its stored layers and compares the result with the supplier’s declaration. The stack: vectors in PostGIS, rasters as full copies in Google Cloud Storage served through GeoServer, and analysis on Earth Engine under a commercial Enterprise Basic plan. Past lots are not re-checked automatically. Users choose manual or scheduled reanalysis, and sometimes skip it, for example when deforestation happened after the harvest. They already record dataset versions and keep a full audit trail, so reproducibility is not our pitch. We kept that and their output schema, and targeted three things: speed per check, storing full raster copies, and knowing exactly which past lots a new release can affect.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judge will ask: shade cocoa can look like forest from orbit, so how do we tell them apart? Our system never decides from the picture. EUDR defines forest by land use, not by trees. Land predominantly under agricultural use, including plantations, is not forest, however tall the trees. So the question is never “does this look like forest today”, it is “was this land forest on 31 December 2020”. The EU’s GFC2020 map answers that per 10 metre pixel: it starts from all 2020 tree cover and removes cropland, agroforestry and tree crops such as cocoa. We keep that answer as one forest bit per cell, and only count disturbance where the bit is 1. Three example plots. Shade cocoa whose shade trees are thinned: the satellite sees loss, but the cell was farmland in 2020, so it’s ignored: Compliant. Forest cleared for cocoa: three or more cells with a strong signal: Non-compliant. A weak alert or one or two cells: Needs review. Measured in our area: 99.5% of post-2020 tree-cover loss outside the parks was on land that wasn’t forest in 2020, so a Hansen-only check flags 22.9% of random farms and ours flags 0.12%. That’s why Hansen-only checks send farms to field visits; the supplier in SystemEarth’s own sample flagged 5 of 17 plots and cleared them on site. Be upfront: this gain comes from the decision rule, not the storage. And it can still miss: GFC2020 sometimes maps shade cocoa as forest, 18% commission error in version 2, which is why weak or tiny signals go to review. We remove flags; we don’t prove them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dropped layer has a reason. The rule only asks: was this cell forest on 31 December 2020, and was it disturbed after? So we keep one bit from GFC2020, and only post-cut-off disturbance on 2020 forest from Hansen and RADD. Everything is put on the GFC2020 grid, about 9.2 metre cells, about 85 square metres. Hansen aligns exactly as 3 by 3 cells. RADD sits on its own grid and is resampled by nearest neighbour; both pipelines do it identically, so it cannot cause a fidelity difference. WDPA: we keep national designations. The Taï World Heritage record lies inside the national park, so including it would only double count. GLAD-L alerts are left out because they come from the same Landsat source as Hansen.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four paths, and the design principle is that each runs only as often as its inputs change. Earth Engine is used only to extract a release, not for every check. Per release, weekly for RADD or yearly for Hansen: extract the layers, from an Earth Engine export or a direct download; encode them into the 16-bit base raster or a small event file; record versions and file hashes in the manifest. Encoding took 3.9 seconds for our area; a release’s event file was 22.7 kB. Per lot upload, once per plot: point plots become circles of their declared area, polygons become run-length cell runs, and park overlaps for d1 and d2 are computed and stored. About 148 bytes per plot. Per check, the hot path, in orange: read the plot’s cell runs, read the one tile they fall in, decode the 16-bit cells, apply the rules in SQL. 32 milliseconds, under a kilobyte read. No geometry anywhere on this path. Per update: take the cells in the new event file, join them against the plot index, and re-check only the plots they touch. 39 of 500 in 0.11 seconds. The store itself is four kinds of file: the 16-bit base raster (forest bit, 3 source bits, 12-bit first-disturbance date), one event file per release, the plot index, and the manifest of dataset IDs, versions and hashes.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Storage, with the reasons behind it. The result: 140 kB for all decision layers against 6.05 MB of raw layers as exported and compressed, 43 times smaller. About 50 bytes per square kilometre, and about 148 bytes per plot in the plot index. Do not quote 1,935 times: that compares against uncompressed layers and is inflated because RADD was exported as int32. Why it is that small. The rule only reads whether a cell was forest in 2020, which source fired, and the first disturbance date, so each cell is one 16-bit number. The cost: a new question, like degradation or a different cut-off, means going back to the source; the manifest records exactly what to re-fetch. We store on GFC2020’s own pixel grid, not H3: hexagons don’t align with pixels, so they would change which cells count as inside a plot and pixel fidelity would break. On the pixel grid, Hansen also aligns exactly as 3 by 3 cells. Compression was measured: ZSTD without a predictor is 96 kB, with a predictor 111, DEFLATE 191, LZW 370; differencing scrambles bit-packed fields. Each release is a small event file, 22.7 kB, instead of rewriting the base, and plots are run-length cell runs, 70 kB instead of 977. The event log grows, so it is folded into a fresh base quarterly. Honest framing: storage is cheap in money either way. SystemEarth stores full raster copies today; the decision needs about 2% of those bytes. Small storage matters because it makes fast local checks possible: one plot reads one 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speed, with the reasons behind it. The result: one plot in 32 milliseconds, reading one tile and under a kilobyte, against a median of 0.51 seconds for one Earth Engine request, with a long tail up to 6.9 seconds. That is about 16 times faster per plot. 500 plots in 0.34 seconds against 7.9 seconds for one batched Earth Engine request. And it is the same answer: c2 identical on all 500 plots. The price is an encode step per release, 3.9 seconds for our area. Why it is fast: we move work out of the query path. When a supplier uploads plots, each polygon becomes run-length cell runs once, so a check needs no geometry, only lookups. Park overlaps are computed once per plot at upload because boundaries rarely change; when WDPA updates, they are recomputed. 512 pixel tiles mean about one tile per plot; 256 would save bytes but add reads. And the engine is DuckDB on local files: no concurrency cap like Earth Engine’s 20 requests, no server to run. Most of the 32 milliseconds is start-up overhead that a long-running service would remove. Earth Engine compute for reference: 0.17 EECU-seconds per single request, 0.036 per plot when batched.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Reanalysis becomes targeted instead of guessed. Today SystemEarth’s users decide manually or by schedule which past lots to reanalyse, and sometimes skip it, for example when deforestation happened after the harvest. We don’t take that choice away: the affected-plot query tells them exactly which lots a release can change. And because every event carries a date, a lot can be checked only against events before its harvest date, which is the case their product manager raised. Demo: we built the store on data held back to 30 June, then published the last three months of RADD plus Hansen 2025 as one event batch: 3,989 events, 22.7 kB. The engine re-checked 39 of 500 plots in 0.11 seconds, exactly the set whose outputs can change. 12 final statuses changed, 9 of them from Compliant to Non-compliant. A full re-check gives the identical result. Why so few: events only happen on cells that were forest in 2020, and about 99% of ordinary cocoa plots touch no 2020 forest. Our 500 plots are stratified towards forest on purpose, so 39 of 500 is pessimistic for a real portfolio. Trade-off: low-confidence RADD alerts can be withdrawn later. That needs retract events, which are designed but not built. A quarterly fold-in rebuilds the base raster.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prototype here. When you're done, come back to the next slide: “And does it still match the raw layers? Yes, on every plot.” If the live run fails, don't debug on stage: play the recorded backup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Fidelity, and how we made 100% mean something. The result: 100% decision fidelity on all 500 plots in all five strata, before the update, after the incremental update, and on a full re-check. Every output field is identical to the raw-layer pipeline, with zero area difference. 100% pixel fidelity on all 32.4 million cells. And thresholds are settings, not magic numbers: across 12 combinations of the 3-cell and 1% rules, the 248 Compliant plots never change; plots only move between Non-compliant and Needs review. The plots are synthetic but stratified over forest fragments, ordinary cocoa land, classified forests, the park boundary and the park interior, so every rule path is exercised. Why it holds. Before any encoding we wrote the decision spec, the contract both pipelines implement. The honest cost: both share the per-cell rule, so 100% proves the encoding, event log, index and SQL lose nothing; it doesn’t test the rule itself. We chose lossless encoding over quantised dates or downsampling. A pixel belongs to a plot when its centre is inside it; point plots, which EUDR allows up to 4 hectares, become circles of the declared area. Edge pixels count all or nothing, which is why Earth Engine’s forest-cell counts match on 81% of plots while the c2 verdict matches on all 500. Nearest-neighbour resampling never invents values, and Hansen’s year becomes 1 January, the conservative choice. Be precise: 100% means the compact store loses nothing compared with the raw layers. It does not mean the layers are right on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budget the organisers asked for, at national scale: all of Ivory Coast, a million plots. Say it straight: Earth Engine compute per check is cheap, about 19 dollars per million single-plot checks, 0.17 EECU-seconds at 40 cents per EECU-hour. Storage is cheap on both sides too. Don’t oversell savings: at measured rates Earth Engine usage is tens of dollars a month. The real differences are elsewhere. Time: at half a second per request and a cap of 20 concurrent requests, reanalysing a million plots takes about 7 hours; our store does it in about 11 minutes on one core. No concurrency cap. Targeted reanalysis. And the check path no longer needs Earth Engine: we only use it to extract a release, and Hansen and GFC2020 are downloadable directly. That could free the 500 dollar a month Enterprise Basic plan, 6,000 a year, if nothing else at SystemEarth needs it, which we don’t know. What we haven’t measured yet is the cost of extracting a national release. Engineering time, not the cloud bill, is the real cost of our design. If asked about supplier declarations: simulating the sample supplier’s method (any Hansen loss 2021–2023), we agree on c2 for 75.6% of the stratified plots. 76 supplier flags are removed, 69 of them on plots with no 2020 forest; 46 times the supplier misses something, 32 RADD alerts and 14 losses after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it would run at SystemEarth: a proposal, built around what they already have. Blue is kept. Earth Engine, or direct downloads, still supply the source layers, but only once per release. PostGIS stays the home of plots and lots. Verdicts go back into their results and audit trail, each tagged with our manifest ID next to their own dataset versions. Orange is new, and it is three small jobs and some files. A release job extracts and encodes each release into a new event file. An indexer runs when a lot is uploaded, turning plots into cell runs and storing park overlaps. A check engine runs DuckDB over the store, on demand or on the schedule users already choose. The compact store is plain files in object storage, in the same Google Cloud Storage they already use for rasters. No database server to run. At national scale, estimated from our per-square-kilometre and per-plot figures: about 16 MB of layers, about 148 MB of plot index for a million plots, and about 11 CPU-minutes for a full re-check. GeoServer and their maps are untouched. This is the target state of the migration path on the next slide: run alongside, compare verdicts plot by plot, then switch reanalysis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choice has a reason. Pixel grid, not H3: hexes don’t align with pixels, so plot membership would change and pixel fidelity would break. 16-bit packed base: one tile read per plot. Event log: incremental re-checks. Run-length index: 70 kB instead of 977. DuckDB: no cluster to run. Thresholds as settings: Compliant never moves. Limits, said before a judge says them: the store answers today’s rules only; the plots are synthetic; we tested one 50 km area, but the per-square-kilometre figures scale; retraction events are designed, not built; prices are approximate. Adoption is low risk: run our checks alongside Earth Engine, compare verdicts plot by plot, then switch re-checks over. Earth Engine stays for extracting each release. The end state is the stack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line, then the four numbers in one breath: 43 times smaller, 32 milliseconds per plot, 39 of 500 re-checked on an update, 100% decision fidelity. Then stop and take questions. The appendix slide has prepared answers; the full v1 deck has the deeper design slides if a judge wants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show only if asked. Shared pixel rule, full answer: “Exactly. Fixing one pixel rule in the spec is what makes fidelity achievable. The risk is real between systems: Earth Engine’s own edge handling changed forest-cell counts on 19% of our plots, even though the c2 verdict matched on all 500. Small plots are where a vague rule breaks verdicts, and that’s why we wrote the rule down first.” What 100% verifies independently: the encoding loses nothing (packing, compression, tiles), the event log reproduces the full data, the run-length index is exact, and the rules re-implemented in SQL match the Python rules. It says nothing about whether GFC2020 or RADD are right on the ground. Thresholds: across 12 combinations of the 3-cell and 1% edge rules, the 248 Compliant plots never change; plots only move between Non-compliant and Needs review. They decide how much goes to a person, never whether a plot is cleared.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show only if asked. Shade cocoa: GFC2020 can map shade cocoa as forest; its version 2 assessment found an 18% commission error. That’s why it’s a risk signal: one or two disturbed cells or low-confidence alerts go to review rather than straight to Non-compliant. Pre-2021 data: the cut-off is 31 December 2020 in Article 2. Loss before it can’t change a deforestation result; the 2020 forest map keeps the one fact we need from before. Hansen resampling: each 30 m Hansen pixel becomes exactly 3 by 3 GFC2020 cells by nearest neighbour, so nothing is invented and it compresses to almost nothing once masked to 2020 forest. Protected areas, if asked: we use national WDPA designations only; the Taï World Heritage record lies inside the national park, so adding it would only double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show only if asked. Earth Engine timings: our project is on the noncommercial tier. EECU metering is the same, so the compute figures carry over; latency on their commercial or high-volume endpoint may differ, which is why we quote the median of 20 requests and the full range, 0.40 to 6.9 seconds. Supplier declarations, in full: we simulated the sample supplier’s method, any Hansen loss 2021 to 2023, on our 500 stratified plots. We agree on c2 for 75.6%. 76 supplier flags are removed, 69 of them on plots with no 2020 forest at all; 46 times the supplier misses something, 32 RADD alerts outside their layer and 14 losses after 2023. Say “removes”, never “proves false”: we have no field data. Unmeasured, if asked: the Earth Engine cost of extracting a national release. If they ask about the demo, the recorded backup runs: build on data held back to 30 June, check 500 plots, a new release arrives, only 39 plots re-checked, results identical to the raw-layer pipeline, tests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show only if asked: “What does this change when a supplier uploads a plot?” Concede the small point first; it makes the big one credible. How to say it: “For a single new plot, Earth Engine is fine: half a second either way. The difference is the plot’s lifetime. Today every reanalysis repeats the geometry work on Earth Engine, and users guess which lots a release affects. We index a plot once, at upload, so every later check is a lookup, and each release tells you exactly which lots it touched. The cost is keeping the index in step with your plot records, which your audit trail already makes easy.” The honest trade-off: we add an index that must stay in step with their plots. If a plot edit doesn’t reach the indexer, checks would run against the old shape. So it should be driven by their upload flow and audit trail, and an unindexed plot must be refused, not silently skipped; that’s a gap in the prototype today. What we get: the geometry is solved once, so every later question about that plot is cheap, including the one their users currently guess at: did this release change anything for this lot? Audit of plot history, if asked: equal. Theirs is already strong (versions, supply-shed versions); we rely on it and add our manifest ID per verdict. Numbers: single Earth Engine request ≈ 0.5 s median; ours ≈ 32 ms per check plus a one-off index step. A million plots: ≈ 7 hours one request at a time under the 20-request cap, ≈ 4.4 hours batched (7.9 s per 500), ≈ 11 minutes for us on one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show only if asked: “Why DuckDB?” How to say it: “The store is a few small files that only change once per release, so we didn’t want a server. PostGIS would work, but it’s a database that has to run all the time for what are really lookups. Earth Engine is what we’re replacing on the check path: remote, half a second a request, 20 at a time. And plain Python would work too; it’s how our raw-layer pipeline does it. Writing the rules again in SQL gives us a second, independent implementation, and that is what makes the 100% fidelity result mean something.” If pushed on scale: DuckDB runs in-process on one machine. A full national re-check is about 11 CPU-minutes, so one machine is enough; most of the 32 ms is start-up that a long-running service would remove. PostGIS still stays in their stack as the home of plots and lots; we only take the per-check lookups off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show only if asked: “Why is it so much faster?” Short answer: because the hard work is done before anyone asks, and checks run locally, in bulk. Earth Engine redoes the work on Google’s servers for every request, one request at a time, with at most 20 running at once. One line for the pitch: “Earth Engine redoes the work remotely for every request, 20 at a time. We do it once in advance, keep only what the rule needs, and check every farm locally in one pass, and after an update we only re-check the farms that could have changed.” An everyday comparison, if it helps: Earth Engine is like ordering each dish from a restaurant across town: every order is cooked from scratch, you wait for delivery, and they take only 20 orders at a time. Ours is meal prep at home: ingredients chopped in advance (farm cells at upload), kept in your own fridge (local files), and every dish cooked in one go (one query). After a delivery of new groceries you only remake the dishes that used them (39 of 500). Keep it honest: Earth Engine’s computing per check is small, 0.17 EECU-seconds, about 19 dollars per million checks. Most of its slowness is the round trip, the per-request setup and the 20-request cap, not heavy maths. Batched, Earth Engine is faster, about 16 ms per farm, so about 4.4 hours per million instead of 7; we’re still about 24 times faster. The 11 minutes is extrapolated from 500 farms at 0.67 ms each on one core; it scales linearly and can be split across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FEBE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102233"/>
            <a:ext cx="10566466" cy="446980"/>
          </a:xfrm>
          <a:prstGeom prst="rect">
            <a:avLst/>
          </a:prstGeom>
          <a:noFill/>
          <a:ln/>
        </p:spPr>
        <p:txBody>
          <a:bodyPr wrap="square" lIns="0" tIns="0" rIns="0" bIns="0" rtlCol="0" anchor="t"/>
          <a:lstStyle>
            <a:lvl1pPr algn="l" indent="0" marL="0">
              <a:lnSpc>
                <a:spcPct val="115000"/>
              </a:lnSpc>
              <a:buNone/>
              <a:defRPr lang="en-US" sz="3200" dirty="0">
                <a:solidFill>
                  <a:srgbClr val="17332B"/>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7" y="1854014"/>
            <a:ext cx="10566433" cy="4191186"/>
          </a:xfrm>
          <a:prstGeom prst="rect">
            <a:avLst/>
          </a:prstGeom>
          <a:noFill/>
          <a:ln/>
        </p:spPr>
        <p:txBody>
          <a:bodyPr wrap="square" lIns="0" tIns="0" rIns="0" bIns="0" rtlCol="0" anchor="t"/>
          <a:lstStyle>
            <a:lvl1pPr algn="l" indent="0" marL="0">
              <a:lnSpc>
                <a:spcPct val="140000"/>
              </a:lnSpc>
              <a:buNone/>
              <a:defRPr lang="en-US" sz="1600" dirty="0">
                <a:solidFill>
                  <a:srgbClr val="1733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FEBE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102233"/>
            <a:ext cx="10566466" cy="446980"/>
          </a:xfrm>
          <a:prstGeom prst="rect">
            <a:avLst/>
          </a:prstGeom>
          <a:noFill/>
          <a:ln/>
        </p:spPr>
        <p:txBody>
          <a:bodyPr wrap="square" lIns="0" tIns="0" rIns="0" bIns="0" rtlCol="0" anchor="t"/>
          <a:lstStyle>
            <a:lvl1pPr algn="l" indent="0" marL="0">
              <a:lnSpc>
                <a:spcPct val="115000"/>
              </a:lnSpc>
              <a:buNone/>
              <a:defRPr lang="en-US" sz="3200" dirty="0">
                <a:solidFill>
                  <a:srgbClr val="17332B"/>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7" y="1854014"/>
            <a:ext cx="10566433" cy="4191186"/>
          </a:xfrm>
          <a:prstGeom prst="rect">
            <a:avLst/>
          </a:prstGeom>
          <a:noFill/>
          <a:ln/>
        </p:spPr>
        <p:txBody>
          <a:bodyPr wrap="square" lIns="0" tIns="0" rIns="0" bIns="0" rtlCol="0" anchor="t"/>
          <a:lstStyle>
            <a:lvl1pPr algn="l" indent="0" marL="0">
              <a:lnSpc>
                <a:spcPct val="140000"/>
              </a:lnSpc>
              <a:buNone/>
              <a:defRPr lang="en-US" sz="1600" dirty="0">
                <a:solidFill>
                  <a:srgbClr val="1733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32B"/>
        </a:solidFill>
      </p:bgPr>
    </p:bg>
    <p:spTree>
      <p:nvGrpSpPr>
        <p:cNvPr id="1" name=""/>
        <p:cNvGrpSpPr/>
        <p:nvPr/>
      </p:nvGrpSpPr>
      <p:grpSpPr>
        <a:xfrm>
          <a:off x="0" y="0"/>
          <a:ext cx="0" cy="0"/>
          <a:chOff x="0" y="0"/>
          <a:chExt cx="0" cy="0"/>
        </a:xfrm>
      </p:grpSpPr>
      <p:pic>
        <p:nvPicPr>
          <p:cNvPr id="2" name="Image 0" descr="Decorative grid of map cells: most dark, a cluster of forest cells, three highlighted in orange">    </p:cNvPr>
          <p:cNvPicPr>
            <a:picLocks noChangeAspect="1"/>
          </p:cNvPicPr>
          <p:nvPr/>
        </p:nvPicPr>
        <p:blipFill>
          <a:blip r:embed="rId1"/>
          <a:srcRect l="0" r="0" t="0" b="0"/>
          <a:stretch/>
        </p:blipFill>
        <p:spPr>
          <a:xfrm>
            <a:off x="8813767" y="812767"/>
            <a:ext cx="2565383" cy="2565383"/>
          </a:xfrm>
          <a:prstGeom prst="rect">
            <a:avLst/>
          </a:prstGeom>
        </p:spPr>
      </p:pic>
      <p:sp>
        <p:nvSpPr>
          <p:cNvPr id="3" name="Text 0"/>
          <p:cNvSpPr/>
          <p:nvPr/>
        </p:nvSpPr>
        <p:spPr>
          <a:xfrm>
            <a:off x="812767" y="812767"/>
            <a:ext cx="771779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3A06B"/>
                </a:solidFill>
                <a:latin typeface="IBM Plex Sans" pitchFamily="34" charset="0"/>
                <a:ea typeface="IBM Plex Sans" pitchFamily="34" charset="-122"/>
                <a:cs typeface="IBM Plex Sans" pitchFamily="34" charset="-120"/>
              </a:rPr>
              <a:t>EUDR · IVORY COAST COCOA</a:t>
            </a:r>
            <a:endParaRPr lang="en-US" sz="1200" dirty="0"/>
          </a:p>
        </p:txBody>
      </p:sp>
      <p:sp>
        <p:nvSpPr>
          <p:cNvPr id="4" name="Text 1"/>
          <p:cNvSpPr/>
          <p:nvPr>
            <p:ph type="title"/>
          </p:nvPr>
        </p:nvSpPr>
        <p:spPr>
          <a:xfrm>
            <a:off x="812767" y="1229238"/>
            <a:ext cx="7717790" cy="1518973"/>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7F5EF"/>
                </a:solidFill>
                <a:latin typeface="Source Serif 4" pitchFamily="18" charset="0"/>
                <a:ea typeface="Source Serif 4" pitchFamily="18" charset="-122"/>
                <a:cs typeface="Source Serif 4" pitchFamily="18" charset="-120"/>
              </a:rPr>
              <a:t>System Earth Business Case Project</a:t>
            </a:r>
            <a:endParaRPr lang="en-US" sz="5600" dirty="0"/>
          </a:p>
        </p:txBody>
      </p:sp>
      <p:sp>
        <p:nvSpPr>
          <p:cNvPr id="5" name="Text 2"/>
          <p:cNvSpPr/>
          <p:nvPr/>
        </p:nvSpPr>
        <p:spPr>
          <a:xfrm>
            <a:off x="812767" y="2925961"/>
            <a:ext cx="7717790" cy="711167"/>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6CF"/>
                </a:solidFill>
                <a:latin typeface="IBM Plex Sans" pitchFamily="34" charset="0"/>
                <a:ea typeface="IBM Plex Sans" pitchFamily="34" charset="-122"/>
                <a:cs typeface="IBM Plex Sans" pitchFamily="34" charset="-120"/>
              </a:rPr>
              <a:t>EUDR verification for Ivory Coast cocoa: a compact, query-fast store that reproduces every plot verdict</a:t>
            </a:r>
            <a:endParaRPr lang="en-US" sz="2000" dirty="0"/>
          </a:p>
        </p:txBody>
      </p:sp>
      <p:sp>
        <p:nvSpPr>
          <p:cNvPr id="6" name="Text 3"/>
          <p:cNvSpPr/>
          <p:nvPr/>
        </p:nvSpPr>
        <p:spPr>
          <a:xfrm>
            <a:off x="812767" y="5796359"/>
            <a:ext cx="10883460" cy="27427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CF"/>
                </a:solidFill>
                <a:latin typeface="IBM Plex Sans" pitchFamily="34" charset="0"/>
                <a:ea typeface="IBM Plex Sans" pitchFamily="34" charset="-122"/>
                <a:cs typeface="IBM Plex Sans" pitchFamily="34" charset="-120"/>
              </a:rPr>
              <a:t>Rafael · Hack&amp;Hire hackathon · 17 Oct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KEY TERMS</a:t>
            </a:r>
            <a:endParaRPr lang="en-US" sz="1200" dirty="0"/>
          </a:p>
        </p:txBody>
      </p:sp>
      <p:sp>
        <p:nvSpPr>
          <p:cNvPr id="3" name="Text 1"/>
          <p:cNvSpPr/>
          <p:nvPr>
            <p:ph type="title"/>
          </p:nvPr>
        </p:nvSpPr>
        <p:spPr>
          <a:xfrm>
            <a:off x="812767" y="1102237"/>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Field jargon</a:t>
            </a:r>
            <a:endParaRPr lang="en-US" sz="3200" dirty="0"/>
          </a:p>
        </p:txBody>
      </p:sp>
      <p:sp>
        <p:nvSpPr>
          <p:cNvPr id="4" name="Shape 2"/>
          <p:cNvSpPr/>
          <p:nvPr/>
        </p:nvSpPr>
        <p:spPr>
          <a:xfrm>
            <a:off x="812767" y="1853985"/>
            <a:ext cx="10566466" cy="1089505"/>
          </a:xfrm>
          <a:prstGeom prst="roundRect">
            <a:avLst>
              <a:gd name="adj" fmla="val 6994"/>
            </a:avLst>
          </a:prstGeom>
          <a:solidFill>
            <a:srgbClr val="17332B"/>
          </a:solidFill>
          <a:ln/>
        </p:spPr>
      </p:sp>
      <p:sp>
        <p:nvSpPr>
          <p:cNvPr id="5" name="Text 3"/>
          <p:cNvSpPr/>
          <p:nvPr/>
        </p:nvSpPr>
        <p:spPr>
          <a:xfrm>
            <a:off x="1015917" y="2031752"/>
            <a:ext cx="10464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3A06B"/>
                </a:solidFill>
                <a:latin typeface="IBM Plex Sans" pitchFamily="34" charset="0"/>
                <a:ea typeface="IBM Plex Sans" pitchFamily="34" charset="-122"/>
                <a:cs typeface="IBM Plex Sans" pitchFamily="34" charset="-120"/>
              </a:rPr>
              <a:t>EUDR</a:t>
            </a:r>
            <a:endParaRPr lang="en-US" sz="1600" dirty="0"/>
          </a:p>
        </p:txBody>
      </p:sp>
      <p:sp>
        <p:nvSpPr>
          <p:cNvPr id="6" name="Text 4"/>
          <p:cNvSpPr/>
          <p:nvPr/>
        </p:nvSpPr>
        <p:spPr>
          <a:xfrm>
            <a:off x="1015917" y="2339082"/>
            <a:ext cx="104649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EU Deforestation Regulation (2023/1115): cocoa, coffee, rubber and other goods sold in the EU must not come from land deforested after 31 Dec 2020. Applies from 30 Dec 2026</a:t>
            </a:r>
            <a:endParaRPr lang="en-US" sz="1200" dirty="0"/>
          </a:p>
        </p:txBody>
      </p:sp>
      <p:sp>
        <p:nvSpPr>
          <p:cNvPr id="7" name="Shape 5"/>
          <p:cNvSpPr/>
          <p:nvPr/>
        </p:nvSpPr>
        <p:spPr>
          <a:xfrm>
            <a:off x="815942" y="3149815"/>
            <a:ext cx="5175266" cy="1093738"/>
          </a:xfrm>
          <a:prstGeom prst="roundRect">
            <a:avLst>
              <a:gd name="adj" fmla="val 6677"/>
            </a:avLst>
          </a:prstGeom>
          <a:solidFill>
            <a:srgbClr val="FCFBF7"/>
          </a:solidFill>
          <a:ln w="6350">
            <a:solidFill>
              <a:srgbClr val="DDD8CA"/>
            </a:solidFill>
            <a:prstDash val="solid"/>
          </a:ln>
        </p:spPr>
      </p:sp>
      <p:sp>
        <p:nvSpPr>
          <p:cNvPr id="8" name="Text 6"/>
          <p:cNvSpPr/>
          <p:nvPr/>
        </p:nvSpPr>
        <p:spPr>
          <a:xfrm>
            <a:off x="1021209" y="3329698"/>
            <a:ext cx="490767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332B"/>
                </a:solidFill>
                <a:latin typeface="IBM Plex Sans" pitchFamily="34" charset="0"/>
                <a:ea typeface="IBM Plex Sans" pitchFamily="34" charset="-122"/>
                <a:cs typeface="IBM Plex Sans" pitchFamily="34" charset="-120"/>
              </a:rPr>
              <a:t>JRC GFC2020</a:t>
            </a:r>
            <a:endParaRPr lang="en-US" sz="1600" dirty="0"/>
          </a:p>
        </p:txBody>
      </p:sp>
      <p:sp>
        <p:nvSpPr>
          <p:cNvPr id="9" name="Text 7"/>
          <p:cNvSpPr/>
          <p:nvPr/>
        </p:nvSpPr>
        <p:spPr>
          <a:xfrm>
            <a:off x="1021209" y="3637028"/>
            <a:ext cx="490767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The EU Joint Research Centre’s Global Forest Cover map: where forest stood on 31 Dec 2020, the EUDR cut-off</a:t>
            </a:r>
            <a:endParaRPr lang="en-US" sz="1200" dirty="0"/>
          </a:p>
        </p:txBody>
      </p:sp>
      <p:sp>
        <p:nvSpPr>
          <p:cNvPr id="10" name="Shape 8"/>
          <p:cNvSpPr/>
          <p:nvPr/>
        </p:nvSpPr>
        <p:spPr>
          <a:xfrm>
            <a:off x="6200709" y="3149815"/>
            <a:ext cx="5175349" cy="1093738"/>
          </a:xfrm>
          <a:prstGeom prst="roundRect">
            <a:avLst>
              <a:gd name="adj" fmla="val 6677"/>
            </a:avLst>
          </a:prstGeom>
          <a:solidFill>
            <a:srgbClr val="FCFBF7"/>
          </a:solidFill>
          <a:ln w="6350">
            <a:solidFill>
              <a:srgbClr val="DDD8CA"/>
            </a:solidFill>
            <a:prstDash val="solid"/>
          </a:ln>
        </p:spPr>
      </p:sp>
      <p:sp>
        <p:nvSpPr>
          <p:cNvPr id="11" name="Text 9"/>
          <p:cNvSpPr/>
          <p:nvPr/>
        </p:nvSpPr>
        <p:spPr>
          <a:xfrm>
            <a:off x="6405976" y="3329698"/>
            <a:ext cx="49077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332B"/>
                </a:solidFill>
                <a:latin typeface="IBM Plex Sans" pitchFamily="34" charset="0"/>
                <a:ea typeface="IBM Plex Sans" pitchFamily="34" charset="-122"/>
                <a:cs typeface="IBM Plex Sans" pitchFamily="34" charset="-120"/>
              </a:rPr>
              <a:t>Hansen GFC</a:t>
            </a:r>
            <a:endParaRPr lang="en-US" sz="1600" dirty="0"/>
          </a:p>
        </p:txBody>
      </p:sp>
      <p:sp>
        <p:nvSpPr>
          <p:cNvPr id="12" name="Text 10"/>
          <p:cNvSpPr/>
          <p:nvPr/>
        </p:nvSpPr>
        <p:spPr>
          <a:xfrm>
            <a:off x="6405976" y="3637028"/>
            <a:ext cx="49077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Global Forest Change, University of Maryland: the year tree cover was lost, from Landsat, updated yearly</a:t>
            </a:r>
            <a:endParaRPr lang="en-US" sz="1200" dirty="0"/>
          </a:p>
        </p:txBody>
      </p:sp>
      <p:sp>
        <p:nvSpPr>
          <p:cNvPr id="13" name="Shape 11"/>
          <p:cNvSpPr/>
          <p:nvPr/>
        </p:nvSpPr>
        <p:spPr>
          <a:xfrm>
            <a:off x="815942" y="4453053"/>
            <a:ext cx="5175266" cy="1307058"/>
          </a:xfrm>
          <a:prstGeom prst="roundRect">
            <a:avLst>
              <a:gd name="adj" fmla="val 5587"/>
            </a:avLst>
          </a:prstGeom>
          <a:solidFill>
            <a:srgbClr val="FCFBF7"/>
          </a:solidFill>
          <a:ln w="6350">
            <a:solidFill>
              <a:srgbClr val="DDD8CA"/>
            </a:solidFill>
            <a:prstDash val="solid"/>
          </a:ln>
        </p:spPr>
      </p:sp>
      <p:sp>
        <p:nvSpPr>
          <p:cNvPr id="14" name="Text 12"/>
          <p:cNvSpPr/>
          <p:nvPr/>
        </p:nvSpPr>
        <p:spPr>
          <a:xfrm>
            <a:off x="1021209" y="4632937"/>
            <a:ext cx="490767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332B"/>
                </a:solidFill>
                <a:latin typeface="IBM Plex Sans" pitchFamily="34" charset="0"/>
                <a:ea typeface="IBM Plex Sans" pitchFamily="34" charset="-122"/>
                <a:cs typeface="IBM Plex Sans" pitchFamily="34" charset="-120"/>
              </a:rPr>
              <a:t>RADD</a:t>
            </a:r>
            <a:endParaRPr lang="en-US" sz="1600" dirty="0"/>
          </a:p>
        </p:txBody>
      </p:sp>
      <p:sp>
        <p:nvSpPr>
          <p:cNvPr id="15" name="Text 13"/>
          <p:cNvSpPr/>
          <p:nvPr/>
        </p:nvSpPr>
        <p:spPr>
          <a:xfrm>
            <a:off x="1021209" y="4940267"/>
            <a:ext cx="490767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Radar for Detecting Deforestation, Wageningen University: weekly alerts of new disturbance from Sentinel-1 radar, which sees through cloud</a:t>
            </a:r>
            <a:endParaRPr lang="en-US" sz="1200" dirty="0"/>
          </a:p>
        </p:txBody>
      </p:sp>
      <p:sp>
        <p:nvSpPr>
          <p:cNvPr id="16" name="Shape 14"/>
          <p:cNvSpPr/>
          <p:nvPr/>
        </p:nvSpPr>
        <p:spPr>
          <a:xfrm>
            <a:off x="6200709" y="4453053"/>
            <a:ext cx="5175349" cy="1307058"/>
          </a:xfrm>
          <a:prstGeom prst="roundRect">
            <a:avLst>
              <a:gd name="adj" fmla="val 5587"/>
            </a:avLst>
          </a:prstGeom>
          <a:solidFill>
            <a:srgbClr val="FCFBF7"/>
          </a:solidFill>
          <a:ln w="6350">
            <a:solidFill>
              <a:srgbClr val="DDD8CA"/>
            </a:solidFill>
            <a:prstDash val="solid"/>
          </a:ln>
        </p:spPr>
      </p:sp>
      <p:sp>
        <p:nvSpPr>
          <p:cNvPr id="17" name="Text 15"/>
          <p:cNvSpPr/>
          <p:nvPr/>
        </p:nvSpPr>
        <p:spPr>
          <a:xfrm>
            <a:off x="6405976" y="4632937"/>
            <a:ext cx="49077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332B"/>
                </a:solidFill>
                <a:latin typeface="IBM Plex Sans" pitchFamily="34" charset="0"/>
                <a:ea typeface="IBM Plex Sans" pitchFamily="34" charset="-122"/>
                <a:cs typeface="IBM Plex Sans" pitchFamily="34" charset="-120"/>
              </a:rPr>
              <a:t>WDPA</a:t>
            </a:r>
            <a:endParaRPr lang="en-US" sz="1600" dirty="0"/>
          </a:p>
        </p:txBody>
      </p:sp>
      <p:sp>
        <p:nvSpPr>
          <p:cNvPr id="18" name="Text 16"/>
          <p:cNvSpPr/>
          <p:nvPr/>
        </p:nvSpPr>
        <p:spPr>
          <a:xfrm>
            <a:off x="6405976" y="4940267"/>
            <a:ext cx="49077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World Database on Protected Areas, UNEP-WCMC and IUCN: the official boundaries of parks and reserves</a:t>
            </a:r>
            <a:endParaRPr lang="en-US" sz="1200" dirty="0"/>
          </a:p>
        </p:txBody>
      </p:sp>
      <p:sp>
        <p:nvSpPr>
          <p:cNvPr id="19" name="Text 17"/>
          <p:cNvSpPr/>
          <p:nvPr/>
        </p:nvSpPr>
        <p:spPr>
          <a:xfrm>
            <a:off x="812767" y="6235733"/>
            <a:ext cx="8082260"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Dark: the regulation · green: the 2020 baseline · orange: disturbance after it · blue: protected areas</a:t>
            </a:r>
            <a:endParaRPr lang="en-US" sz="1200" dirty="0"/>
          </a:p>
        </p:txBody>
      </p:sp>
      <p:sp>
        <p:nvSpPr>
          <p:cNvPr id="20" name="Text 18"/>
          <p:cNvSpPr/>
          <p:nvPr/>
        </p:nvSpPr>
        <p:spPr>
          <a:xfrm>
            <a:off x="11236903" y="6235733"/>
            <a:ext cx="14224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WHY IT MATTERS</a:t>
            </a:r>
            <a:endParaRPr lang="en-US" sz="1200" dirty="0"/>
          </a:p>
        </p:txBody>
      </p:sp>
      <p:sp>
        <p:nvSpPr>
          <p:cNvPr id="3" name="Text 1"/>
          <p:cNvSpPr/>
          <p:nvPr>
            <p:ph type="title"/>
          </p:nvPr>
        </p:nvSpPr>
        <p:spPr>
          <a:xfrm>
            <a:off x="812767" y="1102237"/>
            <a:ext cx="10883460"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Two-thirds of Ivory Coast’s cocoa exports go to the EU, and EUDR applies in 74 days</a:t>
            </a:r>
            <a:endParaRPr lang="en-US" sz="3200" dirty="0"/>
          </a:p>
        </p:txBody>
      </p:sp>
      <p:sp>
        <p:nvSpPr>
          <p:cNvPr id="4" name="Shape 2"/>
          <p:cNvSpPr/>
          <p:nvPr/>
        </p:nvSpPr>
        <p:spPr>
          <a:xfrm>
            <a:off x="815942" y="2227907"/>
            <a:ext cx="4550767" cy="3490284"/>
          </a:xfrm>
          <a:prstGeom prst="roundRect">
            <a:avLst>
              <a:gd name="adj" fmla="val 2092"/>
            </a:avLst>
          </a:prstGeom>
          <a:solidFill>
            <a:srgbClr val="FDFDFB"/>
          </a:solidFill>
          <a:ln w="6350">
            <a:solidFill>
              <a:srgbClr val="DDD8CA"/>
            </a:solidFill>
            <a:prstDash val="solid"/>
          </a:ln>
        </p:spPr>
      </p:sp>
      <p:pic>
        <p:nvPicPr>
          <p:cNvPr id="5" name="Image 0" descr="Trase bar chart: undisturbed tropical moist forest in Ivory Coast fell from about 5.6 million hectares in 2000 to about 1.2 million in 2024, a 79% loss">    </p:cNvPr>
          <p:cNvPicPr>
            <a:picLocks noChangeAspect="1"/>
          </p:cNvPicPr>
          <p:nvPr/>
        </p:nvPicPr>
        <p:blipFill>
          <a:blip r:embed="rId1"/>
          <a:srcRect l="0" r="0" t="-433" b="-433"/>
          <a:stretch/>
        </p:blipFill>
        <p:spPr>
          <a:xfrm>
            <a:off x="932325" y="2344291"/>
            <a:ext cx="4318000" cy="3257517"/>
          </a:xfrm>
          <a:prstGeom prst="rect">
            <a:avLst/>
          </a:prstGeom>
        </p:spPr>
      </p:pic>
      <p:sp>
        <p:nvSpPr>
          <p:cNvPr id="6" name="Text 3"/>
          <p:cNvSpPr/>
          <p:nvPr/>
        </p:nvSpPr>
        <p:spPr>
          <a:xfrm>
            <a:off x="5725418" y="2234819"/>
            <a:ext cx="1257300" cy="431783"/>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C2652A"/>
                </a:solidFill>
                <a:latin typeface="Source Serif 4" pitchFamily="18" charset="0"/>
                <a:ea typeface="Source Serif 4" pitchFamily="18" charset="-122"/>
                <a:cs typeface="Source Serif 4" pitchFamily="18" charset="-120"/>
              </a:rPr>
              <a:t>79%</a:t>
            </a:r>
            <a:endParaRPr lang="en-US" sz="3200" dirty="0"/>
          </a:p>
        </p:txBody>
      </p:sp>
      <p:sp>
        <p:nvSpPr>
          <p:cNvPr id="7" name="Text 4"/>
          <p:cNvSpPr/>
          <p:nvPr/>
        </p:nvSpPr>
        <p:spPr>
          <a:xfrm>
            <a:off x="7084301" y="2224732"/>
            <a:ext cx="44237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of undisturbed forest lost or degraded, 2000–2024; cocoa drove about 45% of loss</a:t>
            </a:r>
            <a:endParaRPr lang="en-US" sz="1200" dirty="0"/>
          </a:p>
        </p:txBody>
      </p:sp>
      <p:sp>
        <p:nvSpPr>
          <p:cNvPr id="8" name="Text 5"/>
          <p:cNvSpPr/>
          <p:nvPr/>
        </p:nvSpPr>
        <p:spPr>
          <a:xfrm>
            <a:off x="5725418" y="2801110"/>
            <a:ext cx="1257300" cy="431783"/>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C2652A"/>
                </a:solidFill>
                <a:latin typeface="Source Serif 4" pitchFamily="18" charset="0"/>
                <a:ea typeface="Source Serif 4" pitchFamily="18" charset="-122"/>
                <a:cs typeface="Source Serif 4" pitchFamily="18" charset="-120"/>
              </a:rPr>
              <a:t>36%</a:t>
            </a:r>
            <a:endParaRPr lang="en-US" sz="3200" dirty="0"/>
          </a:p>
        </p:txBody>
      </p:sp>
      <p:sp>
        <p:nvSpPr>
          <p:cNvPr id="9" name="Text 6"/>
          <p:cNvSpPr/>
          <p:nvPr/>
        </p:nvSpPr>
        <p:spPr>
          <a:xfrm>
            <a:off x="7084301" y="2791023"/>
            <a:ext cx="44237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of the world’s cocoa beans are grown in Ivory Coast (FAO, 2024)</a:t>
            </a:r>
            <a:endParaRPr lang="en-US" sz="1200" dirty="0"/>
          </a:p>
        </p:txBody>
      </p:sp>
      <p:sp>
        <p:nvSpPr>
          <p:cNvPr id="10" name="Text 7"/>
          <p:cNvSpPr/>
          <p:nvPr/>
        </p:nvSpPr>
        <p:spPr>
          <a:xfrm>
            <a:off x="5725418" y="3357314"/>
            <a:ext cx="1257300" cy="431783"/>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C2652A"/>
                </a:solidFill>
                <a:latin typeface="Source Serif 4" pitchFamily="18" charset="0"/>
                <a:ea typeface="Source Serif 4" pitchFamily="18" charset="-122"/>
                <a:cs typeface="Source Serif 4" pitchFamily="18" charset="-120"/>
              </a:rPr>
              <a:t>66%</a:t>
            </a:r>
            <a:endParaRPr lang="en-US" sz="3200" dirty="0"/>
          </a:p>
        </p:txBody>
      </p:sp>
      <p:sp>
        <p:nvSpPr>
          <p:cNvPr id="11" name="Text 8"/>
          <p:cNvSpPr/>
          <p:nvPr/>
        </p:nvSpPr>
        <p:spPr>
          <a:xfrm>
            <a:off x="7084301" y="3453805"/>
            <a:ext cx="4423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of Ivorian cocoa exports go to the EU, a record (2024)</a:t>
            </a:r>
            <a:endParaRPr lang="en-US" sz="1200" dirty="0"/>
          </a:p>
        </p:txBody>
      </p:sp>
      <p:sp>
        <p:nvSpPr>
          <p:cNvPr id="12" name="Text 9"/>
          <p:cNvSpPr/>
          <p:nvPr/>
        </p:nvSpPr>
        <p:spPr>
          <a:xfrm>
            <a:off x="5725418" y="3913436"/>
            <a:ext cx="1257300" cy="431783"/>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C2652A"/>
                </a:solidFill>
                <a:latin typeface="Source Serif 4" pitchFamily="18" charset="0"/>
                <a:ea typeface="Source Serif 4" pitchFamily="18" charset="-122"/>
                <a:cs typeface="Source Serif 4" pitchFamily="18" charset="-120"/>
              </a:rPr>
              <a:t>≥ 4%</a:t>
            </a:r>
            <a:endParaRPr lang="en-US" sz="3200" dirty="0"/>
          </a:p>
        </p:txBody>
      </p:sp>
      <p:sp>
        <p:nvSpPr>
          <p:cNvPr id="13" name="Text 10"/>
          <p:cNvSpPr/>
          <p:nvPr/>
        </p:nvSpPr>
        <p:spPr>
          <a:xfrm>
            <a:off x="7084301" y="3903348"/>
            <a:ext cx="44237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of EU turnover: maximum EUDR fines, plus confiscation and market bans</a:t>
            </a:r>
            <a:endParaRPr lang="en-US" sz="1200" dirty="0"/>
          </a:p>
        </p:txBody>
      </p:sp>
      <p:sp>
        <p:nvSpPr>
          <p:cNvPr id="14" name="Shape 11"/>
          <p:cNvSpPr/>
          <p:nvPr/>
        </p:nvSpPr>
        <p:spPr>
          <a:xfrm>
            <a:off x="5725418" y="4482339"/>
            <a:ext cx="5653815" cy="0"/>
          </a:xfrm>
          <a:prstGeom prst="line">
            <a:avLst/>
          </a:prstGeom>
          <a:noFill/>
          <a:ln w="25400">
            <a:solidFill>
              <a:srgbClr val="17332B"/>
            </a:solidFill>
            <a:prstDash val="solid"/>
          </a:ln>
        </p:spPr>
      </p:sp>
      <p:sp>
        <p:nvSpPr>
          <p:cNvPr id="15" name="Text 12"/>
          <p:cNvSpPr/>
          <p:nvPr/>
        </p:nvSpPr>
        <p:spPr>
          <a:xfrm>
            <a:off x="5725418" y="4605072"/>
            <a:ext cx="582342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Standard risk: every plot is checked</a:t>
            </a:r>
            <a:endParaRPr lang="en-US" sz="1400" dirty="0"/>
          </a:p>
        </p:txBody>
      </p:sp>
      <p:sp>
        <p:nvSpPr>
          <p:cNvPr id="16" name="Text 13"/>
          <p:cNvSpPr/>
          <p:nvPr/>
        </p:nvSpPr>
        <p:spPr>
          <a:xfrm>
            <a:off x="5725418" y="4856426"/>
            <a:ext cx="582342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Each plot geolocated and checked against the 31 Dec 2020 cut-off, from 30 Dec 2026.</a:t>
            </a:r>
            <a:endParaRPr lang="en-US" sz="1200" dirty="0"/>
          </a:p>
        </p:txBody>
      </p:sp>
      <p:sp>
        <p:nvSpPr>
          <p:cNvPr id="17" name="Text 14"/>
          <p:cNvSpPr/>
          <p:nvPr/>
        </p:nvSpPr>
        <p:spPr>
          <a:xfrm>
            <a:off x="812767" y="6235733"/>
            <a:ext cx="6778526"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Sources: Trase (2026); FAO; Reg. (EU) 2023/1115 Art. 25, 2025/1093, 2025/2650</a:t>
            </a:r>
            <a:endParaRPr lang="en-US" sz="1200" dirty="0"/>
          </a:p>
        </p:txBody>
      </p:sp>
      <p:sp>
        <p:nvSpPr>
          <p:cNvPr id="18" name="Text 15"/>
          <p:cNvSpPr/>
          <p:nvPr/>
        </p:nvSpPr>
        <p:spPr>
          <a:xfrm>
            <a:off x="11236903" y="6235733"/>
            <a:ext cx="14224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WHY THIS CASE</a:t>
            </a:r>
            <a:endParaRPr lang="en-US" sz="1200" dirty="0"/>
          </a:p>
        </p:txBody>
      </p:sp>
      <p:sp>
        <p:nvSpPr>
          <p:cNvPr id="3" name="Text 1"/>
          <p:cNvSpPr/>
          <p:nvPr>
            <p:ph type="title"/>
          </p:nvPr>
        </p:nvSpPr>
        <p:spPr>
          <a:xfrm>
            <a:off x="812767" y="1102237"/>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Small plots: the hardest test of decision fidelity</a:t>
            </a:r>
            <a:endParaRPr lang="en-US" sz="3200" dirty="0"/>
          </a:p>
        </p:txBody>
      </p:sp>
      <p:sp>
        <p:nvSpPr>
          <p:cNvPr id="4" name="Shape 2"/>
          <p:cNvSpPr/>
          <p:nvPr/>
        </p:nvSpPr>
        <p:spPr>
          <a:xfrm>
            <a:off x="815942" y="1780927"/>
            <a:ext cx="5200650" cy="3731551"/>
          </a:xfrm>
          <a:prstGeom prst="roundRect">
            <a:avLst>
              <a:gd name="adj" fmla="val 1957"/>
            </a:avLst>
          </a:prstGeom>
          <a:solidFill>
            <a:srgbClr val="FDFDFB"/>
          </a:solidFill>
          <a:ln w="6350">
            <a:solidFill>
              <a:srgbClr val="DDD8CA"/>
            </a:solidFill>
            <a:prstDash val="solid"/>
          </a:ln>
        </p:spPr>
      </p:sp>
      <p:pic>
        <p:nvPicPr>
          <p:cNvPr id="5" name="Image 0" descr="Map of Ivory Coast and Ghana: protected areas shaded by the share planted with cocoa, from under 5% to 35–55%, with most affected parks in the southwest and along the border">    </p:cNvPr>
          <p:cNvPicPr>
            <a:picLocks noChangeAspect="1"/>
          </p:cNvPicPr>
          <p:nvPr/>
        </p:nvPicPr>
        <p:blipFill>
          <a:blip r:embed="rId1"/>
          <a:srcRect l="-13" r="-13" t="0" b="0"/>
          <a:stretch/>
        </p:blipFill>
        <p:spPr>
          <a:xfrm>
            <a:off x="919592" y="1884576"/>
            <a:ext cx="4991034" cy="3524250"/>
          </a:xfrm>
          <a:prstGeom prst="rect">
            <a:avLst/>
          </a:prstGeom>
        </p:spPr>
      </p:pic>
      <p:sp>
        <p:nvSpPr>
          <p:cNvPr id="6" name="Text 3"/>
          <p:cNvSpPr/>
          <p:nvPr/>
        </p:nvSpPr>
        <p:spPr>
          <a:xfrm>
            <a:off x="6375301" y="1777752"/>
            <a:ext cx="51540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Small plots, few cells</a:t>
            </a:r>
            <a:endParaRPr lang="en-US" sz="1400" dirty="0"/>
          </a:p>
        </p:txBody>
      </p:sp>
      <p:sp>
        <p:nvSpPr>
          <p:cNvPr id="7" name="Text 4"/>
          <p:cNvSpPr/>
          <p:nvPr/>
        </p:nvSpPr>
        <p:spPr>
          <a:xfrm>
            <a:off x="6375301" y="2029106"/>
            <a:ext cx="51540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Over 1 million farmers on about 3.2M ha. A 1 ha plot is only ~120 cells, and 3 disturbed cells (≈ 0.026 ha) can flag it.</a:t>
            </a:r>
            <a:endParaRPr lang="en-US" sz="1200" dirty="0"/>
          </a:p>
        </p:txBody>
      </p:sp>
      <p:sp>
        <p:nvSpPr>
          <p:cNvPr id="8" name="Text 5"/>
          <p:cNvSpPr/>
          <p:nvPr/>
        </p:nvSpPr>
        <p:spPr>
          <a:xfrm>
            <a:off x="6375301" y="2595397"/>
            <a:ext cx="51540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The edge decides</a:t>
            </a:r>
            <a:endParaRPr lang="en-US" sz="1400" dirty="0"/>
          </a:p>
        </p:txBody>
      </p:sp>
      <p:sp>
        <p:nvSpPr>
          <p:cNvPr id="9" name="Text 6"/>
          <p:cNvSpPr/>
          <p:nvPr/>
        </p:nvSpPr>
        <p:spPr>
          <a:xfrm>
            <a:off x="6375301" y="2846750"/>
            <a:ext cx="51540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About a third of the cells a 1 ha plot touches are cut by its boundary. Both pipelines must apply the same pixel rule, or verdicts flip.</a:t>
            </a:r>
            <a:endParaRPr lang="en-US" sz="1200" dirty="0"/>
          </a:p>
        </p:txBody>
      </p:sp>
      <p:sp>
        <p:nvSpPr>
          <p:cNvPr id="10" name="Text 7"/>
          <p:cNvSpPr/>
          <p:nvPr/>
        </p:nvSpPr>
        <p:spPr>
          <a:xfrm>
            <a:off x="6375301" y="3413041"/>
            <a:ext cx="51540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Points, not polygons</a:t>
            </a:r>
            <a:endParaRPr lang="en-US" sz="1400" dirty="0"/>
          </a:p>
        </p:txBody>
      </p:sp>
      <p:sp>
        <p:nvSpPr>
          <p:cNvPr id="11" name="Text 8"/>
          <p:cNvSpPr/>
          <p:nvPr/>
        </p:nvSpPr>
        <p:spPr>
          <a:xfrm>
            <a:off x="6375301" y="3664396"/>
            <a:ext cx="51540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Under 4 ha, EUDR accepts one GPS point; we buffer it to the declared area. 157 of our 500 test plots are points.</a:t>
            </a:r>
            <a:endParaRPr lang="en-US" sz="1200" dirty="0"/>
          </a:p>
        </p:txBody>
      </p:sp>
      <p:sp>
        <p:nvSpPr>
          <p:cNvPr id="12" name="Text 9"/>
          <p:cNvSpPr/>
          <p:nvPr/>
        </p:nvSpPr>
        <p:spPr>
          <a:xfrm>
            <a:off x="6375301" y="4230688"/>
            <a:ext cx="51540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Farms inside and beside forest</a:t>
            </a:r>
            <a:endParaRPr lang="en-US" sz="1400" dirty="0"/>
          </a:p>
        </p:txBody>
      </p:sp>
      <p:sp>
        <p:nvSpPr>
          <p:cNvPr id="13" name="Text 10"/>
          <p:cNvSpPr/>
          <p:nvPr/>
        </p:nvSpPr>
        <p:spPr>
          <a:xfrm>
            <a:off x="6375301" y="4482041"/>
            <a:ext cx="51540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Cocoa reaches into many protected areas (map), so plots border forest, where one or two cells change the answer.</a:t>
            </a:r>
            <a:endParaRPr lang="en-US" sz="1200" dirty="0"/>
          </a:p>
        </p:txBody>
      </p:sp>
      <p:sp>
        <p:nvSpPr>
          <p:cNvPr id="14" name="Text 11"/>
          <p:cNvSpPr/>
          <p:nvPr/>
        </p:nvSpPr>
        <p:spPr>
          <a:xfrm>
            <a:off x="812767" y="6235731"/>
            <a:ext cx="8851404"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Map: cocoa share of protected areas (Kalischek et al., 2023) · farmers: Conseil du Café-Cacao via EFI (2024)</a:t>
            </a:r>
            <a:endParaRPr lang="en-US" sz="1200" dirty="0"/>
          </a:p>
        </p:txBody>
      </p:sp>
      <p:sp>
        <p:nvSpPr>
          <p:cNvPr id="15" name="Text 12"/>
          <p:cNvSpPr/>
          <p:nvPr/>
        </p:nvSpPr>
        <p:spPr>
          <a:xfrm>
            <a:off x="11236903" y="6235731"/>
            <a:ext cx="14224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TODAY’S WORKFLOW</a:t>
            </a:r>
            <a:endParaRPr lang="en-US" sz="1200" dirty="0"/>
          </a:p>
        </p:txBody>
      </p:sp>
      <p:sp>
        <p:nvSpPr>
          <p:cNvPr id="3" name="Text 1"/>
          <p:cNvSpPr/>
          <p:nvPr>
            <p:ph type="title"/>
          </p:nvPr>
        </p:nvSpPr>
        <p:spPr>
          <a:xfrm>
            <a:off x="812767" y="1102237"/>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How SystemEarth works today</a:t>
            </a:r>
            <a:endParaRPr lang="en-US" sz="3200" dirty="0"/>
          </a:p>
        </p:txBody>
      </p:sp>
      <p:sp>
        <p:nvSpPr>
          <p:cNvPr id="4" name="Shape 2"/>
          <p:cNvSpPr/>
          <p:nvPr/>
        </p:nvSpPr>
        <p:spPr>
          <a:xfrm>
            <a:off x="815942" y="2012107"/>
            <a:ext cx="1631255" cy="771194"/>
          </a:xfrm>
          <a:prstGeom prst="roundRect">
            <a:avLst>
              <a:gd name="adj" fmla="val 9469"/>
            </a:avLst>
          </a:prstGeom>
          <a:solidFill>
            <a:srgbClr val="FCFBF7"/>
          </a:solidFill>
          <a:ln w="6350">
            <a:solidFill>
              <a:srgbClr val="DDD8CA"/>
            </a:solidFill>
            <a:prstDash val="solid"/>
          </a:ln>
        </p:spPr>
      </p:sp>
      <p:sp>
        <p:nvSpPr>
          <p:cNvPr id="5" name="Text 3"/>
          <p:cNvSpPr/>
          <p:nvPr/>
        </p:nvSpPr>
        <p:spPr>
          <a:xfrm>
            <a:off x="970442" y="2191990"/>
            <a:ext cx="1373055"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Supplier</a:t>
            </a:r>
            <a:endParaRPr lang="en-US" sz="1200" dirty="0"/>
          </a:p>
        </p:txBody>
      </p:sp>
      <p:sp>
        <p:nvSpPr>
          <p:cNvPr id="6" name="Text 4"/>
          <p:cNvSpPr/>
          <p:nvPr/>
        </p:nvSpPr>
        <p:spPr>
          <a:xfrm>
            <a:off x="970442" y="2397702"/>
            <a:ext cx="137305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submits a lot</a:t>
            </a:r>
            <a:endParaRPr lang="en-US" sz="1200" dirty="0"/>
          </a:p>
        </p:txBody>
      </p:sp>
      <p:pic>
        <p:nvPicPr>
          <p:cNvPr id="7" name="Image 0" descr="connector">    </p:cNvPr>
          <p:cNvPicPr>
            <a:picLocks noChangeAspect="1"/>
          </p:cNvPicPr>
          <p:nvPr/>
        </p:nvPicPr>
        <p:blipFill>
          <a:blip r:embed="rId1"/>
          <a:srcRect l="-33" r="-33" t="0" b="0"/>
          <a:stretch/>
        </p:blipFill>
        <p:spPr>
          <a:xfrm>
            <a:off x="2551906" y="2359586"/>
            <a:ext cx="254000" cy="76150"/>
          </a:xfrm>
          <a:prstGeom prst="rect">
            <a:avLst/>
          </a:prstGeom>
        </p:spPr>
      </p:pic>
      <p:sp>
        <p:nvSpPr>
          <p:cNvPr id="8" name="Shape 5"/>
          <p:cNvSpPr/>
          <p:nvPr/>
        </p:nvSpPr>
        <p:spPr>
          <a:xfrm>
            <a:off x="2910615" y="1909248"/>
            <a:ext cx="1631338" cy="976908"/>
          </a:xfrm>
          <a:prstGeom prst="roundRect">
            <a:avLst>
              <a:gd name="adj" fmla="val 7475"/>
            </a:avLst>
          </a:prstGeom>
          <a:solidFill>
            <a:srgbClr val="FCFBF7"/>
          </a:solidFill>
          <a:ln w="6350">
            <a:solidFill>
              <a:srgbClr val="DDD8CA"/>
            </a:solidFill>
            <a:prstDash val="solid"/>
          </a:ln>
        </p:spPr>
      </p:sp>
      <p:sp>
        <p:nvSpPr>
          <p:cNvPr id="9" name="Text 6"/>
          <p:cNvSpPr/>
          <p:nvPr/>
        </p:nvSpPr>
        <p:spPr>
          <a:xfrm>
            <a:off x="3065115" y="2089131"/>
            <a:ext cx="1373138"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Plots + CSV</a:t>
            </a:r>
            <a:endParaRPr lang="en-US" sz="1200" dirty="0"/>
          </a:p>
        </p:txBody>
      </p:sp>
      <p:sp>
        <p:nvSpPr>
          <p:cNvPr id="10" name="Text 7"/>
          <p:cNvSpPr/>
          <p:nvPr/>
        </p:nvSpPr>
        <p:spPr>
          <a:xfrm>
            <a:off x="3065115" y="2294846"/>
            <a:ext cx="137313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GeoJSON and due-diligence</a:t>
            </a:r>
            <a:endParaRPr lang="en-US" sz="1200" dirty="0"/>
          </a:p>
        </p:txBody>
      </p:sp>
      <p:pic>
        <p:nvPicPr>
          <p:cNvPr id="11" name="Image 1" descr="connector">    </p:cNvPr>
          <p:cNvPicPr>
            <a:picLocks noChangeAspect="1"/>
          </p:cNvPicPr>
          <p:nvPr/>
        </p:nvPicPr>
        <p:blipFill>
          <a:blip r:embed="rId2"/>
          <a:srcRect l="-33" r="-33" t="0" b="0"/>
          <a:stretch/>
        </p:blipFill>
        <p:spPr>
          <a:xfrm>
            <a:off x="4646662" y="2359586"/>
            <a:ext cx="254000" cy="76150"/>
          </a:xfrm>
          <a:prstGeom prst="rect">
            <a:avLst/>
          </a:prstGeom>
        </p:spPr>
      </p:pic>
      <p:sp>
        <p:nvSpPr>
          <p:cNvPr id="12" name="Shape 8"/>
          <p:cNvSpPr/>
          <p:nvPr/>
        </p:nvSpPr>
        <p:spPr>
          <a:xfrm>
            <a:off x="5011721" y="2007871"/>
            <a:ext cx="2168641" cy="779661"/>
          </a:xfrm>
          <a:prstGeom prst="roundRect">
            <a:avLst>
              <a:gd name="adj" fmla="val 8552"/>
            </a:avLst>
          </a:prstGeom>
          <a:solidFill>
            <a:srgbClr val="FBEFE6"/>
          </a:solidFill>
          <a:ln w="19050">
            <a:solidFill>
              <a:srgbClr val="C2652A"/>
            </a:solidFill>
            <a:prstDash val="solid"/>
          </a:ln>
        </p:spPr>
      </p:sp>
      <p:sp>
        <p:nvSpPr>
          <p:cNvPr id="13" name="Text 9"/>
          <p:cNvSpPr/>
          <p:nvPr/>
        </p:nvSpPr>
        <p:spPr>
          <a:xfrm>
            <a:off x="5170454" y="2191990"/>
            <a:ext cx="1906709"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Earth Engine analysis</a:t>
            </a:r>
            <a:endParaRPr lang="en-US" sz="1200" dirty="0"/>
          </a:p>
        </p:txBody>
      </p:sp>
      <p:sp>
        <p:nvSpPr>
          <p:cNvPr id="14" name="Text 10"/>
          <p:cNvSpPr/>
          <p:nvPr/>
        </p:nvSpPr>
        <p:spPr>
          <a:xfrm>
            <a:off x="5170454" y="2397702"/>
            <a:ext cx="1906709"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over stored layers</a:t>
            </a:r>
            <a:endParaRPr lang="en-US" sz="1200" dirty="0"/>
          </a:p>
        </p:txBody>
      </p:sp>
      <p:pic>
        <p:nvPicPr>
          <p:cNvPr id="15" name="Image 2" descr="connector">    </p:cNvPr>
          <p:cNvPicPr>
            <a:picLocks noChangeAspect="1"/>
          </p:cNvPicPr>
          <p:nvPr/>
        </p:nvPicPr>
        <p:blipFill>
          <a:blip r:embed="rId3"/>
          <a:srcRect l="-33" r="-33" t="0" b="0"/>
          <a:stretch/>
        </p:blipFill>
        <p:spPr>
          <a:xfrm>
            <a:off x="7291420" y="2359586"/>
            <a:ext cx="254000" cy="76150"/>
          </a:xfrm>
          <a:prstGeom prst="rect">
            <a:avLst/>
          </a:prstGeom>
        </p:spPr>
      </p:pic>
      <p:sp>
        <p:nvSpPr>
          <p:cNvPr id="16" name="Shape 11"/>
          <p:cNvSpPr/>
          <p:nvPr/>
        </p:nvSpPr>
        <p:spPr>
          <a:xfrm>
            <a:off x="7650129" y="1909248"/>
            <a:ext cx="1631255" cy="976908"/>
          </a:xfrm>
          <a:prstGeom prst="roundRect">
            <a:avLst>
              <a:gd name="adj" fmla="val 7475"/>
            </a:avLst>
          </a:prstGeom>
          <a:solidFill>
            <a:srgbClr val="FCFBF7"/>
          </a:solidFill>
          <a:ln w="6350">
            <a:solidFill>
              <a:srgbClr val="DDD8CA"/>
            </a:solidFill>
            <a:prstDash val="solid"/>
          </a:ln>
        </p:spPr>
      </p:sp>
      <p:sp>
        <p:nvSpPr>
          <p:cNvPr id="17" name="Text 12"/>
          <p:cNvSpPr/>
          <p:nvPr/>
        </p:nvSpPr>
        <p:spPr>
          <a:xfrm>
            <a:off x="7804629" y="2089131"/>
            <a:ext cx="1373055"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Compare</a:t>
            </a:r>
            <a:endParaRPr lang="en-US" sz="1200" dirty="0"/>
          </a:p>
        </p:txBody>
      </p:sp>
      <p:sp>
        <p:nvSpPr>
          <p:cNvPr id="18" name="Text 13"/>
          <p:cNvSpPr/>
          <p:nvPr/>
        </p:nvSpPr>
        <p:spPr>
          <a:xfrm>
            <a:off x="7804629" y="2294846"/>
            <a:ext cx="137305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with the declaration</a:t>
            </a:r>
            <a:endParaRPr lang="en-US" sz="1200" dirty="0"/>
          </a:p>
        </p:txBody>
      </p:sp>
      <p:pic>
        <p:nvPicPr>
          <p:cNvPr id="19" name="Image 3" descr="connector">    </p:cNvPr>
          <p:cNvPicPr>
            <a:picLocks noChangeAspect="1"/>
          </p:cNvPicPr>
          <p:nvPr/>
        </p:nvPicPr>
        <p:blipFill>
          <a:blip r:embed="rId4"/>
          <a:srcRect l="-33" r="-33" t="0" b="0"/>
          <a:stretch/>
        </p:blipFill>
        <p:spPr>
          <a:xfrm>
            <a:off x="9386094" y="2359586"/>
            <a:ext cx="254000" cy="76150"/>
          </a:xfrm>
          <a:prstGeom prst="rect">
            <a:avLst/>
          </a:prstGeom>
        </p:spPr>
      </p:pic>
      <p:sp>
        <p:nvSpPr>
          <p:cNvPr id="20" name="Shape 14"/>
          <p:cNvSpPr/>
          <p:nvPr/>
        </p:nvSpPr>
        <p:spPr>
          <a:xfrm>
            <a:off x="9744802" y="1806392"/>
            <a:ext cx="1631255" cy="1182621"/>
          </a:xfrm>
          <a:prstGeom prst="roundRect">
            <a:avLst>
              <a:gd name="adj" fmla="val 6175"/>
            </a:avLst>
          </a:prstGeom>
          <a:solidFill>
            <a:srgbClr val="FCFBF7"/>
          </a:solidFill>
          <a:ln w="6350">
            <a:solidFill>
              <a:srgbClr val="DDD8CA"/>
            </a:solidFill>
            <a:prstDash val="solid"/>
          </a:ln>
        </p:spPr>
      </p:sp>
      <p:sp>
        <p:nvSpPr>
          <p:cNvPr id="21" name="Text 15"/>
          <p:cNvSpPr/>
          <p:nvPr/>
        </p:nvSpPr>
        <p:spPr>
          <a:xfrm>
            <a:off x="9899303" y="1986276"/>
            <a:ext cx="1373055"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Verdict</a:t>
            </a:r>
            <a:endParaRPr lang="en-US" sz="1200" dirty="0"/>
          </a:p>
        </p:txBody>
      </p:sp>
      <p:sp>
        <p:nvSpPr>
          <p:cNvPr id="22" name="Text 16"/>
          <p:cNvSpPr/>
          <p:nvPr/>
        </p:nvSpPr>
        <p:spPr>
          <a:xfrm>
            <a:off x="9899303" y="2191990"/>
            <a:ext cx="1373055"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reanalysis on demand or schedule</a:t>
            </a:r>
            <a:endParaRPr lang="en-US" sz="1200" dirty="0"/>
          </a:p>
        </p:txBody>
      </p:sp>
      <p:sp>
        <p:nvSpPr>
          <p:cNvPr id="23" name="Shape 17"/>
          <p:cNvSpPr/>
          <p:nvPr/>
        </p:nvSpPr>
        <p:spPr>
          <a:xfrm>
            <a:off x="815942" y="3249364"/>
            <a:ext cx="3414216" cy="999728"/>
          </a:xfrm>
          <a:prstGeom prst="roundRect">
            <a:avLst>
              <a:gd name="adj" fmla="val 7304"/>
            </a:avLst>
          </a:prstGeom>
          <a:solidFill>
            <a:srgbClr val="FCFBF7"/>
          </a:solidFill>
          <a:ln w="6350">
            <a:solidFill>
              <a:srgbClr val="DDD8CA"/>
            </a:solidFill>
            <a:prstDash val="solid"/>
          </a:ln>
        </p:spPr>
      </p:sp>
      <p:sp>
        <p:nvSpPr>
          <p:cNvPr id="24" name="Text 18"/>
          <p:cNvSpPr/>
          <p:nvPr/>
        </p:nvSpPr>
        <p:spPr>
          <a:xfrm>
            <a:off x="995825" y="3403864"/>
            <a:ext cx="31460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Vectors</a:t>
            </a:r>
            <a:endParaRPr lang="en-US" sz="1400" dirty="0"/>
          </a:p>
        </p:txBody>
      </p:sp>
      <p:sp>
        <p:nvSpPr>
          <p:cNvPr id="25" name="Text 19"/>
          <p:cNvSpPr/>
          <p:nvPr/>
        </p:nvSpPr>
        <p:spPr>
          <a:xfrm>
            <a:off x="995825" y="3667950"/>
            <a:ext cx="3146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Plots and boundaries in PostGIS</a:t>
            </a:r>
            <a:endParaRPr lang="en-US" sz="1200" dirty="0"/>
          </a:p>
        </p:txBody>
      </p:sp>
      <p:sp>
        <p:nvSpPr>
          <p:cNvPr id="26" name="Shape 20"/>
          <p:cNvSpPr/>
          <p:nvPr/>
        </p:nvSpPr>
        <p:spPr>
          <a:xfrm>
            <a:off x="4388892" y="3249364"/>
            <a:ext cx="3414216" cy="999728"/>
          </a:xfrm>
          <a:prstGeom prst="roundRect">
            <a:avLst>
              <a:gd name="adj" fmla="val 7304"/>
            </a:avLst>
          </a:prstGeom>
          <a:solidFill>
            <a:srgbClr val="FCFBF7"/>
          </a:solidFill>
          <a:ln w="6350">
            <a:solidFill>
              <a:srgbClr val="DDD8CA"/>
            </a:solidFill>
            <a:prstDash val="solid"/>
          </a:ln>
        </p:spPr>
      </p:sp>
      <p:sp>
        <p:nvSpPr>
          <p:cNvPr id="27" name="Text 21"/>
          <p:cNvSpPr/>
          <p:nvPr/>
        </p:nvSpPr>
        <p:spPr>
          <a:xfrm>
            <a:off x="4568775" y="3403864"/>
            <a:ext cx="31460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Rasters</a:t>
            </a:r>
            <a:endParaRPr lang="en-US" sz="1400" dirty="0"/>
          </a:p>
        </p:txBody>
      </p:sp>
      <p:sp>
        <p:nvSpPr>
          <p:cNvPr id="28" name="Text 22"/>
          <p:cNvSpPr/>
          <p:nvPr/>
        </p:nvSpPr>
        <p:spPr>
          <a:xfrm>
            <a:off x="4568775" y="3667950"/>
            <a:ext cx="31460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Full copies in Google Cloud Storage, served via GeoServer</a:t>
            </a:r>
            <a:endParaRPr lang="en-US" sz="1200" dirty="0"/>
          </a:p>
        </p:txBody>
      </p:sp>
      <p:sp>
        <p:nvSpPr>
          <p:cNvPr id="29" name="Shape 23"/>
          <p:cNvSpPr/>
          <p:nvPr/>
        </p:nvSpPr>
        <p:spPr>
          <a:xfrm>
            <a:off x="7961841" y="3249364"/>
            <a:ext cx="3414216" cy="999728"/>
          </a:xfrm>
          <a:prstGeom prst="roundRect">
            <a:avLst>
              <a:gd name="adj" fmla="val 7304"/>
            </a:avLst>
          </a:prstGeom>
          <a:solidFill>
            <a:srgbClr val="FCFBF7"/>
          </a:solidFill>
          <a:ln w="6350">
            <a:solidFill>
              <a:srgbClr val="DDD8CA"/>
            </a:solidFill>
            <a:prstDash val="solid"/>
          </a:ln>
        </p:spPr>
      </p:sp>
      <p:sp>
        <p:nvSpPr>
          <p:cNvPr id="30" name="Text 24"/>
          <p:cNvSpPr/>
          <p:nvPr/>
        </p:nvSpPr>
        <p:spPr>
          <a:xfrm>
            <a:off x="8141725" y="3403864"/>
            <a:ext cx="31460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Analysis</a:t>
            </a:r>
            <a:endParaRPr lang="en-US" sz="1400" dirty="0"/>
          </a:p>
        </p:txBody>
      </p:sp>
      <p:sp>
        <p:nvSpPr>
          <p:cNvPr id="31" name="Text 25"/>
          <p:cNvSpPr/>
          <p:nvPr/>
        </p:nvSpPr>
        <p:spPr>
          <a:xfrm>
            <a:off x="8141725" y="3667950"/>
            <a:ext cx="31460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Earth Engine, commercial Enterprise Basic plan</a:t>
            </a:r>
            <a:endParaRPr lang="en-US" sz="1200" dirty="0"/>
          </a:p>
        </p:txBody>
      </p:sp>
      <p:sp>
        <p:nvSpPr>
          <p:cNvPr id="32" name="Shape 26"/>
          <p:cNvSpPr/>
          <p:nvPr/>
        </p:nvSpPr>
        <p:spPr>
          <a:xfrm>
            <a:off x="812767" y="4518968"/>
            <a:ext cx="5181616" cy="0"/>
          </a:xfrm>
          <a:prstGeom prst="line">
            <a:avLst/>
          </a:prstGeom>
          <a:noFill/>
          <a:ln w="25400">
            <a:solidFill>
              <a:srgbClr val="17332B"/>
            </a:solidFill>
            <a:prstDash val="solid"/>
          </a:ln>
        </p:spPr>
      </p:sp>
      <p:sp>
        <p:nvSpPr>
          <p:cNvPr id="33" name="Text 27"/>
          <p:cNvSpPr/>
          <p:nvPr/>
        </p:nvSpPr>
        <p:spPr>
          <a:xfrm>
            <a:off x="812767" y="4654432"/>
            <a:ext cx="533706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Already strong, and we keep it</a:t>
            </a:r>
            <a:endParaRPr lang="en-US" sz="1400" dirty="0"/>
          </a:p>
        </p:txBody>
      </p:sp>
      <p:sp>
        <p:nvSpPr>
          <p:cNvPr id="34" name="Text 28"/>
          <p:cNvSpPr/>
          <p:nvPr/>
        </p:nvSpPr>
        <p:spPr>
          <a:xfrm>
            <a:off x="812767" y="4918521"/>
            <a:ext cx="533706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Dataset versions and a full audit trail per plot and analysis; their output schema.</a:t>
            </a:r>
            <a:endParaRPr lang="en-US" sz="1200" dirty="0"/>
          </a:p>
        </p:txBody>
      </p:sp>
      <p:sp>
        <p:nvSpPr>
          <p:cNvPr id="35" name="Shape 29"/>
          <p:cNvSpPr/>
          <p:nvPr/>
        </p:nvSpPr>
        <p:spPr>
          <a:xfrm>
            <a:off x="6197534" y="4518968"/>
            <a:ext cx="5181699" cy="0"/>
          </a:xfrm>
          <a:prstGeom prst="line">
            <a:avLst/>
          </a:prstGeom>
          <a:noFill/>
          <a:ln w="25400">
            <a:solidFill>
              <a:srgbClr val="C2652A"/>
            </a:solidFill>
            <a:prstDash val="solid"/>
          </a:ln>
        </p:spPr>
      </p:sp>
      <p:sp>
        <p:nvSpPr>
          <p:cNvPr id="36" name="Text 30"/>
          <p:cNvSpPr/>
          <p:nvPr/>
        </p:nvSpPr>
        <p:spPr>
          <a:xfrm>
            <a:off x="6197534" y="4654432"/>
            <a:ext cx="53371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Where we focus</a:t>
            </a:r>
            <a:endParaRPr lang="en-US" sz="1400" dirty="0"/>
          </a:p>
        </p:txBody>
      </p:sp>
      <p:sp>
        <p:nvSpPr>
          <p:cNvPr id="37" name="Text 31"/>
          <p:cNvSpPr/>
          <p:nvPr/>
        </p:nvSpPr>
        <p:spPr>
          <a:xfrm>
            <a:off x="6197534" y="4918521"/>
            <a:ext cx="5337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Speed per check, storing full raster copies, and knowing which past lots a new release can affect.</a:t>
            </a:r>
            <a:endParaRPr lang="en-US" sz="1200" dirty="0"/>
          </a:p>
        </p:txBody>
      </p:sp>
      <p:sp>
        <p:nvSpPr>
          <p:cNvPr id="38" name="Text 32"/>
          <p:cNvSpPr/>
          <p:nvPr/>
        </p:nvSpPr>
        <p:spPr>
          <a:xfrm>
            <a:off x="812767" y="6235731"/>
            <a:ext cx="4272458"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Source: SystemEarth product manager, 14 Oct 2026</a:t>
            </a:r>
            <a:endParaRPr lang="en-US" sz="1200" dirty="0"/>
          </a:p>
        </p:txBody>
      </p:sp>
      <p:sp>
        <p:nvSpPr>
          <p:cNvPr id="39" name="Text 33"/>
          <p:cNvSpPr/>
          <p:nvPr/>
        </p:nvSpPr>
        <p:spPr>
          <a:xfrm>
            <a:off x="11236903" y="6235731"/>
            <a:ext cx="14224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THE DECISION RULE</a:t>
            </a:r>
            <a:endParaRPr lang="en-US" sz="1200" dirty="0"/>
          </a:p>
        </p:txBody>
      </p:sp>
      <p:sp>
        <p:nvSpPr>
          <p:cNvPr id="3" name="Text 1"/>
          <p:cNvSpPr/>
          <p:nvPr>
            <p:ph type="title"/>
          </p:nvPr>
        </p:nvSpPr>
        <p:spPr>
          <a:xfrm>
            <a:off x="812767" y="1102237"/>
            <a:ext cx="11379233"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Tree cover loss is not deforestation (legally speaking)</a:t>
            </a:r>
            <a:endParaRPr lang="en-US" sz="3200" dirty="0"/>
          </a:p>
        </p:txBody>
      </p:sp>
      <p:sp>
        <p:nvSpPr>
          <p:cNvPr id="4" name="Shape 2"/>
          <p:cNvSpPr/>
          <p:nvPr/>
        </p:nvSpPr>
        <p:spPr>
          <a:xfrm>
            <a:off x="812767" y="1757659"/>
            <a:ext cx="10566466" cy="0"/>
          </a:xfrm>
          <a:prstGeom prst="line">
            <a:avLst/>
          </a:prstGeom>
          <a:noFill/>
          <a:ln w="10583">
            <a:solidFill>
              <a:srgbClr val="141413">
                <a:alpha val="22000"/>
              </a:srgbClr>
            </a:solidFill>
            <a:prstDash val="solid"/>
          </a:ln>
        </p:spPr>
      </p:sp>
      <p:sp>
        <p:nvSpPr>
          <p:cNvPr id="5" name="Shape 3"/>
          <p:cNvSpPr/>
          <p:nvPr/>
        </p:nvSpPr>
        <p:spPr>
          <a:xfrm>
            <a:off x="818059" y="1752367"/>
            <a:ext cx="0" cy="1698460"/>
          </a:xfrm>
          <a:prstGeom prst="line">
            <a:avLst/>
          </a:prstGeom>
          <a:noFill/>
          <a:ln w="10583">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7650" y="1839151"/>
          <a:ext cx="10327283" cy="1535575"/>
        </p:xfrm>
        <a:graphic>
          <a:graphicData uri="http://schemas.openxmlformats.org/drawingml/2006/table">
            <a:tbl>
              <a:tblPr/>
              <a:tblGrid>
                <a:gridCol w="2685093"/>
                <a:gridCol w="2065457"/>
                <a:gridCol w="1652365"/>
                <a:gridCol w="2272002"/>
                <a:gridCol w="1652365"/>
              </a:tblGrid>
              <a:tr h="330564">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Example plot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Satellite sees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2020 forest bit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Our 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Verdict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r>
              <a:tr h="330564">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Shade cocoa, trees thinned in 2023</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Tree-cover loss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0 · farmland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Ignored: not on 2020 forest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F6FA3"/>
                          </a:solidFill>
                          <a:latin typeface="IBM Plex Sans" pitchFamily="34" charset="0"/>
                          <a:ea typeface="IBM Plex Sans" pitchFamily="34" charset="-122"/>
                          <a:cs typeface="IBM Plex Sans" pitchFamily="34" charset="-120"/>
                        </a:rPr>
                        <a:t>Compliant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3884">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Forest cleared for cocoa in 2022</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Tree-cover loss + radar alert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1 · forest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Counted: 3+ cells, strong signal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A4501C"/>
                          </a:solidFill>
                          <a:latin typeface="IBM Plex Sans" pitchFamily="34" charset="0"/>
                          <a:ea typeface="IBM Plex Sans" pitchFamily="34" charset="-122"/>
                          <a:cs typeface="IBM Plex Sans" pitchFamily="34" charset="-120"/>
                        </a:rPr>
                        <a:t>Non-compliant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330564">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Edge: weak alert or 1–2 cells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Low-confidence alert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1 · forest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Small or weak signal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7332B"/>
                          </a:solidFill>
                          <a:latin typeface="IBM Plex Sans" pitchFamily="34" charset="0"/>
                          <a:ea typeface="IBM Plex Sans" pitchFamily="34" charset="-122"/>
                          <a:cs typeface="IBM Plex Sans" pitchFamily="34" charset="-120"/>
                        </a:rPr>
                        <a:t>Needs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2767" y="3653979"/>
            <a:ext cx="3413456" cy="1270165"/>
          </a:xfrm>
          <a:prstGeom prst="roundRect">
            <a:avLst>
              <a:gd name="adj" fmla="val 5999"/>
            </a:avLst>
          </a:prstGeom>
          <a:solidFill>
            <a:srgbClr val="17332B"/>
          </a:solidFill>
          <a:ln/>
        </p:spPr>
      </p:sp>
      <p:sp>
        <p:nvSpPr>
          <p:cNvPr id="8" name="Text 5"/>
          <p:cNvSpPr/>
          <p:nvPr/>
        </p:nvSpPr>
        <p:spPr>
          <a:xfrm>
            <a:off x="990534" y="3831744"/>
            <a:ext cx="3149660" cy="381017"/>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E3A06B"/>
                </a:solidFill>
                <a:latin typeface="Source Serif 4" pitchFamily="18" charset="0"/>
                <a:ea typeface="Source Serif 4" pitchFamily="18" charset="-122"/>
                <a:cs typeface="Source Serif 4" pitchFamily="18" charset="-120"/>
              </a:rPr>
              <a:t>99.5%</a:t>
            </a:r>
            <a:endParaRPr lang="en-US" sz="2800" dirty="0"/>
          </a:p>
        </p:txBody>
      </p:sp>
      <p:sp>
        <p:nvSpPr>
          <p:cNvPr id="9" name="Text 6"/>
          <p:cNvSpPr/>
          <p:nvPr/>
        </p:nvSpPr>
        <p:spPr>
          <a:xfrm>
            <a:off x="990534" y="4238129"/>
            <a:ext cx="31496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of post-2020 tree-cover loss outside parks fell on land that wasn’t forest in 2020</a:t>
            </a:r>
            <a:endParaRPr lang="en-US" sz="1200" dirty="0"/>
          </a:p>
        </p:txBody>
      </p:sp>
      <p:sp>
        <p:nvSpPr>
          <p:cNvPr id="10" name="Shape 7"/>
          <p:cNvSpPr/>
          <p:nvPr/>
        </p:nvSpPr>
        <p:spPr>
          <a:xfrm>
            <a:off x="4381781" y="3657154"/>
            <a:ext cx="3417772" cy="1263815"/>
          </a:xfrm>
          <a:prstGeom prst="roundRect">
            <a:avLst>
              <a:gd name="adj" fmla="val 5778"/>
            </a:avLst>
          </a:prstGeom>
          <a:solidFill>
            <a:srgbClr val="FCFBF7"/>
          </a:solidFill>
          <a:ln w="6350">
            <a:solidFill>
              <a:srgbClr val="DDD8CA"/>
            </a:solidFill>
            <a:prstDash val="solid"/>
          </a:ln>
        </p:spPr>
      </p:sp>
      <p:sp>
        <p:nvSpPr>
          <p:cNvPr id="11" name="Text 8"/>
          <p:cNvSpPr/>
          <p:nvPr/>
        </p:nvSpPr>
        <p:spPr>
          <a:xfrm>
            <a:off x="4561665" y="3837037"/>
            <a:ext cx="3149745" cy="381017"/>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C2652A"/>
                </a:solidFill>
                <a:latin typeface="Source Serif 4" pitchFamily="18" charset="0"/>
                <a:ea typeface="Source Serif 4" pitchFamily="18" charset="-122"/>
                <a:cs typeface="Source Serif 4" pitchFamily="18" charset="-120"/>
              </a:rPr>
              <a:t>22.9% → 0.12%</a:t>
            </a:r>
            <a:endParaRPr lang="en-US" sz="2800" dirty="0"/>
          </a:p>
        </p:txBody>
      </p:sp>
      <p:sp>
        <p:nvSpPr>
          <p:cNvPr id="12" name="Text 9"/>
          <p:cNvSpPr/>
          <p:nvPr/>
        </p:nvSpPr>
        <p:spPr>
          <a:xfrm>
            <a:off x="4561665" y="4243419"/>
            <a:ext cx="314974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of 5,000 random 2 ha farms flagged: Hansen-only vs gated by 2020 forest</a:t>
            </a:r>
            <a:endParaRPr lang="en-US" sz="1200" dirty="0"/>
          </a:p>
        </p:txBody>
      </p:sp>
      <p:sp>
        <p:nvSpPr>
          <p:cNvPr id="13" name="Shape 10"/>
          <p:cNvSpPr/>
          <p:nvPr/>
        </p:nvSpPr>
        <p:spPr>
          <a:xfrm>
            <a:off x="7958286" y="3657154"/>
            <a:ext cx="3417772" cy="1263815"/>
          </a:xfrm>
          <a:prstGeom prst="roundRect">
            <a:avLst>
              <a:gd name="adj" fmla="val 5778"/>
            </a:avLst>
          </a:prstGeom>
          <a:solidFill>
            <a:srgbClr val="FCFBF7"/>
          </a:solidFill>
          <a:ln w="6350">
            <a:solidFill>
              <a:srgbClr val="DDD8CA"/>
            </a:solidFill>
            <a:prstDash val="solid"/>
          </a:ln>
        </p:spPr>
      </p:sp>
      <p:sp>
        <p:nvSpPr>
          <p:cNvPr id="14" name="Text 11"/>
          <p:cNvSpPr/>
          <p:nvPr/>
        </p:nvSpPr>
        <p:spPr>
          <a:xfrm>
            <a:off x="8138170" y="3837037"/>
            <a:ext cx="314974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Where it can still miss</a:t>
            </a:r>
            <a:endParaRPr lang="en-US" sz="1400" dirty="0"/>
          </a:p>
        </p:txBody>
      </p:sp>
      <p:sp>
        <p:nvSpPr>
          <p:cNvPr id="15" name="Text 12"/>
          <p:cNvSpPr/>
          <p:nvPr/>
        </p:nvSpPr>
        <p:spPr>
          <a:xfrm>
            <a:off x="8138170" y="4101123"/>
            <a:ext cx="314974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GFC2020 sometimes maps shade cocoa as forest (18% commission error, v2). Weak or tiny signals go to a person.</a:t>
            </a:r>
            <a:endParaRPr lang="en-US" sz="1200" dirty="0"/>
          </a:p>
        </p:txBody>
      </p:sp>
      <p:sp>
        <p:nvSpPr>
          <p:cNvPr id="16" name="Text 13"/>
          <p:cNvSpPr/>
          <p:nvPr/>
        </p:nvSpPr>
        <p:spPr>
          <a:xfrm>
            <a:off x="812767" y="6235731"/>
            <a:ext cx="7873206"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The decision rule, not the storage · Example plots illustrative · EUDR Art. 2(4)–(5); JRC GFC2020</a:t>
            </a:r>
            <a:endParaRPr lang="en-US" sz="1200" dirty="0"/>
          </a:p>
        </p:txBody>
      </p:sp>
      <p:sp>
        <p:nvSpPr>
          <p:cNvPr id="17" name="Text 14"/>
          <p:cNvSpPr/>
          <p:nvPr/>
        </p:nvSpPr>
        <p:spPr>
          <a:xfrm>
            <a:off x="11236903" y="6235731"/>
            <a:ext cx="14224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LAYER ANALYSIS</a:t>
            </a:r>
            <a:endParaRPr lang="en-US" sz="1200" dirty="0"/>
          </a:p>
        </p:txBody>
      </p:sp>
      <p:sp>
        <p:nvSpPr>
          <p:cNvPr id="3" name="Text 1"/>
          <p:cNvSpPr/>
          <p:nvPr>
            <p:ph type="title"/>
          </p:nvPr>
        </p:nvSpPr>
        <p:spPr>
          <a:xfrm>
            <a:off x="812767" y="1102237"/>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What the decision actually needs</a:t>
            </a:r>
            <a:endParaRPr lang="en-US" sz="3200" dirty="0"/>
          </a:p>
        </p:txBody>
      </p:sp>
      <p:sp>
        <p:nvSpPr>
          <p:cNvPr id="4" name="Shape 2"/>
          <p:cNvSpPr/>
          <p:nvPr/>
        </p:nvSpPr>
        <p:spPr>
          <a:xfrm>
            <a:off x="812767" y="1808509"/>
            <a:ext cx="10566466" cy="0"/>
          </a:xfrm>
          <a:prstGeom prst="line">
            <a:avLst/>
          </a:prstGeom>
          <a:noFill/>
          <a:ln w="10583">
            <a:solidFill>
              <a:srgbClr val="141413">
                <a:alpha val="22000"/>
              </a:srgbClr>
            </a:solidFill>
            <a:prstDash val="solid"/>
          </a:ln>
        </p:spPr>
      </p:sp>
      <p:sp>
        <p:nvSpPr>
          <p:cNvPr id="5" name="Shape 3"/>
          <p:cNvSpPr/>
          <p:nvPr/>
        </p:nvSpPr>
        <p:spPr>
          <a:xfrm>
            <a:off x="818059" y="1803217"/>
            <a:ext cx="0" cy="2898262"/>
          </a:xfrm>
          <a:prstGeom prst="line">
            <a:avLst/>
          </a:prstGeom>
          <a:noFill/>
          <a:ln w="10583">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7650" y="1902700"/>
          <a:ext cx="10327283" cy="2709912"/>
        </p:xfrm>
        <a:graphic>
          <a:graphicData uri="http://schemas.openxmlformats.org/drawingml/2006/table">
            <a:tbl>
              <a:tblPr/>
              <a:tblGrid>
                <a:gridCol w="1858911"/>
                <a:gridCol w="3098185"/>
                <a:gridCol w="2788366"/>
                <a:gridCol w="2581821"/>
              </a:tblGrid>
              <a:tr h="357105">
                <a:tc>
                  <a:txBody>
                    <a:bodyPr/>
                    <a:lstStyle/>
                    <a:p>
                      <a:pPr indent="0" marL="0">
                        <a:lnSpc>
                          <a:spcPts val="1820"/>
                        </a:lnSpc>
                        <a:buNone/>
                      </a:pPr>
                      <a:r>
                        <a:rPr lang="en-US" sz="1300" b="1" dirty="0">
                          <a:solidFill>
                            <a:srgbClr val="F7F5EF"/>
                          </a:solidFill>
                          <a:latin typeface="IBM Plex Sans" pitchFamily="34" charset="0"/>
                          <a:ea typeface="IBM Plex Sans" pitchFamily="34" charset="-122"/>
                          <a:cs typeface="IBM Plex Sans" pitchFamily="34" charset="-120"/>
                        </a:rPr>
                        <a:t>Layer</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820"/>
                        </a:lnSpc>
                        <a:buNone/>
                      </a:pPr>
                      <a:r>
                        <a:rPr lang="en-US" sz="1300" b="1" dirty="0">
                          <a:solidFill>
                            <a:srgbClr val="F7F5EF"/>
                          </a:solidFill>
                          <a:latin typeface="IBM Plex Sans" pitchFamily="34" charset="0"/>
                          <a:ea typeface="IBM Plex Sans" pitchFamily="34" charset="-122"/>
                          <a:cs typeface="IBM Plex Sans" pitchFamily="34" charset="-120"/>
                        </a:rPr>
                        <a:t>Keep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820"/>
                        </a:lnSpc>
                        <a:buNone/>
                      </a:pPr>
                      <a:r>
                        <a:rPr lang="en-US" sz="1300" b="1" dirty="0">
                          <a:solidFill>
                            <a:srgbClr val="F7F5EF"/>
                          </a:solidFill>
                          <a:latin typeface="IBM Plex Sans" pitchFamily="34" charset="0"/>
                          <a:ea typeface="IBM Plex Sans" pitchFamily="34" charset="-122"/>
                          <a:cs typeface="IBM Plex Sans" pitchFamily="34" charset="-120"/>
                        </a:rPr>
                        <a:t>Drop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820"/>
                        </a:lnSpc>
                        <a:buNone/>
                      </a:pPr>
                      <a:r>
                        <a:rPr lang="en-US" sz="1300" b="1" dirty="0">
                          <a:solidFill>
                            <a:srgbClr val="F7F5EF"/>
                          </a:solidFill>
                          <a:latin typeface="IBM Plex Sans" pitchFamily="34" charset="0"/>
                          <a:ea typeface="IBM Plex Sans" pitchFamily="34" charset="-122"/>
                          <a:cs typeface="IBM Plex Sans" pitchFamily="34" charset="-120"/>
                        </a:rPr>
                        <a:t>Why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r>
              <a:tr h="588202">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JRC GFC2020 v4</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1 bit: forest on 31 Dec 2020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The cut-off baseline (EUDR Art. 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88202">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Hansen GFC v1.13</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Loss year 2021–2025, only on 2020 forest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treecover2000, loss before 2021, imagery bands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Earlier loss cannot change the verdict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588202">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RADD alerts</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First post-cut-off date + confidence, only on 2020 forest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Alerts before 2021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Dates matter only after the cut-off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88202">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WDPA</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National protected areas, clipped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International designations (inside the park here)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820"/>
                        </a:lnSpc>
                        <a:buNone/>
                      </a:pPr>
                      <a:r>
                        <a:rPr lang="en-US" sz="1300" dirty="0">
                          <a:solidFill>
                            <a:srgbClr val="2E3B35"/>
                          </a:solidFill>
                          <a:latin typeface="IBM Plex Sans" pitchFamily="34" charset="0"/>
                          <a:ea typeface="IBM Plex Sans" pitchFamily="34" charset="-122"/>
                          <a:cs typeface="IBM Plex Sans" pitchFamily="34" charset="-120"/>
                        </a:rPr>
                        <a:t>Avoid double counting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bl>
          </a:graphicData>
        </a:graphic>
      </p:graphicFrame>
      <p:sp>
        <p:nvSpPr>
          <p:cNvPr id="7" name="Text 4"/>
          <p:cNvSpPr/>
          <p:nvPr/>
        </p:nvSpPr>
        <p:spPr>
          <a:xfrm>
            <a:off x="812767" y="4955480"/>
            <a:ext cx="108834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All layers on the GFC2020 grid: ≈ 9.2 m cells, ≈ 85 m² each. RADD resampled by nearest neighbour, identically in both pipelines. GLAD-L left out: same Landsat source as Hansen.</a:t>
            </a:r>
            <a:endParaRPr lang="en-US" sz="1200" dirty="0"/>
          </a:p>
        </p:txBody>
      </p:sp>
      <p:sp>
        <p:nvSpPr>
          <p:cNvPr id="8" name="Text 5"/>
          <p:cNvSpPr/>
          <p:nvPr/>
        </p:nvSpPr>
        <p:spPr>
          <a:xfrm>
            <a:off x="812767" y="6235731"/>
            <a:ext cx="1782564"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Source: decision spec</a:t>
            </a:r>
            <a:endParaRPr lang="en-US" sz="1200" dirty="0"/>
          </a:p>
        </p:txBody>
      </p:sp>
      <p:sp>
        <p:nvSpPr>
          <p:cNvPr id="9" name="Text 6"/>
          <p:cNvSpPr/>
          <p:nvPr/>
        </p:nvSpPr>
        <p:spPr>
          <a:xfrm>
            <a:off x="11236903" y="6235731"/>
            <a:ext cx="14224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ph type="title"/>
          </p:nvPr>
        </p:nvSpPr>
        <p:spPr>
          <a:xfrm>
            <a:off x="812767" y="1102237"/>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Four paths, each run only as often as it must</a:t>
            </a:r>
            <a:endParaRPr lang="en-US" sz="3200" dirty="0"/>
          </a:p>
        </p:txBody>
      </p:sp>
      <p:sp>
        <p:nvSpPr>
          <p:cNvPr id="4" name="Shape 2"/>
          <p:cNvSpPr/>
          <p:nvPr/>
        </p:nvSpPr>
        <p:spPr>
          <a:xfrm>
            <a:off x="831817" y="1795692"/>
            <a:ext cx="0" cy="589111"/>
          </a:xfrm>
          <a:prstGeom prst="line">
            <a:avLst/>
          </a:prstGeom>
          <a:noFill/>
          <a:ln w="38100">
            <a:solidFill>
              <a:srgbClr val="17332B"/>
            </a:solidFill>
            <a:prstDash val="solid"/>
          </a:ln>
        </p:spPr>
      </p:sp>
      <p:sp>
        <p:nvSpPr>
          <p:cNvPr id="5" name="Text 3"/>
          <p:cNvSpPr/>
          <p:nvPr/>
        </p:nvSpPr>
        <p:spPr>
          <a:xfrm>
            <a:off x="976809" y="1846461"/>
            <a:ext cx="1537758"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332B"/>
                </a:solidFill>
                <a:latin typeface="IBM Plex Sans" pitchFamily="34" charset="0"/>
                <a:ea typeface="IBM Plex Sans" pitchFamily="34" charset="-122"/>
                <a:cs typeface="IBM Plex Sans" pitchFamily="34" charset="-120"/>
              </a:rPr>
              <a:t>Per release</a:t>
            </a:r>
            <a:endParaRPr lang="en-US" sz="1400" dirty="0"/>
          </a:p>
        </p:txBody>
      </p:sp>
      <p:sp>
        <p:nvSpPr>
          <p:cNvPr id="6" name="Text 4"/>
          <p:cNvSpPr/>
          <p:nvPr/>
        </p:nvSpPr>
        <p:spPr>
          <a:xfrm>
            <a:off x="976809" y="2120717"/>
            <a:ext cx="1537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weekly to yearly</a:t>
            </a:r>
            <a:endParaRPr lang="en-US" sz="1200" dirty="0"/>
          </a:p>
        </p:txBody>
      </p:sp>
      <p:sp>
        <p:nvSpPr>
          <p:cNvPr id="7" name="Shape 5"/>
          <p:cNvSpPr/>
          <p:nvPr/>
        </p:nvSpPr>
        <p:spPr>
          <a:xfrm>
            <a:off x="2568476" y="1780927"/>
            <a:ext cx="2076582" cy="618728"/>
          </a:xfrm>
          <a:prstGeom prst="roundRect">
            <a:avLst>
              <a:gd name="adj" fmla="val 11802"/>
            </a:avLst>
          </a:prstGeom>
          <a:solidFill>
            <a:srgbClr val="FCFBF7"/>
          </a:solidFill>
          <a:ln w="6350">
            <a:solidFill>
              <a:srgbClr val="DDD8CA"/>
            </a:solidFill>
            <a:prstDash val="solid"/>
          </a:ln>
        </p:spPr>
      </p:sp>
      <p:sp>
        <p:nvSpPr>
          <p:cNvPr id="8" name="Text 6"/>
          <p:cNvSpPr/>
          <p:nvPr/>
        </p:nvSpPr>
        <p:spPr>
          <a:xfrm>
            <a:off x="2697592" y="1884576"/>
            <a:ext cx="1872899"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Extract</a:t>
            </a:r>
            <a:endParaRPr lang="en-US" sz="1200" dirty="0"/>
          </a:p>
        </p:txBody>
      </p:sp>
      <p:sp>
        <p:nvSpPr>
          <p:cNvPr id="9" name="Text 7"/>
          <p:cNvSpPr/>
          <p:nvPr/>
        </p:nvSpPr>
        <p:spPr>
          <a:xfrm>
            <a:off x="2697592" y="2090291"/>
            <a:ext cx="1872899"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EE export or download</a:t>
            </a:r>
            <a:endParaRPr lang="en-US" sz="1200" dirty="0"/>
          </a:p>
        </p:txBody>
      </p:sp>
      <p:pic>
        <p:nvPicPr>
          <p:cNvPr id="10" name="Image 0" descr="connector">    </p:cNvPr>
          <p:cNvPicPr>
            <a:picLocks noChangeAspect="1"/>
          </p:cNvPicPr>
          <p:nvPr/>
        </p:nvPicPr>
        <p:blipFill>
          <a:blip r:embed="rId1"/>
          <a:srcRect l="-20" r="-20" t="0" b="0"/>
          <a:stretch/>
        </p:blipFill>
        <p:spPr>
          <a:xfrm>
            <a:off x="4749767" y="2052172"/>
            <a:ext cx="203150" cy="76150"/>
          </a:xfrm>
          <a:prstGeom prst="rect">
            <a:avLst/>
          </a:prstGeom>
        </p:spPr>
      </p:pic>
      <p:sp>
        <p:nvSpPr>
          <p:cNvPr id="11" name="Shape 8"/>
          <p:cNvSpPr/>
          <p:nvPr/>
        </p:nvSpPr>
        <p:spPr>
          <a:xfrm>
            <a:off x="5057626" y="1780927"/>
            <a:ext cx="2076665" cy="618728"/>
          </a:xfrm>
          <a:prstGeom prst="roundRect">
            <a:avLst>
              <a:gd name="adj" fmla="val 11802"/>
            </a:avLst>
          </a:prstGeom>
          <a:solidFill>
            <a:srgbClr val="FCFBF7"/>
          </a:solidFill>
          <a:ln w="6350">
            <a:solidFill>
              <a:srgbClr val="DDD8CA"/>
            </a:solidFill>
            <a:prstDash val="solid"/>
          </a:ln>
        </p:spPr>
      </p:sp>
      <p:sp>
        <p:nvSpPr>
          <p:cNvPr id="12" name="Text 9"/>
          <p:cNvSpPr/>
          <p:nvPr/>
        </p:nvSpPr>
        <p:spPr>
          <a:xfrm>
            <a:off x="5186743" y="1884576"/>
            <a:ext cx="1872985"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Encode</a:t>
            </a:r>
            <a:endParaRPr lang="en-US" sz="1200" dirty="0"/>
          </a:p>
        </p:txBody>
      </p:sp>
      <p:sp>
        <p:nvSpPr>
          <p:cNvPr id="13" name="Text 10"/>
          <p:cNvSpPr/>
          <p:nvPr/>
        </p:nvSpPr>
        <p:spPr>
          <a:xfrm>
            <a:off x="5186743" y="2090291"/>
            <a:ext cx="187298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16-bit base or event file</a:t>
            </a:r>
            <a:endParaRPr lang="en-US" sz="1200" dirty="0"/>
          </a:p>
        </p:txBody>
      </p:sp>
      <p:pic>
        <p:nvPicPr>
          <p:cNvPr id="14" name="Image 1" descr="connector">    </p:cNvPr>
          <p:cNvPicPr>
            <a:picLocks noChangeAspect="1"/>
          </p:cNvPicPr>
          <p:nvPr/>
        </p:nvPicPr>
        <p:blipFill>
          <a:blip r:embed="rId2"/>
          <a:srcRect l="-20" r="-20" t="0" b="0"/>
          <a:stretch/>
        </p:blipFill>
        <p:spPr>
          <a:xfrm>
            <a:off x="7239000" y="2052172"/>
            <a:ext cx="203150" cy="76150"/>
          </a:xfrm>
          <a:prstGeom prst="rect">
            <a:avLst/>
          </a:prstGeom>
        </p:spPr>
      </p:pic>
      <p:sp>
        <p:nvSpPr>
          <p:cNvPr id="15" name="Shape 11"/>
          <p:cNvSpPr/>
          <p:nvPr/>
        </p:nvSpPr>
        <p:spPr>
          <a:xfrm>
            <a:off x="7546859" y="1780927"/>
            <a:ext cx="2076665" cy="618728"/>
          </a:xfrm>
          <a:prstGeom prst="roundRect">
            <a:avLst>
              <a:gd name="adj" fmla="val 11802"/>
            </a:avLst>
          </a:prstGeom>
          <a:solidFill>
            <a:srgbClr val="FCFBF7"/>
          </a:solidFill>
          <a:ln w="6350">
            <a:solidFill>
              <a:srgbClr val="DDD8CA"/>
            </a:solidFill>
            <a:prstDash val="solid"/>
          </a:ln>
        </p:spPr>
      </p:sp>
      <p:sp>
        <p:nvSpPr>
          <p:cNvPr id="16" name="Text 12"/>
          <p:cNvSpPr/>
          <p:nvPr/>
        </p:nvSpPr>
        <p:spPr>
          <a:xfrm>
            <a:off x="7675976" y="1884576"/>
            <a:ext cx="1872985"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Record</a:t>
            </a:r>
            <a:endParaRPr lang="en-US" sz="1200" dirty="0"/>
          </a:p>
        </p:txBody>
      </p:sp>
      <p:sp>
        <p:nvSpPr>
          <p:cNvPr id="17" name="Text 13"/>
          <p:cNvSpPr/>
          <p:nvPr/>
        </p:nvSpPr>
        <p:spPr>
          <a:xfrm>
            <a:off x="7675976" y="2090291"/>
            <a:ext cx="194437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Manifest: versions, hashes</a:t>
            </a:r>
            <a:endParaRPr lang="en-US" sz="1200" dirty="0"/>
          </a:p>
        </p:txBody>
      </p:sp>
      <p:sp>
        <p:nvSpPr>
          <p:cNvPr id="18" name="Text 14"/>
          <p:cNvSpPr/>
          <p:nvPr/>
        </p:nvSpPr>
        <p:spPr>
          <a:xfrm>
            <a:off x="9728233" y="1783042"/>
            <a:ext cx="1651000" cy="614495"/>
          </a:xfrm>
          <a:prstGeom prst="roundRect">
            <a:avLst>
              <a:gd name="adj" fmla="val 12400"/>
            </a:avLst>
          </a:prstGeom>
          <a:solidFill>
            <a:srgbClr val="E3ECF4"/>
          </a:solidFill>
          <a:ln/>
        </p:spPr>
        <p:txBody>
          <a:bodyPr wrap="square" lIns="104682" tIns="79282" rIns="53882" bIns="53749"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3.9 s</a:t>
            </a:r>
            <a:r>
              <a:rPr lang="en-US" sz="1200" dirty="0">
                <a:solidFill>
                  <a:srgbClr val="17332B"/>
                </a:solidFill>
                <a:latin typeface="IBM Plex Sans" pitchFamily="34" charset="0"/>
                <a:ea typeface="IBM Plex Sans" pitchFamily="34" charset="-122"/>
                <a:cs typeface="IBM Plex Sans" pitchFamily="34" charset="-120"/>
              </a:rPr>
              <a:t> encode · </a:t>
            </a:r>
            <a:r>
              <a:rPr lang="en-US" sz="1200" b="1" dirty="0">
                <a:solidFill>
                  <a:srgbClr val="17332B"/>
                </a:solidFill>
                <a:latin typeface="IBM Plex Sans" pitchFamily="34" charset="0"/>
                <a:ea typeface="IBM Plex Sans" pitchFamily="34" charset="-122"/>
                <a:cs typeface="IBM Plex Sans" pitchFamily="34" charset="-120"/>
              </a:rPr>
              <a:t>22.7 kB</a:t>
            </a:r>
            <a:r>
              <a:rPr lang="en-US" sz="1200" dirty="0">
                <a:solidFill>
                  <a:srgbClr val="17332B"/>
                </a:solidFill>
                <a:latin typeface="IBM Plex Sans" pitchFamily="34" charset="0"/>
                <a:ea typeface="IBM Plex Sans" pitchFamily="34" charset="-122"/>
                <a:cs typeface="IBM Plex Sans" pitchFamily="34" charset="-120"/>
              </a:rPr>
              <a:t> event file</a:t>
            </a:r>
            <a:endParaRPr lang="en-US" sz="1200" dirty="0"/>
          </a:p>
        </p:txBody>
      </p:sp>
      <p:sp>
        <p:nvSpPr>
          <p:cNvPr id="19" name="Shape 15"/>
          <p:cNvSpPr/>
          <p:nvPr/>
        </p:nvSpPr>
        <p:spPr>
          <a:xfrm>
            <a:off x="831817" y="2547770"/>
            <a:ext cx="0" cy="589111"/>
          </a:xfrm>
          <a:prstGeom prst="line">
            <a:avLst/>
          </a:prstGeom>
          <a:noFill/>
          <a:ln w="38100">
            <a:solidFill>
              <a:srgbClr val="17332B"/>
            </a:solidFill>
            <a:prstDash val="solid"/>
          </a:ln>
        </p:spPr>
      </p:sp>
      <p:sp>
        <p:nvSpPr>
          <p:cNvPr id="20" name="Text 16"/>
          <p:cNvSpPr/>
          <p:nvPr/>
        </p:nvSpPr>
        <p:spPr>
          <a:xfrm>
            <a:off x="976809" y="2598539"/>
            <a:ext cx="1537758"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332B"/>
                </a:solidFill>
                <a:latin typeface="IBM Plex Sans" pitchFamily="34" charset="0"/>
                <a:ea typeface="IBM Plex Sans" pitchFamily="34" charset="-122"/>
                <a:cs typeface="IBM Plex Sans" pitchFamily="34" charset="-120"/>
              </a:rPr>
              <a:t>Per lot upload</a:t>
            </a:r>
            <a:endParaRPr lang="en-US" sz="1400" dirty="0"/>
          </a:p>
        </p:txBody>
      </p:sp>
      <p:sp>
        <p:nvSpPr>
          <p:cNvPr id="21" name="Text 17"/>
          <p:cNvSpPr/>
          <p:nvPr/>
        </p:nvSpPr>
        <p:spPr>
          <a:xfrm>
            <a:off x="976809" y="2872795"/>
            <a:ext cx="1537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once per plot</a:t>
            </a:r>
            <a:endParaRPr lang="en-US" sz="1200" dirty="0"/>
          </a:p>
        </p:txBody>
      </p:sp>
      <p:sp>
        <p:nvSpPr>
          <p:cNvPr id="22" name="Shape 18"/>
          <p:cNvSpPr/>
          <p:nvPr/>
        </p:nvSpPr>
        <p:spPr>
          <a:xfrm>
            <a:off x="2568476" y="2533005"/>
            <a:ext cx="2076582" cy="618728"/>
          </a:xfrm>
          <a:prstGeom prst="roundRect">
            <a:avLst>
              <a:gd name="adj" fmla="val 11802"/>
            </a:avLst>
          </a:prstGeom>
          <a:solidFill>
            <a:srgbClr val="FCFBF7"/>
          </a:solidFill>
          <a:ln w="6350">
            <a:solidFill>
              <a:srgbClr val="DDD8CA"/>
            </a:solidFill>
            <a:prstDash val="solid"/>
          </a:ln>
        </p:spPr>
      </p:sp>
      <p:sp>
        <p:nvSpPr>
          <p:cNvPr id="23" name="Text 19"/>
          <p:cNvSpPr/>
          <p:nvPr/>
        </p:nvSpPr>
        <p:spPr>
          <a:xfrm>
            <a:off x="2697592" y="2636655"/>
            <a:ext cx="1872899"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Points → circles</a:t>
            </a:r>
            <a:endParaRPr lang="en-US" sz="1200" dirty="0"/>
          </a:p>
        </p:txBody>
      </p:sp>
      <p:sp>
        <p:nvSpPr>
          <p:cNvPr id="24" name="Text 20"/>
          <p:cNvSpPr/>
          <p:nvPr/>
        </p:nvSpPr>
        <p:spPr>
          <a:xfrm>
            <a:off x="2697592" y="2842369"/>
            <a:ext cx="1872899"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Of the declared area</a:t>
            </a:r>
            <a:endParaRPr lang="en-US" sz="1200" dirty="0"/>
          </a:p>
        </p:txBody>
      </p:sp>
      <p:pic>
        <p:nvPicPr>
          <p:cNvPr id="25" name="Image 2" descr="connector">    </p:cNvPr>
          <p:cNvPicPr>
            <a:picLocks noChangeAspect="1"/>
          </p:cNvPicPr>
          <p:nvPr/>
        </p:nvPicPr>
        <p:blipFill>
          <a:blip r:embed="rId3"/>
          <a:srcRect l="-20" r="-20" t="0" b="0"/>
          <a:stretch/>
        </p:blipFill>
        <p:spPr>
          <a:xfrm>
            <a:off x="4749767" y="2804251"/>
            <a:ext cx="203150" cy="76150"/>
          </a:xfrm>
          <a:prstGeom prst="rect">
            <a:avLst/>
          </a:prstGeom>
        </p:spPr>
      </p:pic>
      <p:sp>
        <p:nvSpPr>
          <p:cNvPr id="26" name="Shape 21"/>
          <p:cNvSpPr/>
          <p:nvPr/>
        </p:nvSpPr>
        <p:spPr>
          <a:xfrm>
            <a:off x="5057626" y="2533005"/>
            <a:ext cx="2076665" cy="618728"/>
          </a:xfrm>
          <a:prstGeom prst="roundRect">
            <a:avLst>
              <a:gd name="adj" fmla="val 11802"/>
            </a:avLst>
          </a:prstGeom>
          <a:solidFill>
            <a:srgbClr val="FCFBF7"/>
          </a:solidFill>
          <a:ln w="6350">
            <a:solidFill>
              <a:srgbClr val="DDD8CA"/>
            </a:solidFill>
            <a:prstDash val="solid"/>
          </a:ln>
        </p:spPr>
      </p:sp>
      <p:sp>
        <p:nvSpPr>
          <p:cNvPr id="27" name="Text 22"/>
          <p:cNvSpPr/>
          <p:nvPr/>
        </p:nvSpPr>
        <p:spPr>
          <a:xfrm>
            <a:off x="5186743" y="2636655"/>
            <a:ext cx="1872985"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Index cells</a:t>
            </a:r>
            <a:endParaRPr lang="en-US" sz="1200" dirty="0"/>
          </a:p>
        </p:txBody>
      </p:sp>
      <p:sp>
        <p:nvSpPr>
          <p:cNvPr id="28" name="Text 23"/>
          <p:cNvSpPr/>
          <p:nvPr/>
        </p:nvSpPr>
        <p:spPr>
          <a:xfrm>
            <a:off x="5186743" y="2842369"/>
            <a:ext cx="187298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Run-length cell runs</a:t>
            </a:r>
            <a:endParaRPr lang="en-US" sz="1200" dirty="0"/>
          </a:p>
        </p:txBody>
      </p:sp>
      <p:pic>
        <p:nvPicPr>
          <p:cNvPr id="29" name="Image 3" descr="connector">    </p:cNvPr>
          <p:cNvPicPr>
            <a:picLocks noChangeAspect="1"/>
          </p:cNvPicPr>
          <p:nvPr/>
        </p:nvPicPr>
        <p:blipFill>
          <a:blip r:embed="rId4"/>
          <a:srcRect l="-20" r="-20" t="0" b="0"/>
          <a:stretch/>
        </p:blipFill>
        <p:spPr>
          <a:xfrm>
            <a:off x="7239000" y="2804251"/>
            <a:ext cx="203150" cy="76150"/>
          </a:xfrm>
          <a:prstGeom prst="rect">
            <a:avLst/>
          </a:prstGeom>
        </p:spPr>
      </p:pic>
      <p:sp>
        <p:nvSpPr>
          <p:cNvPr id="30" name="Shape 24"/>
          <p:cNvSpPr/>
          <p:nvPr/>
        </p:nvSpPr>
        <p:spPr>
          <a:xfrm>
            <a:off x="7546859" y="2533005"/>
            <a:ext cx="2076665" cy="618728"/>
          </a:xfrm>
          <a:prstGeom prst="roundRect">
            <a:avLst>
              <a:gd name="adj" fmla="val 11802"/>
            </a:avLst>
          </a:prstGeom>
          <a:solidFill>
            <a:srgbClr val="FCFBF7"/>
          </a:solidFill>
          <a:ln w="6350">
            <a:solidFill>
              <a:srgbClr val="DDD8CA"/>
            </a:solidFill>
            <a:prstDash val="solid"/>
          </a:ln>
        </p:spPr>
      </p:sp>
      <p:sp>
        <p:nvSpPr>
          <p:cNvPr id="31" name="Text 25"/>
          <p:cNvSpPr/>
          <p:nvPr/>
        </p:nvSpPr>
        <p:spPr>
          <a:xfrm>
            <a:off x="7675976" y="2636655"/>
            <a:ext cx="1872985"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Overlay parks</a:t>
            </a:r>
            <a:endParaRPr lang="en-US" sz="1200" dirty="0"/>
          </a:p>
        </p:txBody>
      </p:sp>
      <p:sp>
        <p:nvSpPr>
          <p:cNvPr id="32" name="Text 26"/>
          <p:cNvSpPr/>
          <p:nvPr/>
        </p:nvSpPr>
        <p:spPr>
          <a:xfrm>
            <a:off x="7675976" y="2842369"/>
            <a:ext cx="187298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d1 / d2 overlaps, stored</a:t>
            </a:r>
            <a:endParaRPr lang="en-US" sz="1200" dirty="0"/>
          </a:p>
        </p:txBody>
      </p:sp>
      <p:sp>
        <p:nvSpPr>
          <p:cNvPr id="33" name="Text 27"/>
          <p:cNvSpPr/>
          <p:nvPr/>
        </p:nvSpPr>
        <p:spPr>
          <a:xfrm>
            <a:off x="9728233" y="2637979"/>
            <a:ext cx="1651000" cy="408781"/>
          </a:xfrm>
          <a:prstGeom prst="roundRect">
            <a:avLst>
              <a:gd name="adj" fmla="val 18641"/>
            </a:avLst>
          </a:prstGeom>
          <a:solidFill>
            <a:srgbClr val="E3ECF4"/>
          </a:solidFill>
          <a:ln/>
        </p:spPr>
        <p:txBody>
          <a:bodyPr wrap="square" lIns="104682" tIns="79282" rIns="53882" bIns="53749"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 148 bytes</a:t>
            </a:r>
            <a:r>
              <a:rPr lang="en-US" sz="1200" dirty="0">
                <a:solidFill>
                  <a:srgbClr val="17332B"/>
                </a:solidFill>
                <a:latin typeface="IBM Plex Sans" pitchFamily="34" charset="0"/>
                <a:ea typeface="IBM Plex Sans" pitchFamily="34" charset="-122"/>
                <a:cs typeface="IBM Plex Sans" pitchFamily="34" charset="-120"/>
              </a:rPr>
              <a:t> per plot</a:t>
            </a:r>
            <a:endParaRPr lang="en-US" sz="1200" dirty="0"/>
          </a:p>
        </p:txBody>
      </p:sp>
      <p:sp>
        <p:nvSpPr>
          <p:cNvPr id="34" name="Shape 28"/>
          <p:cNvSpPr/>
          <p:nvPr/>
        </p:nvSpPr>
        <p:spPr>
          <a:xfrm>
            <a:off x="831817" y="3281908"/>
            <a:ext cx="0" cy="802432"/>
          </a:xfrm>
          <a:prstGeom prst="line">
            <a:avLst/>
          </a:prstGeom>
          <a:noFill/>
          <a:ln w="38100">
            <a:solidFill>
              <a:srgbClr val="C2652A"/>
            </a:solidFill>
            <a:prstDash val="solid"/>
          </a:ln>
        </p:spPr>
      </p:sp>
      <p:sp>
        <p:nvSpPr>
          <p:cNvPr id="35" name="Text 29"/>
          <p:cNvSpPr/>
          <p:nvPr/>
        </p:nvSpPr>
        <p:spPr>
          <a:xfrm>
            <a:off x="976809" y="3332674"/>
            <a:ext cx="1537758"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332B"/>
                </a:solidFill>
                <a:latin typeface="IBM Plex Sans" pitchFamily="34" charset="0"/>
                <a:ea typeface="IBM Plex Sans" pitchFamily="34" charset="-122"/>
                <a:cs typeface="IBM Plex Sans" pitchFamily="34" charset="-120"/>
              </a:rPr>
              <a:t>Per check</a:t>
            </a:r>
            <a:endParaRPr lang="en-US" sz="1400" dirty="0"/>
          </a:p>
        </p:txBody>
      </p:sp>
      <p:sp>
        <p:nvSpPr>
          <p:cNvPr id="36" name="Text 30"/>
          <p:cNvSpPr/>
          <p:nvPr/>
        </p:nvSpPr>
        <p:spPr>
          <a:xfrm>
            <a:off x="976809" y="3606930"/>
            <a:ext cx="15377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on demand or scheduled</a:t>
            </a:r>
            <a:endParaRPr lang="en-US" sz="1200" dirty="0"/>
          </a:p>
        </p:txBody>
      </p:sp>
      <p:sp>
        <p:nvSpPr>
          <p:cNvPr id="37" name="Shape 31"/>
          <p:cNvSpPr/>
          <p:nvPr/>
        </p:nvSpPr>
        <p:spPr>
          <a:xfrm>
            <a:off x="2571651" y="3371602"/>
            <a:ext cx="2070232" cy="622961"/>
          </a:xfrm>
          <a:prstGeom prst="roundRect">
            <a:avLst>
              <a:gd name="adj" fmla="val 11213"/>
            </a:avLst>
          </a:prstGeom>
          <a:solidFill>
            <a:srgbClr val="FBEFE6"/>
          </a:solidFill>
          <a:ln w="12700">
            <a:solidFill>
              <a:srgbClr val="C2652A"/>
            </a:solidFill>
            <a:prstDash val="solid"/>
          </a:ln>
        </p:spPr>
      </p:sp>
      <p:sp>
        <p:nvSpPr>
          <p:cNvPr id="38" name="Text 32"/>
          <p:cNvSpPr/>
          <p:nvPr/>
        </p:nvSpPr>
        <p:spPr>
          <a:xfrm>
            <a:off x="2702884" y="3477369"/>
            <a:ext cx="1861999"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Read cell runs</a:t>
            </a:r>
            <a:endParaRPr lang="en-US" sz="1200" dirty="0"/>
          </a:p>
        </p:txBody>
      </p:sp>
      <p:sp>
        <p:nvSpPr>
          <p:cNvPr id="39" name="Text 33"/>
          <p:cNvSpPr/>
          <p:nvPr/>
        </p:nvSpPr>
        <p:spPr>
          <a:xfrm>
            <a:off x="2702884" y="3683081"/>
            <a:ext cx="1861999"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From the plot index</a:t>
            </a:r>
            <a:endParaRPr lang="en-US" sz="1200" dirty="0"/>
          </a:p>
        </p:txBody>
      </p:sp>
      <p:pic>
        <p:nvPicPr>
          <p:cNvPr id="40" name="Image 4" descr="connector">    </p:cNvPr>
          <p:cNvPicPr>
            <a:picLocks noChangeAspect="1"/>
          </p:cNvPicPr>
          <p:nvPr/>
        </p:nvPicPr>
        <p:blipFill>
          <a:blip r:embed="rId5"/>
          <a:srcRect l="-20" r="-20" t="0" b="0"/>
          <a:stretch/>
        </p:blipFill>
        <p:spPr>
          <a:xfrm>
            <a:off x="4749767" y="3645049"/>
            <a:ext cx="203150" cy="76150"/>
          </a:xfrm>
          <a:prstGeom prst="rect">
            <a:avLst/>
          </a:prstGeom>
        </p:spPr>
      </p:pic>
      <p:sp>
        <p:nvSpPr>
          <p:cNvPr id="41" name="Shape 34"/>
          <p:cNvSpPr/>
          <p:nvPr/>
        </p:nvSpPr>
        <p:spPr>
          <a:xfrm>
            <a:off x="5060801" y="3371602"/>
            <a:ext cx="2070315" cy="622961"/>
          </a:xfrm>
          <a:prstGeom prst="roundRect">
            <a:avLst>
              <a:gd name="adj" fmla="val 11213"/>
            </a:avLst>
          </a:prstGeom>
          <a:solidFill>
            <a:srgbClr val="FBEFE6"/>
          </a:solidFill>
          <a:ln w="12700">
            <a:solidFill>
              <a:srgbClr val="C2652A"/>
            </a:solidFill>
            <a:prstDash val="solid"/>
          </a:ln>
        </p:spPr>
      </p:sp>
      <p:sp>
        <p:nvSpPr>
          <p:cNvPr id="42" name="Text 35"/>
          <p:cNvSpPr/>
          <p:nvPr/>
        </p:nvSpPr>
        <p:spPr>
          <a:xfrm>
            <a:off x="5192034" y="3477369"/>
            <a:ext cx="1862084"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Read one tile</a:t>
            </a:r>
            <a:endParaRPr lang="en-US" sz="1200" dirty="0"/>
          </a:p>
        </p:txBody>
      </p:sp>
      <p:sp>
        <p:nvSpPr>
          <p:cNvPr id="43" name="Text 36"/>
          <p:cNvSpPr/>
          <p:nvPr/>
        </p:nvSpPr>
        <p:spPr>
          <a:xfrm>
            <a:off x="5192034" y="3683081"/>
            <a:ext cx="18620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Decode 16-bit cells</a:t>
            </a:r>
            <a:endParaRPr lang="en-US" sz="1200" dirty="0"/>
          </a:p>
        </p:txBody>
      </p:sp>
      <p:pic>
        <p:nvPicPr>
          <p:cNvPr id="44" name="Image 5" descr="connector">    </p:cNvPr>
          <p:cNvPicPr>
            <a:picLocks noChangeAspect="1"/>
          </p:cNvPicPr>
          <p:nvPr/>
        </p:nvPicPr>
        <p:blipFill>
          <a:blip r:embed="rId6"/>
          <a:srcRect l="-20" r="-20" t="0" b="0"/>
          <a:stretch/>
        </p:blipFill>
        <p:spPr>
          <a:xfrm>
            <a:off x="7239000" y="3645049"/>
            <a:ext cx="203150" cy="76150"/>
          </a:xfrm>
          <a:prstGeom prst="rect">
            <a:avLst/>
          </a:prstGeom>
        </p:spPr>
      </p:pic>
      <p:sp>
        <p:nvSpPr>
          <p:cNvPr id="45" name="Shape 37"/>
          <p:cNvSpPr/>
          <p:nvPr/>
        </p:nvSpPr>
        <p:spPr>
          <a:xfrm>
            <a:off x="7550034" y="3371602"/>
            <a:ext cx="2070315" cy="622961"/>
          </a:xfrm>
          <a:prstGeom prst="roundRect">
            <a:avLst>
              <a:gd name="adj" fmla="val 11213"/>
            </a:avLst>
          </a:prstGeom>
          <a:solidFill>
            <a:srgbClr val="FBEFE6"/>
          </a:solidFill>
          <a:ln w="12700">
            <a:solidFill>
              <a:srgbClr val="C2652A"/>
            </a:solidFill>
            <a:prstDash val="solid"/>
          </a:ln>
        </p:spPr>
      </p:sp>
      <p:sp>
        <p:nvSpPr>
          <p:cNvPr id="46" name="Text 38"/>
          <p:cNvSpPr/>
          <p:nvPr/>
        </p:nvSpPr>
        <p:spPr>
          <a:xfrm>
            <a:off x="7681268" y="3477369"/>
            <a:ext cx="1862084"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Apply rules</a:t>
            </a:r>
            <a:endParaRPr lang="en-US" sz="1200" dirty="0"/>
          </a:p>
        </p:txBody>
      </p:sp>
      <p:sp>
        <p:nvSpPr>
          <p:cNvPr id="47" name="Text 39"/>
          <p:cNvSpPr/>
          <p:nvPr/>
        </p:nvSpPr>
        <p:spPr>
          <a:xfrm>
            <a:off x="7681268" y="3683081"/>
            <a:ext cx="18620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SQL in DuckDB</a:t>
            </a:r>
            <a:endParaRPr lang="en-US" sz="1200" dirty="0"/>
          </a:p>
        </p:txBody>
      </p:sp>
      <p:sp>
        <p:nvSpPr>
          <p:cNvPr id="48" name="Text 40"/>
          <p:cNvSpPr/>
          <p:nvPr/>
        </p:nvSpPr>
        <p:spPr>
          <a:xfrm>
            <a:off x="9728233" y="3478690"/>
            <a:ext cx="1651000" cy="408781"/>
          </a:xfrm>
          <a:prstGeom prst="roundRect">
            <a:avLst>
              <a:gd name="adj" fmla="val 18641"/>
            </a:avLst>
          </a:prstGeom>
          <a:solidFill>
            <a:srgbClr val="E3ECF4"/>
          </a:solidFill>
          <a:ln/>
        </p:spPr>
        <p:txBody>
          <a:bodyPr wrap="square" lIns="104682" tIns="79282" rIns="53882" bIns="53749"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32 ms</a:t>
            </a:r>
            <a:r>
              <a:rPr lang="en-US" sz="1200" dirty="0">
                <a:solidFill>
                  <a:srgbClr val="17332B"/>
                </a:solidFill>
                <a:latin typeface="IBM Plex Sans" pitchFamily="34" charset="0"/>
                <a:ea typeface="IBM Plex Sans" pitchFamily="34" charset="-122"/>
                <a:cs typeface="IBM Plex Sans" pitchFamily="34" charset="-120"/>
              </a:rPr>
              <a:t> · </a:t>
            </a:r>
            <a:r>
              <a:rPr lang="en-US" sz="1200" b="1" dirty="0">
                <a:solidFill>
                  <a:srgbClr val="17332B"/>
                </a:solidFill>
                <a:latin typeface="IBM Plex Sans" pitchFamily="34" charset="0"/>
                <a:ea typeface="IBM Plex Sans" pitchFamily="34" charset="-122"/>
                <a:cs typeface="IBM Plex Sans" pitchFamily="34" charset="-120"/>
              </a:rPr>
              <a:t>0.9 kB</a:t>
            </a:r>
            <a:r>
              <a:rPr lang="en-US" sz="1200" dirty="0">
                <a:solidFill>
                  <a:srgbClr val="17332B"/>
                </a:solidFill>
                <a:latin typeface="IBM Plex Sans" pitchFamily="34" charset="0"/>
                <a:ea typeface="IBM Plex Sans" pitchFamily="34" charset="-122"/>
                <a:cs typeface="IBM Plex Sans" pitchFamily="34" charset="-120"/>
              </a:rPr>
              <a:t> read</a:t>
            </a:r>
            <a:endParaRPr lang="en-US" sz="1200" dirty="0"/>
          </a:p>
        </p:txBody>
      </p:sp>
      <p:sp>
        <p:nvSpPr>
          <p:cNvPr id="49" name="Shape 41"/>
          <p:cNvSpPr/>
          <p:nvPr/>
        </p:nvSpPr>
        <p:spPr>
          <a:xfrm>
            <a:off x="831817" y="4229280"/>
            <a:ext cx="0" cy="589111"/>
          </a:xfrm>
          <a:prstGeom prst="line">
            <a:avLst/>
          </a:prstGeom>
          <a:noFill/>
          <a:ln w="38100">
            <a:solidFill>
              <a:srgbClr val="17332B"/>
            </a:solidFill>
            <a:prstDash val="solid"/>
          </a:ln>
        </p:spPr>
      </p:sp>
      <p:sp>
        <p:nvSpPr>
          <p:cNvPr id="50" name="Text 42"/>
          <p:cNvSpPr/>
          <p:nvPr/>
        </p:nvSpPr>
        <p:spPr>
          <a:xfrm>
            <a:off x="976809" y="4280049"/>
            <a:ext cx="1537758"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332B"/>
                </a:solidFill>
                <a:latin typeface="IBM Plex Sans" pitchFamily="34" charset="0"/>
                <a:ea typeface="IBM Plex Sans" pitchFamily="34" charset="-122"/>
                <a:cs typeface="IBM Plex Sans" pitchFamily="34" charset="-120"/>
              </a:rPr>
              <a:t>Per update</a:t>
            </a:r>
            <a:endParaRPr lang="en-US" sz="1400" dirty="0"/>
          </a:p>
        </p:txBody>
      </p:sp>
      <p:sp>
        <p:nvSpPr>
          <p:cNvPr id="51" name="Text 43"/>
          <p:cNvSpPr/>
          <p:nvPr/>
        </p:nvSpPr>
        <p:spPr>
          <a:xfrm>
            <a:off x="976809" y="4554302"/>
            <a:ext cx="1537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after each release</a:t>
            </a:r>
            <a:endParaRPr lang="en-US" sz="1200" dirty="0"/>
          </a:p>
        </p:txBody>
      </p:sp>
      <p:sp>
        <p:nvSpPr>
          <p:cNvPr id="52" name="Shape 44"/>
          <p:cNvSpPr/>
          <p:nvPr/>
        </p:nvSpPr>
        <p:spPr>
          <a:xfrm>
            <a:off x="2568476" y="4214515"/>
            <a:ext cx="2076582" cy="618728"/>
          </a:xfrm>
          <a:prstGeom prst="roundRect">
            <a:avLst>
              <a:gd name="adj" fmla="val 11802"/>
            </a:avLst>
          </a:prstGeom>
          <a:solidFill>
            <a:srgbClr val="FCFBF7"/>
          </a:solidFill>
          <a:ln w="6350">
            <a:solidFill>
              <a:srgbClr val="DDD8CA"/>
            </a:solidFill>
            <a:prstDash val="solid"/>
          </a:ln>
        </p:spPr>
      </p:sp>
      <p:sp>
        <p:nvSpPr>
          <p:cNvPr id="53" name="Text 45"/>
          <p:cNvSpPr/>
          <p:nvPr/>
        </p:nvSpPr>
        <p:spPr>
          <a:xfrm>
            <a:off x="2697592" y="4318161"/>
            <a:ext cx="1872899"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Changed cells</a:t>
            </a:r>
            <a:endParaRPr lang="en-US" sz="1200" dirty="0"/>
          </a:p>
        </p:txBody>
      </p:sp>
      <p:sp>
        <p:nvSpPr>
          <p:cNvPr id="54" name="Text 46"/>
          <p:cNvSpPr/>
          <p:nvPr/>
        </p:nvSpPr>
        <p:spPr>
          <a:xfrm>
            <a:off x="2697592" y="4523879"/>
            <a:ext cx="1872899"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From the event file</a:t>
            </a:r>
            <a:endParaRPr lang="en-US" sz="1200" dirty="0"/>
          </a:p>
        </p:txBody>
      </p:sp>
      <p:pic>
        <p:nvPicPr>
          <p:cNvPr id="55" name="Image 6" descr="connector">    </p:cNvPr>
          <p:cNvPicPr>
            <a:picLocks noChangeAspect="1"/>
          </p:cNvPicPr>
          <p:nvPr/>
        </p:nvPicPr>
        <p:blipFill>
          <a:blip r:embed="rId7"/>
          <a:srcRect l="-20" r="-20" t="0" b="0"/>
          <a:stretch/>
        </p:blipFill>
        <p:spPr>
          <a:xfrm>
            <a:off x="4749767" y="4485760"/>
            <a:ext cx="203150" cy="76150"/>
          </a:xfrm>
          <a:prstGeom prst="rect">
            <a:avLst/>
          </a:prstGeom>
        </p:spPr>
      </p:pic>
      <p:sp>
        <p:nvSpPr>
          <p:cNvPr id="56" name="Shape 47"/>
          <p:cNvSpPr/>
          <p:nvPr/>
        </p:nvSpPr>
        <p:spPr>
          <a:xfrm>
            <a:off x="5057626" y="4214515"/>
            <a:ext cx="2076665" cy="618728"/>
          </a:xfrm>
          <a:prstGeom prst="roundRect">
            <a:avLst>
              <a:gd name="adj" fmla="val 11802"/>
            </a:avLst>
          </a:prstGeom>
          <a:solidFill>
            <a:srgbClr val="FCFBF7"/>
          </a:solidFill>
          <a:ln w="6350">
            <a:solidFill>
              <a:srgbClr val="DDD8CA"/>
            </a:solidFill>
            <a:prstDash val="solid"/>
          </a:ln>
        </p:spPr>
      </p:sp>
      <p:sp>
        <p:nvSpPr>
          <p:cNvPr id="57" name="Text 48"/>
          <p:cNvSpPr/>
          <p:nvPr/>
        </p:nvSpPr>
        <p:spPr>
          <a:xfrm>
            <a:off x="5186743" y="4318161"/>
            <a:ext cx="1872985"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Affected plots</a:t>
            </a:r>
            <a:endParaRPr lang="en-US" sz="1200" dirty="0"/>
          </a:p>
        </p:txBody>
      </p:sp>
      <p:sp>
        <p:nvSpPr>
          <p:cNvPr id="58" name="Text 49"/>
          <p:cNvSpPr/>
          <p:nvPr/>
        </p:nvSpPr>
        <p:spPr>
          <a:xfrm>
            <a:off x="5186743" y="4523879"/>
            <a:ext cx="187298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Join with the index</a:t>
            </a:r>
            <a:endParaRPr lang="en-US" sz="1200" dirty="0"/>
          </a:p>
        </p:txBody>
      </p:sp>
      <p:pic>
        <p:nvPicPr>
          <p:cNvPr id="59" name="Image 7" descr="connector">    </p:cNvPr>
          <p:cNvPicPr>
            <a:picLocks noChangeAspect="1"/>
          </p:cNvPicPr>
          <p:nvPr/>
        </p:nvPicPr>
        <p:blipFill>
          <a:blip r:embed="rId8"/>
          <a:srcRect l="-20" r="-20" t="0" b="0"/>
          <a:stretch/>
        </p:blipFill>
        <p:spPr>
          <a:xfrm>
            <a:off x="7239000" y="4485760"/>
            <a:ext cx="203150" cy="76150"/>
          </a:xfrm>
          <a:prstGeom prst="rect">
            <a:avLst/>
          </a:prstGeom>
        </p:spPr>
      </p:pic>
      <p:sp>
        <p:nvSpPr>
          <p:cNvPr id="60" name="Shape 50"/>
          <p:cNvSpPr/>
          <p:nvPr/>
        </p:nvSpPr>
        <p:spPr>
          <a:xfrm>
            <a:off x="7546859" y="4214515"/>
            <a:ext cx="2076665" cy="618728"/>
          </a:xfrm>
          <a:prstGeom prst="roundRect">
            <a:avLst>
              <a:gd name="adj" fmla="val 11802"/>
            </a:avLst>
          </a:prstGeom>
          <a:solidFill>
            <a:srgbClr val="FCFBF7"/>
          </a:solidFill>
          <a:ln w="6350">
            <a:solidFill>
              <a:srgbClr val="DDD8CA"/>
            </a:solidFill>
            <a:prstDash val="solid"/>
          </a:ln>
        </p:spPr>
      </p:sp>
      <p:sp>
        <p:nvSpPr>
          <p:cNvPr id="61" name="Text 51"/>
          <p:cNvSpPr/>
          <p:nvPr/>
        </p:nvSpPr>
        <p:spPr>
          <a:xfrm>
            <a:off x="7675976" y="4318161"/>
            <a:ext cx="1872985"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Re-check those</a:t>
            </a:r>
            <a:endParaRPr lang="en-US" sz="1200" dirty="0"/>
          </a:p>
        </p:txBody>
      </p:sp>
      <p:sp>
        <p:nvSpPr>
          <p:cNvPr id="62" name="Text 52"/>
          <p:cNvSpPr/>
          <p:nvPr/>
        </p:nvSpPr>
        <p:spPr>
          <a:xfrm>
            <a:off x="7675976" y="4523879"/>
            <a:ext cx="187298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Report changed verdicts</a:t>
            </a:r>
            <a:endParaRPr lang="en-US" sz="1200" dirty="0"/>
          </a:p>
        </p:txBody>
      </p:sp>
      <p:sp>
        <p:nvSpPr>
          <p:cNvPr id="63" name="Text 53"/>
          <p:cNvSpPr/>
          <p:nvPr/>
        </p:nvSpPr>
        <p:spPr>
          <a:xfrm>
            <a:off x="9728233" y="4216629"/>
            <a:ext cx="1651000" cy="614495"/>
          </a:xfrm>
          <a:prstGeom prst="roundRect">
            <a:avLst>
              <a:gd name="adj" fmla="val 12400"/>
            </a:avLst>
          </a:prstGeom>
          <a:solidFill>
            <a:srgbClr val="E3ECF4"/>
          </a:solidFill>
          <a:ln/>
        </p:spPr>
        <p:txBody>
          <a:bodyPr wrap="square" lIns="104682" tIns="79282" rIns="53882" bIns="53749" rtlCol="0" anchor="t">
            <a:normAutofit/>
          </a:bodyPr>
          <a:lstStyle/>
          <a:p>
            <a:pPr algn="l" indent="0" marL="0">
              <a:lnSpc>
                <a:spcPts val="1620"/>
              </a:lnSpc>
              <a:buNone/>
            </a:pPr>
            <a:r>
              <a:rPr lang="en-US" sz="1200" b="1" dirty="0">
                <a:solidFill>
                  <a:srgbClr val="17332B"/>
                </a:solidFill>
                <a:latin typeface="IBM Plex Sans" pitchFamily="34" charset="0"/>
                <a:ea typeface="IBM Plex Sans" pitchFamily="34" charset="-122"/>
                <a:cs typeface="IBM Plex Sans" pitchFamily="34" charset="-120"/>
              </a:rPr>
              <a:t>39 of 500</a:t>
            </a:r>
            <a:r>
              <a:rPr lang="en-US" sz="1200" dirty="0">
                <a:solidFill>
                  <a:srgbClr val="17332B"/>
                </a:solidFill>
                <a:latin typeface="IBM Plex Sans" pitchFamily="34" charset="0"/>
                <a:ea typeface="IBM Plex Sans" pitchFamily="34" charset="-122"/>
                <a:cs typeface="IBM Plex Sans" pitchFamily="34" charset="-120"/>
              </a:rPr>
              <a:t> plots · </a:t>
            </a:r>
            <a:r>
              <a:rPr lang="en-US" sz="1200" b="1" dirty="0">
                <a:solidFill>
                  <a:srgbClr val="17332B"/>
                </a:solidFill>
                <a:latin typeface="IBM Plex Sans" pitchFamily="34" charset="0"/>
                <a:ea typeface="IBM Plex Sans" pitchFamily="34" charset="-122"/>
                <a:cs typeface="IBM Plex Sans" pitchFamily="34" charset="-120"/>
              </a:rPr>
              <a:t>0.11 s</a:t>
            </a:r>
            <a:endParaRPr lang="en-US" sz="1200" dirty="0"/>
          </a:p>
        </p:txBody>
      </p:sp>
      <p:sp>
        <p:nvSpPr>
          <p:cNvPr id="64" name="Text 54"/>
          <p:cNvSpPr/>
          <p:nvPr/>
        </p:nvSpPr>
        <p:spPr>
          <a:xfrm>
            <a:off x="812767" y="6235731"/>
            <a:ext cx="7215981"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Store: 16-bit base raster · event file per release · plot index · manifest · blue = measured</a:t>
            </a:r>
            <a:endParaRPr lang="en-US" sz="1200" dirty="0"/>
          </a:p>
        </p:txBody>
      </p:sp>
      <p:sp>
        <p:nvSpPr>
          <p:cNvPr id="65" name="Text 55"/>
          <p:cNvSpPr/>
          <p:nvPr/>
        </p:nvSpPr>
        <p:spPr>
          <a:xfrm>
            <a:off x="11236903" y="6235731"/>
            <a:ext cx="14224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STORAGE EFFICIENCY · RESULT AND RATIONALE</a:t>
            </a:r>
            <a:endParaRPr lang="en-US" sz="1200" dirty="0"/>
          </a:p>
        </p:txBody>
      </p:sp>
      <p:sp>
        <p:nvSpPr>
          <p:cNvPr id="3" name="Text 1"/>
          <p:cNvSpPr/>
          <p:nvPr>
            <p:ph type="title"/>
          </p:nvPr>
        </p:nvSpPr>
        <p:spPr>
          <a:xfrm>
            <a:off x="812767" y="1102233"/>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Keep 16 bits per cell: 43× smaller</a:t>
            </a:r>
            <a:endParaRPr lang="en-US" sz="3200" dirty="0"/>
          </a:p>
        </p:txBody>
      </p:sp>
      <p:sp>
        <p:nvSpPr>
          <p:cNvPr id="4" name="Shape 2"/>
          <p:cNvSpPr/>
          <p:nvPr/>
        </p:nvSpPr>
        <p:spPr>
          <a:xfrm>
            <a:off x="812767" y="1752364"/>
            <a:ext cx="2519329" cy="1168714"/>
          </a:xfrm>
          <a:prstGeom prst="roundRect">
            <a:avLst>
              <a:gd name="adj" fmla="val 6520"/>
            </a:avLst>
          </a:prstGeom>
          <a:solidFill>
            <a:srgbClr val="17332B"/>
          </a:solidFill>
          <a:ln/>
        </p:spPr>
      </p:sp>
      <p:sp>
        <p:nvSpPr>
          <p:cNvPr id="5" name="Text 3"/>
          <p:cNvSpPr/>
          <p:nvPr/>
        </p:nvSpPr>
        <p:spPr>
          <a:xfrm>
            <a:off x="990534" y="1904752"/>
            <a:ext cx="2228709"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3A06B"/>
                </a:solidFill>
                <a:latin typeface="Source Serif 4" pitchFamily="18" charset="0"/>
                <a:ea typeface="Source Serif 4" pitchFamily="18" charset="-122"/>
                <a:cs typeface="Source Serif 4" pitchFamily="18" charset="-120"/>
              </a:rPr>
              <a:t>140 kB</a:t>
            </a:r>
            <a:endParaRPr lang="en-US" sz="2800" dirty="0"/>
          </a:p>
        </p:txBody>
      </p:sp>
      <p:sp>
        <p:nvSpPr>
          <p:cNvPr id="6" name="Text 4"/>
          <p:cNvSpPr/>
          <p:nvPr/>
        </p:nvSpPr>
        <p:spPr>
          <a:xfrm>
            <a:off x="990534" y="2346685"/>
            <a:ext cx="222870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6CF"/>
                </a:solidFill>
                <a:latin typeface="IBM Plex Sans" pitchFamily="34" charset="0"/>
                <a:ea typeface="IBM Plex Sans" pitchFamily="34" charset="-122"/>
                <a:cs typeface="IBM Plex Sans" pitchFamily="34" charset="-120"/>
              </a:rPr>
              <a:t>compact store, all decision layers</a:t>
            </a:r>
            <a:endParaRPr lang="en-US" sz="1200" dirty="0"/>
          </a:p>
        </p:txBody>
      </p:sp>
      <p:sp>
        <p:nvSpPr>
          <p:cNvPr id="7" name="Shape 5"/>
          <p:cNvSpPr/>
          <p:nvPr/>
        </p:nvSpPr>
        <p:spPr>
          <a:xfrm>
            <a:off x="3487655" y="1755539"/>
            <a:ext cx="2523645" cy="1162364"/>
          </a:xfrm>
          <a:prstGeom prst="roundRect">
            <a:avLst>
              <a:gd name="adj" fmla="val 6282"/>
            </a:avLst>
          </a:prstGeom>
          <a:solidFill>
            <a:srgbClr val="FCFBF7"/>
          </a:solidFill>
          <a:ln w="6350">
            <a:solidFill>
              <a:srgbClr val="DDD8CA"/>
            </a:solidFill>
            <a:prstDash val="solid"/>
          </a:ln>
        </p:spPr>
      </p:sp>
      <p:sp>
        <p:nvSpPr>
          <p:cNvPr id="8" name="Text 6"/>
          <p:cNvSpPr/>
          <p:nvPr/>
        </p:nvSpPr>
        <p:spPr>
          <a:xfrm>
            <a:off x="3667538" y="1910042"/>
            <a:ext cx="2228795"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2652A"/>
                </a:solidFill>
                <a:latin typeface="Source Serif 4" pitchFamily="18" charset="0"/>
                <a:ea typeface="Source Serif 4" pitchFamily="18" charset="-122"/>
                <a:cs typeface="Source Serif 4" pitchFamily="18" charset="-120"/>
              </a:rPr>
              <a:t>43×</a:t>
            </a:r>
            <a:endParaRPr lang="en-US" sz="2800" dirty="0"/>
          </a:p>
        </p:txBody>
      </p:sp>
      <p:sp>
        <p:nvSpPr>
          <p:cNvPr id="9" name="Text 7"/>
          <p:cNvSpPr/>
          <p:nvPr/>
        </p:nvSpPr>
        <p:spPr>
          <a:xfrm>
            <a:off x="3667538" y="2351980"/>
            <a:ext cx="222879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smaller than 6.05 MB of raw layers, compressed</a:t>
            </a:r>
            <a:endParaRPr lang="en-US" sz="1200" dirty="0"/>
          </a:p>
        </p:txBody>
      </p:sp>
      <p:sp>
        <p:nvSpPr>
          <p:cNvPr id="10" name="Shape 8"/>
          <p:cNvSpPr/>
          <p:nvPr/>
        </p:nvSpPr>
        <p:spPr>
          <a:xfrm>
            <a:off x="6170033" y="1755539"/>
            <a:ext cx="2523645" cy="1162364"/>
          </a:xfrm>
          <a:prstGeom prst="roundRect">
            <a:avLst>
              <a:gd name="adj" fmla="val 6282"/>
            </a:avLst>
          </a:prstGeom>
          <a:solidFill>
            <a:srgbClr val="FCFBF7"/>
          </a:solidFill>
          <a:ln w="6350">
            <a:solidFill>
              <a:srgbClr val="DDD8CA"/>
            </a:solidFill>
            <a:prstDash val="solid"/>
          </a:ln>
        </p:spPr>
      </p:sp>
      <p:sp>
        <p:nvSpPr>
          <p:cNvPr id="11" name="Text 9"/>
          <p:cNvSpPr/>
          <p:nvPr/>
        </p:nvSpPr>
        <p:spPr>
          <a:xfrm>
            <a:off x="6349917" y="1910042"/>
            <a:ext cx="2228795"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2652A"/>
                </a:solidFill>
                <a:latin typeface="Source Serif 4" pitchFamily="18" charset="0"/>
                <a:ea typeface="Source Serif 4" pitchFamily="18" charset="-122"/>
                <a:cs typeface="Source Serif 4" pitchFamily="18" charset="-120"/>
              </a:rPr>
              <a:t>≈ 50 B</a:t>
            </a:r>
            <a:endParaRPr lang="en-US" sz="2800" dirty="0"/>
          </a:p>
        </p:txBody>
      </p:sp>
      <p:sp>
        <p:nvSpPr>
          <p:cNvPr id="12" name="Text 10"/>
          <p:cNvSpPr/>
          <p:nvPr/>
        </p:nvSpPr>
        <p:spPr>
          <a:xfrm>
            <a:off x="6349917" y="2351980"/>
            <a:ext cx="222879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per km² of decision layers</a:t>
            </a:r>
            <a:endParaRPr lang="en-US" sz="1200" dirty="0"/>
          </a:p>
        </p:txBody>
      </p:sp>
      <p:sp>
        <p:nvSpPr>
          <p:cNvPr id="13" name="Shape 11"/>
          <p:cNvSpPr/>
          <p:nvPr/>
        </p:nvSpPr>
        <p:spPr>
          <a:xfrm>
            <a:off x="8852412" y="1755539"/>
            <a:ext cx="2523645" cy="1162364"/>
          </a:xfrm>
          <a:prstGeom prst="roundRect">
            <a:avLst>
              <a:gd name="adj" fmla="val 6282"/>
            </a:avLst>
          </a:prstGeom>
          <a:solidFill>
            <a:srgbClr val="FCFBF7"/>
          </a:solidFill>
          <a:ln w="6350">
            <a:solidFill>
              <a:srgbClr val="DDD8CA"/>
            </a:solidFill>
            <a:prstDash val="solid"/>
          </a:ln>
        </p:spPr>
      </p:sp>
      <p:sp>
        <p:nvSpPr>
          <p:cNvPr id="14" name="Text 12"/>
          <p:cNvSpPr/>
          <p:nvPr/>
        </p:nvSpPr>
        <p:spPr>
          <a:xfrm>
            <a:off x="9032296" y="1910042"/>
            <a:ext cx="2228795"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2652A"/>
                </a:solidFill>
                <a:latin typeface="Source Serif 4" pitchFamily="18" charset="0"/>
                <a:ea typeface="Source Serif 4" pitchFamily="18" charset="-122"/>
                <a:cs typeface="Source Serif 4" pitchFamily="18" charset="-120"/>
              </a:rPr>
              <a:t>≈ 148 B</a:t>
            </a:r>
            <a:endParaRPr lang="en-US" sz="2800" dirty="0"/>
          </a:p>
        </p:txBody>
      </p:sp>
      <p:sp>
        <p:nvSpPr>
          <p:cNvPr id="15" name="Text 13"/>
          <p:cNvSpPr/>
          <p:nvPr/>
        </p:nvSpPr>
        <p:spPr>
          <a:xfrm>
            <a:off x="9032296" y="2351980"/>
            <a:ext cx="222879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per plot in the plot index</a:t>
            </a:r>
            <a:endParaRPr lang="en-US" sz="1200" dirty="0"/>
          </a:p>
        </p:txBody>
      </p:sp>
      <p:sp>
        <p:nvSpPr>
          <p:cNvPr id="16" name="Shape 14"/>
          <p:cNvSpPr/>
          <p:nvPr/>
        </p:nvSpPr>
        <p:spPr>
          <a:xfrm>
            <a:off x="812767" y="3129523"/>
            <a:ext cx="10566466" cy="0"/>
          </a:xfrm>
          <a:prstGeom prst="line">
            <a:avLst/>
          </a:prstGeom>
          <a:noFill/>
          <a:ln w="10583">
            <a:solidFill>
              <a:srgbClr val="141413">
                <a:alpha val="22000"/>
              </a:srgbClr>
            </a:solidFill>
            <a:prstDash val="solid"/>
          </a:ln>
        </p:spPr>
      </p:sp>
      <p:sp>
        <p:nvSpPr>
          <p:cNvPr id="17" name="Shape 15"/>
          <p:cNvSpPr/>
          <p:nvPr/>
        </p:nvSpPr>
        <p:spPr>
          <a:xfrm>
            <a:off x="818059" y="3124231"/>
            <a:ext cx="0" cy="2455664"/>
          </a:xfrm>
          <a:prstGeom prst="line">
            <a:avLst/>
          </a:prstGeom>
          <a:noFill/>
          <a:ln w="10583">
            <a:solidFill>
              <a:srgbClr val="141413">
                <a:alpha val="22000"/>
              </a:srgbClr>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937650" y="3211014"/>
          <a:ext cx="10327283" cy="2292780"/>
        </p:xfrm>
        <a:graphic>
          <a:graphicData uri="http://schemas.openxmlformats.org/drawingml/2006/table">
            <a:tbl>
              <a:tblPr/>
              <a:tblGrid>
                <a:gridCol w="2685093"/>
                <a:gridCol w="4544004"/>
                <a:gridCol w="3098185"/>
              </a:tblGrid>
              <a:tr h="330564">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We chose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Why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Trade-off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r>
              <a:tr h="543884">
                <a:tc>
                  <a:txBody>
                    <a:bodyPr/>
                    <a:lstStyle/>
                    <a:p>
                      <a:pPr indent="0" marL="0">
                        <a:lnSpc>
                          <a:spcPts val="1680"/>
                        </a:lnSpc>
                        <a:buNone/>
                      </a:pPr>
                      <a:r>
                        <a:rPr lang="en-US" sz="1200" dirty="0">
                          <a:solidFill>
                            <a:srgbClr val="17332B"/>
                          </a:solidFill>
                          <a:latin typeface="IBM Plex Sans" pitchFamily="34" charset="0"/>
                          <a:ea typeface="IBM Plex Sans" pitchFamily="34" charset="-122"/>
                          <a:cs typeface="IBM Plex Sans" pitchFamily="34" charset="-120"/>
                        </a:rPr>
                        <a:t>16 bits per cell</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Forest bit + 3 source bits + 12-bit date is all the rule reads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New questions mean re-extracting; the manifest says what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564">
                <a:tc>
                  <a:txBody>
                    <a:bodyPr/>
                    <a:lstStyle/>
                    <a:p>
                      <a:pPr indent="0" marL="0">
                        <a:lnSpc>
                          <a:spcPts val="1680"/>
                        </a:lnSpc>
                        <a:buNone/>
                      </a:pPr>
                      <a:r>
                        <a:rPr lang="en-US" sz="1200" dirty="0">
                          <a:solidFill>
                            <a:srgbClr val="17332B"/>
                          </a:solidFill>
                          <a:latin typeface="IBM Plex Sans" pitchFamily="34" charset="0"/>
                          <a:ea typeface="IBM Plex Sans" pitchFamily="34" charset="-122"/>
                          <a:cs typeface="IBM Plex Sans" pitchFamily="34" charset="-120"/>
                        </a:rPr>
                        <a:t>GFC2020 pixel grid, not H3</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Hexes don’t align with pixels; plot membership would change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The store is tied to one baseline grid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543884">
                <a:tc>
                  <a:txBody>
                    <a:bodyPr/>
                    <a:lstStyle/>
                    <a:p>
                      <a:pPr indent="0" marL="0">
                        <a:lnSpc>
                          <a:spcPts val="1680"/>
                        </a:lnSpc>
                        <a:buNone/>
                      </a:pPr>
                      <a:r>
                        <a:rPr lang="en-US" sz="1200" dirty="0">
                          <a:solidFill>
                            <a:srgbClr val="17332B"/>
                          </a:solidFill>
                          <a:latin typeface="IBM Plex Sans" pitchFamily="34" charset="0"/>
                          <a:ea typeface="IBM Plex Sans" pitchFamily="34" charset="-122"/>
                          <a:cs typeface="IBM Plex Sans" pitchFamily="34" charset="-120"/>
                        </a:rPr>
                        <a:t>ZSTD, no predictor</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96 kB vs 111 (predictor), 191 (DEFLATE), 370 kB (LZW), all measured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Slow level-19 write, once per 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3884">
                <a:tc>
                  <a:txBody>
                    <a:bodyPr/>
                    <a:lstStyle/>
                    <a:p>
                      <a:pPr indent="0" marL="0">
                        <a:lnSpc>
                          <a:spcPts val="1680"/>
                        </a:lnSpc>
                        <a:buNone/>
                      </a:pPr>
                      <a:r>
                        <a:rPr lang="en-US" sz="1200" dirty="0">
                          <a:solidFill>
                            <a:srgbClr val="17332B"/>
                          </a:solidFill>
                          <a:latin typeface="IBM Plex Sans" pitchFamily="34" charset="0"/>
                          <a:ea typeface="IBM Plex Sans" pitchFamily="34" charset="-122"/>
                          <a:cs typeface="IBM Plex Sans" pitchFamily="34" charset="-120"/>
                        </a:rPr>
                        <a:t>Event file per release; RLE plot index</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An update is a 22.7 kB file; index 70 kB vs 977 kB per cell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Event log grows: fold into the base quarterly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bl>
          </a:graphicData>
        </a:graphic>
      </p:graphicFrame>
      <p:sp>
        <p:nvSpPr>
          <p:cNvPr id="19" name="Text 16"/>
          <p:cNvSpPr/>
          <p:nvPr/>
        </p:nvSpPr>
        <p:spPr>
          <a:xfrm>
            <a:off x="812767" y="6235731"/>
            <a:ext cx="7902476"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50 × 50 km area (2,756 km²), 500 plots · compared with raw layers as exported and compressed</a:t>
            </a:r>
            <a:endParaRPr lang="en-US" sz="1200" dirty="0"/>
          </a:p>
        </p:txBody>
      </p:sp>
      <p:sp>
        <p:nvSpPr>
          <p:cNvPr id="20" name="Text 17"/>
          <p:cNvSpPr/>
          <p:nvPr/>
        </p:nvSpPr>
        <p:spPr>
          <a:xfrm>
            <a:off x="11236903" y="6235731"/>
            <a:ext cx="14224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QUERY PERFORMANCE · RESULT AND RATIONALE</a:t>
            </a:r>
            <a:endParaRPr lang="en-US" sz="1200" dirty="0"/>
          </a:p>
        </p:txBody>
      </p:sp>
      <p:sp>
        <p:nvSpPr>
          <p:cNvPr id="3" name="Text 1"/>
          <p:cNvSpPr/>
          <p:nvPr>
            <p:ph type="title"/>
          </p:nvPr>
        </p:nvSpPr>
        <p:spPr>
          <a:xfrm>
            <a:off x="812767" y="1102233"/>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Do the geometry once: 32 ms per check</a:t>
            </a:r>
            <a:endParaRPr lang="en-US" sz="3200" dirty="0"/>
          </a:p>
        </p:txBody>
      </p:sp>
      <p:sp>
        <p:nvSpPr>
          <p:cNvPr id="4" name="Shape 2"/>
          <p:cNvSpPr/>
          <p:nvPr/>
        </p:nvSpPr>
        <p:spPr>
          <a:xfrm>
            <a:off x="812767" y="1752364"/>
            <a:ext cx="2519329" cy="1168714"/>
          </a:xfrm>
          <a:prstGeom prst="roundRect">
            <a:avLst>
              <a:gd name="adj" fmla="val 6520"/>
            </a:avLst>
          </a:prstGeom>
          <a:solidFill>
            <a:srgbClr val="17332B"/>
          </a:solidFill>
          <a:ln/>
        </p:spPr>
      </p:sp>
      <p:sp>
        <p:nvSpPr>
          <p:cNvPr id="5" name="Text 3"/>
          <p:cNvSpPr/>
          <p:nvPr/>
        </p:nvSpPr>
        <p:spPr>
          <a:xfrm>
            <a:off x="990534" y="1904752"/>
            <a:ext cx="2228709"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3A06B"/>
                </a:solidFill>
                <a:latin typeface="Source Serif 4" pitchFamily="18" charset="0"/>
                <a:ea typeface="Source Serif 4" pitchFamily="18" charset="-122"/>
                <a:cs typeface="Source Serif 4" pitchFamily="18" charset="-120"/>
              </a:rPr>
              <a:t>32 ms</a:t>
            </a:r>
            <a:endParaRPr lang="en-US" sz="2800" dirty="0"/>
          </a:p>
        </p:txBody>
      </p:sp>
      <p:sp>
        <p:nvSpPr>
          <p:cNvPr id="6" name="Text 4"/>
          <p:cNvSpPr/>
          <p:nvPr/>
        </p:nvSpPr>
        <p:spPr>
          <a:xfrm>
            <a:off x="990534" y="2346685"/>
            <a:ext cx="222870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6CF"/>
                </a:solidFill>
                <a:latin typeface="IBM Plex Sans" pitchFamily="34" charset="0"/>
                <a:ea typeface="IBM Plex Sans" pitchFamily="34" charset="-122"/>
                <a:cs typeface="IBM Plex Sans" pitchFamily="34" charset="-120"/>
              </a:rPr>
              <a:t>one plot, 1 tile, 0.9 kB read (Earth Engine: 0.51 s)</a:t>
            </a:r>
            <a:endParaRPr lang="en-US" sz="1200" dirty="0"/>
          </a:p>
        </p:txBody>
      </p:sp>
      <p:sp>
        <p:nvSpPr>
          <p:cNvPr id="7" name="Shape 5"/>
          <p:cNvSpPr/>
          <p:nvPr/>
        </p:nvSpPr>
        <p:spPr>
          <a:xfrm>
            <a:off x="3487655" y="1755539"/>
            <a:ext cx="2523645" cy="1162364"/>
          </a:xfrm>
          <a:prstGeom prst="roundRect">
            <a:avLst>
              <a:gd name="adj" fmla="val 6282"/>
            </a:avLst>
          </a:prstGeom>
          <a:solidFill>
            <a:srgbClr val="FCFBF7"/>
          </a:solidFill>
          <a:ln w="6350">
            <a:solidFill>
              <a:srgbClr val="DDD8CA"/>
            </a:solidFill>
            <a:prstDash val="solid"/>
          </a:ln>
        </p:spPr>
      </p:sp>
      <p:sp>
        <p:nvSpPr>
          <p:cNvPr id="8" name="Text 6"/>
          <p:cNvSpPr/>
          <p:nvPr/>
        </p:nvSpPr>
        <p:spPr>
          <a:xfrm>
            <a:off x="3667538" y="1910042"/>
            <a:ext cx="2228795"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2652A"/>
                </a:solidFill>
                <a:latin typeface="Source Serif 4" pitchFamily="18" charset="0"/>
                <a:ea typeface="Source Serif 4" pitchFamily="18" charset="-122"/>
                <a:cs typeface="Source Serif 4" pitchFamily="18" charset="-120"/>
              </a:rPr>
              <a:t>0.34 s</a:t>
            </a:r>
            <a:endParaRPr lang="en-US" sz="2800" dirty="0"/>
          </a:p>
        </p:txBody>
      </p:sp>
      <p:sp>
        <p:nvSpPr>
          <p:cNvPr id="9" name="Text 7"/>
          <p:cNvSpPr/>
          <p:nvPr/>
        </p:nvSpPr>
        <p:spPr>
          <a:xfrm>
            <a:off x="3667538" y="2351980"/>
            <a:ext cx="222879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500 plots (Earth Engine batched: 7.9 s)</a:t>
            </a:r>
            <a:endParaRPr lang="en-US" sz="1200" dirty="0"/>
          </a:p>
        </p:txBody>
      </p:sp>
      <p:sp>
        <p:nvSpPr>
          <p:cNvPr id="10" name="Shape 8"/>
          <p:cNvSpPr/>
          <p:nvPr/>
        </p:nvSpPr>
        <p:spPr>
          <a:xfrm>
            <a:off x="6170033" y="1755539"/>
            <a:ext cx="2523645" cy="1162364"/>
          </a:xfrm>
          <a:prstGeom prst="roundRect">
            <a:avLst>
              <a:gd name="adj" fmla="val 6282"/>
            </a:avLst>
          </a:prstGeom>
          <a:solidFill>
            <a:srgbClr val="FCFBF7"/>
          </a:solidFill>
          <a:ln w="6350">
            <a:solidFill>
              <a:srgbClr val="DDD8CA"/>
            </a:solidFill>
            <a:prstDash val="solid"/>
          </a:ln>
        </p:spPr>
      </p:sp>
      <p:sp>
        <p:nvSpPr>
          <p:cNvPr id="11" name="Text 9"/>
          <p:cNvSpPr/>
          <p:nvPr/>
        </p:nvSpPr>
        <p:spPr>
          <a:xfrm>
            <a:off x="6349917" y="1910042"/>
            <a:ext cx="2228795"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F6FA3"/>
                </a:solidFill>
                <a:latin typeface="Source Serif 4" pitchFamily="18" charset="0"/>
                <a:ea typeface="Source Serif 4" pitchFamily="18" charset="-122"/>
                <a:cs typeface="Source Serif 4" pitchFamily="18" charset="-120"/>
              </a:rPr>
              <a:t>Same</a:t>
            </a:r>
            <a:endParaRPr lang="en-US" sz="2800" dirty="0"/>
          </a:p>
        </p:txBody>
      </p:sp>
      <p:sp>
        <p:nvSpPr>
          <p:cNvPr id="12" name="Text 10"/>
          <p:cNvSpPr/>
          <p:nvPr/>
        </p:nvSpPr>
        <p:spPr>
          <a:xfrm>
            <a:off x="6349917" y="2351980"/>
            <a:ext cx="222879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c2 result as Earth Engine on all 500 plots</a:t>
            </a:r>
            <a:endParaRPr lang="en-US" sz="1200" dirty="0"/>
          </a:p>
        </p:txBody>
      </p:sp>
      <p:sp>
        <p:nvSpPr>
          <p:cNvPr id="13" name="Shape 11"/>
          <p:cNvSpPr/>
          <p:nvPr/>
        </p:nvSpPr>
        <p:spPr>
          <a:xfrm>
            <a:off x="8852412" y="1755539"/>
            <a:ext cx="2523645" cy="1162364"/>
          </a:xfrm>
          <a:prstGeom prst="roundRect">
            <a:avLst>
              <a:gd name="adj" fmla="val 6282"/>
            </a:avLst>
          </a:prstGeom>
          <a:solidFill>
            <a:srgbClr val="FCFBF7"/>
          </a:solidFill>
          <a:ln w="6350">
            <a:solidFill>
              <a:srgbClr val="DDD8CA"/>
            </a:solidFill>
            <a:prstDash val="solid"/>
          </a:ln>
        </p:spPr>
      </p:sp>
      <p:sp>
        <p:nvSpPr>
          <p:cNvPr id="14" name="Text 12"/>
          <p:cNvSpPr/>
          <p:nvPr/>
        </p:nvSpPr>
        <p:spPr>
          <a:xfrm>
            <a:off x="9032296" y="1910042"/>
            <a:ext cx="2228795"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5E6B64"/>
                </a:solidFill>
                <a:latin typeface="Source Serif 4" pitchFamily="18" charset="0"/>
                <a:ea typeface="Source Serif 4" pitchFamily="18" charset="-122"/>
                <a:cs typeface="Source Serif 4" pitchFamily="18" charset="-120"/>
              </a:rPr>
              <a:t>3.9 s</a:t>
            </a:r>
            <a:endParaRPr lang="en-US" sz="2800" dirty="0"/>
          </a:p>
        </p:txBody>
      </p:sp>
      <p:sp>
        <p:nvSpPr>
          <p:cNvPr id="15" name="Text 13"/>
          <p:cNvSpPr/>
          <p:nvPr/>
        </p:nvSpPr>
        <p:spPr>
          <a:xfrm>
            <a:off x="9032296" y="2351980"/>
            <a:ext cx="222879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encode step per release: the price</a:t>
            </a:r>
            <a:endParaRPr lang="en-US" sz="1200" dirty="0"/>
          </a:p>
        </p:txBody>
      </p:sp>
      <p:sp>
        <p:nvSpPr>
          <p:cNvPr id="16" name="Shape 14"/>
          <p:cNvSpPr/>
          <p:nvPr/>
        </p:nvSpPr>
        <p:spPr>
          <a:xfrm>
            <a:off x="812767" y="3129523"/>
            <a:ext cx="10566466" cy="0"/>
          </a:xfrm>
          <a:prstGeom prst="line">
            <a:avLst/>
          </a:prstGeom>
          <a:noFill/>
          <a:ln w="10583">
            <a:solidFill>
              <a:srgbClr val="141413">
                <a:alpha val="22000"/>
              </a:srgbClr>
            </a:solidFill>
            <a:prstDash val="solid"/>
          </a:ln>
        </p:spPr>
      </p:sp>
      <p:sp>
        <p:nvSpPr>
          <p:cNvPr id="17" name="Shape 15"/>
          <p:cNvSpPr/>
          <p:nvPr/>
        </p:nvSpPr>
        <p:spPr>
          <a:xfrm>
            <a:off x="818059" y="3124231"/>
            <a:ext cx="0" cy="2029023"/>
          </a:xfrm>
          <a:prstGeom prst="line">
            <a:avLst/>
          </a:prstGeom>
          <a:noFill/>
          <a:ln w="10583">
            <a:solidFill>
              <a:srgbClr val="141413">
                <a:alpha val="22000"/>
              </a:srgbClr>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937650" y="3211014"/>
          <a:ext cx="10327283" cy="1866139"/>
        </p:xfrm>
        <a:graphic>
          <a:graphicData uri="http://schemas.openxmlformats.org/drawingml/2006/table">
            <a:tbl>
              <a:tblPr/>
              <a:tblGrid>
                <a:gridCol w="2685093"/>
                <a:gridCol w="4544004"/>
                <a:gridCol w="3098185"/>
              </a:tblGrid>
              <a:tr h="330564">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We chose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Why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Trade-off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r>
              <a:tr h="330564">
                <a:tc>
                  <a:txBody>
                    <a:bodyPr/>
                    <a:lstStyle/>
                    <a:p>
                      <a:pPr indent="0" marL="0">
                        <a:lnSpc>
                          <a:spcPts val="1680"/>
                        </a:lnSpc>
                        <a:buNone/>
                      </a:pPr>
                      <a:r>
                        <a:rPr lang="en-US" sz="1200" dirty="0">
                          <a:solidFill>
                            <a:srgbClr val="17332B"/>
                          </a:solidFill>
                          <a:latin typeface="IBM Plex Sans" pitchFamily="34" charset="0"/>
                          <a:ea typeface="IBM Plex Sans" pitchFamily="34" charset="-122"/>
                          <a:cs typeface="IBM Plex Sans" pitchFamily="34" charset="-120"/>
                        </a:rPr>
                        <a:t>Plot → cell runs at upload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No geometry at query time; a check is lookups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 148 bytes per plot, built at upload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564">
                <a:tc>
                  <a:txBody>
                    <a:bodyPr/>
                    <a:lstStyle/>
                    <a:p>
                      <a:pPr indent="0" marL="0">
                        <a:lnSpc>
                          <a:spcPts val="1680"/>
                        </a:lnSpc>
                        <a:buNone/>
                      </a:pPr>
                      <a:r>
                        <a:rPr lang="en-US" sz="1200" dirty="0">
                          <a:solidFill>
                            <a:srgbClr val="17332B"/>
                          </a:solidFill>
                          <a:latin typeface="IBM Plex Sans" pitchFamily="34" charset="0"/>
                          <a:ea typeface="IBM Plex Sans" pitchFamily="34" charset="-122"/>
                          <a:cs typeface="IBM Plex Sans" pitchFamily="34" charset="-120"/>
                        </a:rPr>
                        <a:t>Park overlaps at upload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Boundaries rarely change, so overlay leaves the query 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Recompute when WDPA updates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330564">
                <a:tc>
                  <a:txBody>
                    <a:bodyPr/>
                    <a:lstStyle/>
                    <a:p>
                      <a:pPr indent="0" marL="0">
                        <a:lnSpc>
                          <a:spcPts val="1680"/>
                        </a:lnSpc>
                        <a:buNone/>
                      </a:pPr>
                      <a:r>
                        <a:rPr lang="en-US" sz="1200" dirty="0">
                          <a:solidFill>
                            <a:srgbClr val="17332B"/>
                          </a:solidFill>
                          <a:latin typeface="IBM Plex Sans" pitchFamily="34" charset="0"/>
                          <a:ea typeface="IBM Plex Sans" pitchFamily="34" charset="-122"/>
                          <a:cs typeface="IBM Plex Sans" pitchFamily="34" charset="-120"/>
                        </a:rPr>
                        <a:t>512 px tiles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About one tile per plot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256 px saves bytes but adds reads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3884">
                <a:tc>
                  <a:txBody>
                    <a:bodyPr/>
                    <a:lstStyle/>
                    <a:p>
                      <a:pPr indent="0" marL="0">
                        <a:lnSpc>
                          <a:spcPts val="1680"/>
                        </a:lnSpc>
                        <a:buNone/>
                      </a:pPr>
                      <a:r>
                        <a:rPr lang="en-US" sz="1200" dirty="0">
                          <a:solidFill>
                            <a:srgbClr val="17332B"/>
                          </a:solidFill>
                          <a:latin typeface="IBM Plex Sans" pitchFamily="34" charset="0"/>
                          <a:ea typeface="IBM Plex Sans" pitchFamily="34" charset="-122"/>
                          <a:cs typeface="IBM Plex Sans" pitchFamily="34" charset="-120"/>
                        </a:rPr>
                        <a:t>DuckDB, local, serverless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No 20-request cap, no server to run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One machine; start-up is most of the 32 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bl>
          </a:graphicData>
        </a:graphic>
      </p:graphicFrame>
      <p:sp>
        <p:nvSpPr>
          <p:cNvPr id="19" name="Text 16"/>
          <p:cNvSpPr/>
          <p:nvPr/>
        </p:nvSpPr>
        <p:spPr>
          <a:xfrm>
            <a:off x="812767" y="6235731"/>
            <a:ext cx="6798270"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Earth Engine: median of 20 single requests (range 0.40–6.9 s) and one batched run</a:t>
            </a:r>
            <a:endParaRPr lang="en-US" sz="1200" dirty="0"/>
          </a:p>
        </p:txBody>
      </p:sp>
      <p:sp>
        <p:nvSpPr>
          <p:cNvPr id="20" name="Text 17"/>
          <p:cNvSpPr/>
          <p:nvPr/>
        </p:nvSpPr>
        <p:spPr>
          <a:xfrm>
            <a:off x="11145457" y="6235731"/>
            <a:ext cx="233693"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INCREMENTAL UPDATES</a:t>
            </a:r>
            <a:endParaRPr lang="en-US" sz="1200" dirty="0"/>
          </a:p>
        </p:txBody>
      </p:sp>
      <p:sp>
        <p:nvSpPr>
          <p:cNvPr id="3" name="Text 1"/>
          <p:cNvSpPr/>
          <p:nvPr>
            <p:ph type="title"/>
          </p:nvPr>
        </p:nvSpPr>
        <p:spPr>
          <a:xfrm>
            <a:off x="812767" y="1102233"/>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Re-check only what can change</a:t>
            </a:r>
            <a:endParaRPr lang="en-US" sz="3200" dirty="0"/>
          </a:p>
        </p:txBody>
      </p:sp>
      <p:pic>
        <p:nvPicPr>
          <p:cNvPr id="4" name="Image 0" descr="500 plots as squares; 39 highlighted in orange were re-checked after the update, the other 461 untouched">    </p:cNvPr>
          <p:cNvPicPr>
            <a:picLocks noChangeAspect="1"/>
          </p:cNvPicPr>
          <p:nvPr/>
        </p:nvPicPr>
        <p:blipFill>
          <a:blip r:embed="rId1"/>
          <a:srcRect l="0" r="0" t="0" b="0"/>
          <a:stretch/>
        </p:blipFill>
        <p:spPr>
          <a:xfrm>
            <a:off x="812767" y="1803214"/>
            <a:ext cx="3149534" cy="2514534"/>
          </a:xfrm>
          <a:prstGeom prst="rect">
            <a:avLst/>
          </a:prstGeom>
        </p:spPr>
      </p:pic>
      <p:sp>
        <p:nvSpPr>
          <p:cNvPr id="5" name="Shape 2"/>
          <p:cNvSpPr/>
          <p:nvPr/>
        </p:nvSpPr>
        <p:spPr>
          <a:xfrm>
            <a:off x="812767" y="4462444"/>
            <a:ext cx="127000" cy="127000"/>
          </a:xfrm>
          <a:prstGeom prst="rect">
            <a:avLst/>
          </a:prstGeom>
          <a:solidFill>
            <a:srgbClr val="C2652A"/>
          </a:solidFill>
          <a:ln/>
        </p:spPr>
      </p:sp>
      <p:sp>
        <p:nvSpPr>
          <p:cNvPr id="6" name="Text 3"/>
          <p:cNvSpPr/>
          <p:nvPr/>
        </p:nvSpPr>
        <p:spPr>
          <a:xfrm>
            <a:off x="1015917" y="4419284"/>
            <a:ext cx="1213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Re-checked (39)</a:t>
            </a:r>
            <a:endParaRPr lang="en-US" sz="1200" dirty="0"/>
          </a:p>
        </p:txBody>
      </p:sp>
      <p:sp>
        <p:nvSpPr>
          <p:cNvPr id="7" name="Shape 4"/>
          <p:cNvSpPr/>
          <p:nvPr/>
        </p:nvSpPr>
        <p:spPr>
          <a:xfrm>
            <a:off x="2229197" y="4462444"/>
            <a:ext cx="127000" cy="127000"/>
          </a:xfrm>
          <a:prstGeom prst="rect">
            <a:avLst/>
          </a:prstGeom>
          <a:solidFill>
            <a:srgbClr val="CDD3CC"/>
          </a:solidFill>
          <a:ln/>
        </p:spPr>
      </p:sp>
      <p:sp>
        <p:nvSpPr>
          <p:cNvPr id="8" name="Text 5"/>
          <p:cNvSpPr/>
          <p:nvPr/>
        </p:nvSpPr>
        <p:spPr>
          <a:xfrm>
            <a:off x="2432348" y="4419284"/>
            <a:ext cx="13949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Untouched (461)</a:t>
            </a:r>
            <a:endParaRPr lang="en-US" sz="1200" dirty="0"/>
          </a:p>
        </p:txBody>
      </p:sp>
      <p:sp>
        <p:nvSpPr>
          <p:cNvPr id="9" name="Text 6"/>
          <p:cNvSpPr/>
          <p:nvPr/>
        </p:nvSpPr>
        <p:spPr>
          <a:xfrm>
            <a:off x="4470301" y="1803214"/>
            <a:ext cx="7116200" cy="736633"/>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C2652A"/>
                </a:solidFill>
                <a:latin typeface="Source Serif 4" pitchFamily="18" charset="0"/>
                <a:ea typeface="Source Serif 4" pitchFamily="18" charset="-122"/>
                <a:cs typeface="Source Serif 4" pitchFamily="18" charset="-120"/>
              </a:rPr>
              <a:t>39 of 500</a:t>
            </a:r>
            <a:endParaRPr lang="en-US" sz="5600" dirty="0"/>
          </a:p>
        </p:txBody>
      </p:sp>
      <p:sp>
        <p:nvSpPr>
          <p:cNvPr id="10" name="Text 7"/>
          <p:cNvSpPr/>
          <p:nvPr/>
        </p:nvSpPr>
        <p:spPr>
          <a:xfrm>
            <a:off x="4470301" y="2641451"/>
            <a:ext cx="7116200" cy="5231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plots re-checked in 0.11 s after one release: the exact set that can change, since events land only on 2020-forest cells. 12 final statuses change.</a:t>
            </a:r>
            <a:endParaRPr lang="en-US" sz="1400" dirty="0"/>
          </a:p>
        </p:txBody>
      </p:sp>
      <p:sp>
        <p:nvSpPr>
          <p:cNvPr id="11" name="Shape 8"/>
          <p:cNvSpPr/>
          <p:nvPr/>
        </p:nvSpPr>
        <p:spPr>
          <a:xfrm>
            <a:off x="4473476" y="3269369"/>
            <a:ext cx="6902582" cy="999728"/>
          </a:xfrm>
          <a:prstGeom prst="roundRect">
            <a:avLst>
              <a:gd name="adj" fmla="val 7304"/>
            </a:avLst>
          </a:prstGeom>
          <a:solidFill>
            <a:srgbClr val="FCFBF7"/>
          </a:solidFill>
          <a:ln w="6350">
            <a:solidFill>
              <a:srgbClr val="DDD8CA"/>
            </a:solidFill>
            <a:prstDash val="solid"/>
          </a:ln>
        </p:spPr>
      </p:sp>
      <p:sp>
        <p:nvSpPr>
          <p:cNvPr id="12" name="Text 9"/>
          <p:cNvSpPr/>
          <p:nvPr/>
        </p:nvSpPr>
        <p:spPr>
          <a:xfrm>
            <a:off x="4653359" y="3423872"/>
            <a:ext cx="67390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Fits their reanalysis</a:t>
            </a:r>
            <a:endParaRPr lang="en-US" sz="1400" dirty="0"/>
          </a:p>
        </p:txBody>
      </p:sp>
      <p:sp>
        <p:nvSpPr>
          <p:cNvPr id="13" name="Text 10"/>
          <p:cNvSpPr/>
          <p:nvPr/>
        </p:nvSpPr>
        <p:spPr>
          <a:xfrm>
            <a:off x="4653359" y="3687961"/>
            <a:ext cx="67390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Users still choose when to reanalyse; we name exactly which lots a release can affect. Dated events let a lot be checked only against events before its harvest.</a:t>
            </a:r>
            <a:endParaRPr lang="en-US" sz="1200" dirty="0"/>
          </a:p>
        </p:txBody>
      </p:sp>
      <p:sp>
        <p:nvSpPr>
          <p:cNvPr id="14" name="Shape 11"/>
          <p:cNvSpPr/>
          <p:nvPr/>
        </p:nvSpPr>
        <p:spPr>
          <a:xfrm>
            <a:off x="4470301" y="4399273"/>
            <a:ext cx="6908932" cy="995495"/>
          </a:xfrm>
          <a:prstGeom prst="roundRect">
            <a:avLst>
              <a:gd name="adj" fmla="val 7654"/>
            </a:avLst>
          </a:prstGeom>
          <a:solidFill>
            <a:srgbClr val="FCFBF7"/>
          </a:solidFill>
          <a:ln/>
        </p:spPr>
      </p:sp>
      <p:sp>
        <p:nvSpPr>
          <p:cNvPr id="15" name="Shape 12"/>
          <p:cNvSpPr/>
          <p:nvPr/>
        </p:nvSpPr>
        <p:spPr>
          <a:xfrm>
            <a:off x="4470301" y="4399273"/>
            <a:ext cx="6908932" cy="995495"/>
          </a:xfrm>
          <a:custGeom>
            <a:avLst/>
            <a:gdLst/>
            <a:ahLst/>
            <a:cxnLst/>
            <a:rect l="l" t="t" r="r" b="b"/>
            <a:pathLst>
              <a:path w="6908932" h="995495">
                <a:moveTo>
                  <a:pt x="76200" y="995495"/>
                </a:moveTo>
                <a:lnTo>
                  <a:pt x="76200" y="995495"/>
                </a:lnTo>
                <a:arcTo hR="76200" wR="76200" stAng="5400000" swAng="5400000"/>
                <a:lnTo>
                  <a:pt x="0" y="76200"/>
                </a:lnTo>
                <a:arcTo hR="76200" wR="76200" stAng="10800000" swAng="5400000"/>
                <a:lnTo>
                  <a:pt x="76200" y="0"/>
                </a:lnTo>
                <a:arcTo hR="76200" wR="38100" stAng="16200000" swAng="-5400000"/>
                <a:lnTo>
                  <a:pt x="38100" y="919295"/>
                </a:lnTo>
                <a:arcTo hR="76200" wR="38100" stAng="10800000" swAng="-5400000"/>
                <a:close/>
              </a:path>
            </a:pathLst>
          </a:custGeom>
          <a:solidFill>
            <a:srgbClr val="C2652A"/>
          </a:solidFill>
          <a:ln/>
        </p:spPr>
      </p:sp>
      <p:sp>
        <p:nvSpPr>
          <p:cNvPr id="16" name="Text 13"/>
          <p:cNvSpPr/>
          <p:nvPr/>
        </p:nvSpPr>
        <p:spPr>
          <a:xfrm>
            <a:off x="4685109" y="4551660"/>
            <a:ext cx="671184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Trade-off</a:t>
            </a:r>
            <a:endParaRPr lang="en-US" sz="1400" dirty="0"/>
          </a:p>
        </p:txBody>
      </p:sp>
      <p:sp>
        <p:nvSpPr>
          <p:cNvPr id="17" name="Text 14"/>
          <p:cNvSpPr/>
          <p:nvPr/>
        </p:nvSpPr>
        <p:spPr>
          <a:xfrm>
            <a:off x="4685109" y="4815743"/>
            <a:ext cx="671184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Low-confidence RADD alerts can be retracted later: that needs “retract” events (designed, not built). A quarterly fold-in rebuilds the base.</a:t>
            </a:r>
            <a:endParaRPr lang="en-US" sz="1200" dirty="0"/>
          </a:p>
        </p:txBody>
      </p:sp>
      <p:sp>
        <p:nvSpPr>
          <p:cNvPr id="18" name="Text 15"/>
          <p:cNvSpPr/>
          <p:nvPr/>
        </p:nvSpPr>
        <p:spPr>
          <a:xfrm>
            <a:off x="812767" y="6235731"/>
            <a:ext cx="62261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Grid is illustrative: one square per plot · 3,989 events, 22.7 kB in the release</a:t>
            </a:r>
            <a:endParaRPr lang="en-US" sz="1200" dirty="0"/>
          </a:p>
        </p:txBody>
      </p:sp>
      <p:sp>
        <p:nvSpPr>
          <p:cNvPr id="19" name="Text 16"/>
          <p:cNvSpPr/>
          <p:nvPr/>
        </p:nvSpPr>
        <p:spPr>
          <a:xfrm>
            <a:off x="11145457" y="6235731"/>
            <a:ext cx="233693"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332B"/>
        </a:solidFill>
      </p:bgPr>
    </p:bg>
    <p:spTree>
      <p:nvGrpSpPr>
        <p:cNvPr id="1" name=""/>
        <p:cNvGrpSpPr/>
        <p:nvPr/>
      </p:nvGrpSpPr>
      <p:grpSpPr>
        <a:xfrm>
          <a:off x="0" y="0"/>
          <a:ext cx="0" cy="0"/>
          <a:chOff x="0" y="0"/>
          <a:chExt cx="0" cy="0"/>
        </a:xfrm>
      </p:grpSpPr>
      <p:sp>
        <p:nvSpPr>
          <p:cNvPr id="2" name="Text 0"/>
          <p:cNvSpPr/>
          <p:nvPr/>
        </p:nvSpPr>
        <p:spPr>
          <a:xfrm>
            <a:off x="812767" y="2669561"/>
            <a:ext cx="10883460" cy="274274"/>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E3A06B"/>
                </a:solidFill>
                <a:latin typeface="IBM Plex Sans" pitchFamily="34" charset="0"/>
                <a:ea typeface="IBM Plex Sans" pitchFamily="34" charset="-122"/>
                <a:cs typeface="IBM Plex Sans" pitchFamily="34" charset="-120"/>
              </a:rPr>
              <a:t>LIVE PROTOTYPE</a:t>
            </a:r>
            <a:endParaRPr lang="en-US" sz="1400" dirty="0"/>
          </a:p>
        </p:txBody>
      </p:sp>
      <p:sp>
        <p:nvSpPr>
          <p:cNvPr id="3" name="Text 1"/>
          <p:cNvSpPr/>
          <p:nvPr>
            <p:ph type="title"/>
          </p:nvPr>
        </p:nvSpPr>
        <p:spPr>
          <a:xfrm>
            <a:off x="812767" y="3121583"/>
            <a:ext cx="10883460" cy="1092167"/>
          </a:xfrm>
          <a:prstGeom prst="rect">
            <a:avLst/>
          </a:prstGeom>
          <a:noFill/>
          <a:ln/>
        </p:spPr>
        <p:txBody>
          <a:bodyPr wrap="square" lIns="0" tIns="0" rIns="0" bIns="0" rtlCol="0" anchor="t">
            <a:normAutofit/>
          </a:bodyPr>
          <a:lstStyle/>
          <a:p>
            <a:pPr algn="l" indent="0" marL="0">
              <a:lnSpc>
                <a:spcPts val="8400"/>
              </a:lnSpc>
              <a:buNone/>
            </a:pPr>
            <a:r>
              <a:rPr lang="en-US" sz="8000" b="1" i="0" dirty="0">
                <a:solidFill>
                  <a:srgbClr val="F7F5EF"/>
                </a:solidFill>
                <a:latin typeface="Source Serif 4" pitchFamily="18" charset="0"/>
                <a:ea typeface="Source Serif 4" pitchFamily="18" charset="-122"/>
                <a:cs typeface="Source Serif 4" pitchFamily="18" charset="-120"/>
              </a:rPr>
              <a:t>Now for the demo</a:t>
            </a:r>
            <a:endParaRPr lang="en-US" sz="8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RESULT FIDELITY · RESULT AND RATIONALE</a:t>
            </a:r>
            <a:endParaRPr lang="en-US" sz="1200" dirty="0"/>
          </a:p>
        </p:txBody>
      </p:sp>
      <p:sp>
        <p:nvSpPr>
          <p:cNvPr id="3" name="Text 1"/>
          <p:cNvSpPr/>
          <p:nvPr>
            <p:ph type="title"/>
          </p:nvPr>
        </p:nvSpPr>
        <p:spPr>
          <a:xfrm>
            <a:off x="812767" y="1102233"/>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Fix the rules first, then encode without loss</a:t>
            </a:r>
            <a:endParaRPr lang="en-US" sz="3200" dirty="0"/>
          </a:p>
        </p:txBody>
      </p:sp>
      <p:sp>
        <p:nvSpPr>
          <p:cNvPr id="4" name="Shape 2"/>
          <p:cNvSpPr/>
          <p:nvPr/>
        </p:nvSpPr>
        <p:spPr>
          <a:xfrm>
            <a:off x="812767" y="1752364"/>
            <a:ext cx="2519329" cy="1363844"/>
          </a:xfrm>
          <a:prstGeom prst="roundRect">
            <a:avLst>
              <a:gd name="adj" fmla="val 5587"/>
            </a:avLst>
          </a:prstGeom>
          <a:solidFill>
            <a:srgbClr val="17332B"/>
          </a:solidFill>
          <a:ln/>
        </p:spPr>
      </p:sp>
      <p:sp>
        <p:nvSpPr>
          <p:cNvPr id="5" name="Text 3"/>
          <p:cNvSpPr/>
          <p:nvPr/>
        </p:nvSpPr>
        <p:spPr>
          <a:xfrm>
            <a:off x="990534" y="1904752"/>
            <a:ext cx="2228709"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3A06B"/>
                </a:solidFill>
                <a:latin typeface="Source Serif 4" pitchFamily="18" charset="0"/>
                <a:ea typeface="Source Serif 4" pitchFamily="18" charset="-122"/>
                <a:cs typeface="Source Serif 4" pitchFamily="18" charset="-120"/>
              </a:rPr>
              <a:t>100%</a:t>
            </a:r>
            <a:endParaRPr lang="en-US" sz="2800" dirty="0"/>
          </a:p>
        </p:txBody>
      </p:sp>
      <p:sp>
        <p:nvSpPr>
          <p:cNvPr id="6" name="Text 4"/>
          <p:cNvSpPr/>
          <p:nvPr/>
        </p:nvSpPr>
        <p:spPr>
          <a:xfrm>
            <a:off x="990534" y="2346685"/>
            <a:ext cx="2228709"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6CF"/>
                </a:solidFill>
                <a:latin typeface="IBM Plex Sans" pitchFamily="34" charset="0"/>
                <a:ea typeface="IBM Plex Sans" pitchFamily="34" charset="-122"/>
                <a:cs typeface="IBM Plex Sans" pitchFamily="34" charset="-120"/>
              </a:rPr>
              <a:t>decision fidelity: 500 plots, 5 strata, before and after the update</a:t>
            </a:r>
            <a:endParaRPr lang="en-US" sz="1200" dirty="0"/>
          </a:p>
        </p:txBody>
      </p:sp>
      <p:sp>
        <p:nvSpPr>
          <p:cNvPr id="7" name="Shape 5"/>
          <p:cNvSpPr/>
          <p:nvPr/>
        </p:nvSpPr>
        <p:spPr>
          <a:xfrm>
            <a:off x="3487655" y="1755539"/>
            <a:ext cx="2523645" cy="1357494"/>
          </a:xfrm>
          <a:prstGeom prst="roundRect">
            <a:avLst>
              <a:gd name="adj" fmla="val 5379"/>
            </a:avLst>
          </a:prstGeom>
          <a:solidFill>
            <a:srgbClr val="FCFBF7"/>
          </a:solidFill>
          <a:ln w="6350">
            <a:solidFill>
              <a:srgbClr val="DDD8CA"/>
            </a:solidFill>
            <a:prstDash val="solid"/>
          </a:ln>
        </p:spPr>
      </p:sp>
      <p:sp>
        <p:nvSpPr>
          <p:cNvPr id="8" name="Text 6"/>
          <p:cNvSpPr/>
          <p:nvPr/>
        </p:nvSpPr>
        <p:spPr>
          <a:xfrm>
            <a:off x="3667538" y="1910042"/>
            <a:ext cx="2228795"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2652A"/>
                </a:solidFill>
                <a:latin typeface="Source Serif 4" pitchFamily="18" charset="0"/>
                <a:ea typeface="Source Serif 4" pitchFamily="18" charset="-122"/>
                <a:cs typeface="Source Serif 4" pitchFamily="18" charset="-120"/>
              </a:rPr>
              <a:t>100%</a:t>
            </a:r>
            <a:endParaRPr lang="en-US" sz="2800" dirty="0"/>
          </a:p>
        </p:txBody>
      </p:sp>
      <p:sp>
        <p:nvSpPr>
          <p:cNvPr id="9" name="Text 7"/>
          <p:cNvSpPr/>
          <p:nvPr/>
        </p:nvSpPr>
        <p:spPr>
          <a:xfrm>
            <a:off x="3667538" y="2351980"/>
            <a:ext cx="222879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pixel fidelity on 32.4 M cells</a:t>
            </a:r>
            <a:endParaRPr lang="en-US" sz="1200" dirty="0"/>
          </a:p>
        </p:txBody>
      </p:sp>
      <p:sp>
        <p:nvSpPr>
          <p:cNvPr id="10" name="Shape 8"/>
          <p:cNvSpPr/>
          <p:nvPr/>
        </p:nvSpPr>
        <p:spPr>
          <a:xfrm>
            <a:off x="6170033" y="1755539"/>
            <a:ext cx="2523645" cy="1357494"/>
          </a:xfrm>
          <a:prstGeom prst="roundRect">
            <a:avLst>
              <a:gd name="adj" fmla="val 5379"/>
            </a:avLst>
          </a:prstGeom>
          <a:solidFill>
            <a:srgbClr val="FCFBF7"/>
          </a:solidFill>
          <a:ln w="6350">
            <a:solidFill>
              <a:srgbClr val="DDD8CA"/>
            </a:solidFill>
            <a:prstDash val="solid"/>
          </a:ln>
        </p:spPr>
      </p:sp>
      <p:sp>
        <p:nvSpPr>
          <p:cNvPr id="11" name="Text 9"/>
          <p:cNvSpPr/>
          <p:nvPr/>
        </p:nvSpPr>
        <p:spPr>
          <a:xfrm>
            <a:off x="6349917" y="1910042"/>
            <a:ext cx="2228795"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C2652A"/>
                </a:solidFill>
                <a:latin typeface="Source Serif 4" pitchFamily="18" charset="0"/>
                <a:ea typeface="Source Serif 4" pitchFamily="18" charset="-122"/>
                <a:cs typeface="Source Serif 4" pitchFamily="18" charset="-120"/>
              </a:rPr>
              <a:t>0 ha</a:t>
            </a:r>
            <a:endParaRPr lang="en-US" sz="2800" dirty="0"/>
          </a:p>
        </p:txBody>
      </p:sp>
      <p:sp>
        <p:nvSpPr>
          <p:cNvPr id="12" name="Text 10"/>
          <p:cNvSpPr/>
          <p:nvPr/>
        </p:nvSpPr>
        <p:spPr>
          <a:xfrm>
            <a:off x="6349917" y="2351980"/>
            <a:ext cx="222879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area difference; every output field identical</a:t>
            </a:r>
            <a:endParaRPr lang="en-US" sz="1200" dirty="0"/>
          </a:p>
        </p:txBody>
      </p:sp>
      <p:sp>
        <p:nvSpPr>
          <p:cNvPr id="13" name="Shape 11"/>
          <p:cNvSpPr/>
          <p:nvPr/>
        </p:nvSpPr>
        <p:spPr>
          <a:xfrm>
            <a:off x="8852412" y="1755539"/>
            <a:ext cx="2523645" cy="1357494"/>
          </a:xfrm>
          <a:prstGeom prst="roundRect">
            <a:avLst>
              <a:gd name="adj" fmla="val 5379"/>
            </a:avLst>
          </a:prstGeom>
          <a:solidFill>
            <a:srgbClr val="FCFBF7"/>
          </a:solidFill>
          <a:ln w="6350">
            <a:solidFill>
              <a:srgbClr val="DDD8CA"/>
            </a:solidFill>
            <a:prstDash val="solid"/>
          </a:ln>
        </p:spPr>
      </p:sp>
      <p:sp>
        <p:nvSpPr>
          <p:cNvPr id="14" name="Text 12"/>
          <p:cNvSpPr/>
          <p:nvPr/>
        </p:nvSpPr>
        <p:spPr>
          <a:xfrm>
            <a:off x="9032296" y="1910042"/>
            <a:ext cx="2228795" cy="41657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F6FA3"/>
                </a:solidFill>
                <a:latin typeface="Source Serif 4" pitchFamily="18" charset="0"/>
                <a:ea typeface="Source Serif 4" pitchFamily="18" charset="-122"/>
                <a:cs typeface="Source Serif 4" pitchFamily="18" charset="-120"/>
              </a:rPr>
              <a:t>248</a:t>
            </a:r>
            <a:endParaRPr lang="en-US" sz="2800" dirty="0"/>
          </a:p>
        </p:txBody>
      </p:sp>
      <p:sp>
        <p:nvSpPr>
          <p:cNvPr id="15" name="Text 13"/>
          <p:cNvSpPr/>
          <p:nvPr/>
        </p:nvSpPr>
        <p:spPr>
          <a:xfrm>
            <a:off x="9032296" y="2351980"/>
            <a:ext cx="222879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Compliant in all 12 threshold settings</a:t>
            </a:r>
            <a:endParaRPr lang="en-US" sz="1200" dirty="0"/>
          </a:p>
        </p:txBody>
      </p:sp>
      <p:sp>
        <p:nvSpPr>
          <p:cNvPr id="16" name="Shape 14"/>
          <p:cNvSpPr/>
          <p:nvPr/>
        </p:nvSpPr>
        <p:spPr>
          <a:xfrm>
            <a:off x="812767" y="3324655"/>
            <a:ext cx="10566466" cy="0"/>
          </a:xfrm>
          <a:prstGeom prst="line">
            <a:avLst/>
          </a:prstGeom>
          <a:noFill/>
          <a:ln w="10583">
            <a:solidFill>
              <a:srgbClr val="141413">
                <a:alpha val="22000"/>
              </a:srgbClr>
            </a:solidFill>
            <a:prstDash val="solid"/>
          </a:ln>
        </p:spPr>
      </p:sp>
      <p:sp>
        <p:nvSpPr>
          <p:cNvPr id="17" name="Shape 15"/>
          <p:cNvSpPr/>
          <p:nvPr/>
        </p:nvSpPr>
        <p:spPr>
          <a:xfrm>
            <a:off x="818059" y="3319363"/>
            <a:ext cx="0" cy="2242344"/>
          </a:xfrm>
          <a:prstGeom prst="line">
            <a:avLst/>
          </a:prstGeom>
          <a:noFill/>
          <a:ln w="10583">
            <a:solidFill>
              <a:srgbClr val="141413">
                <a:alpha val="22000"/>
              </a:srgbClr>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937650" y="3406147"/>
          <a:ext cx="10327283" cy="2079460"/>
        </p:xfrm>
        <a:graphic>
          <a:graphicData uri="http://schemas.openxmlformats.org/drawingml/2006/table">
            <a:tbl>
              <a:tblPr/>
              <a:tblGrid>
                <a:gridCol w="2685093"/>
                <a:gridCol w="4544004"/>
                <a:gridCol w="3098185"/>
              </a:tblGrid>
              <a:tr h="330564">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We chose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Why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Trade-off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r>
              <a:tr h="543884">
                <a:tc>
                  <a:txBody>
                    <a:bodyPr/>
                    <a:lstStyle/>
                    <a:p>
                      <a:pPr indent="0" marL="0">
                        <a:lnSpc>
                          <a:spcPts val="1680"/>
                        </a:lnSpc>
                        <a:buNone/>
                      </a:pPr>
                      <a:r>
                        <a:rPr lang="en-US" sz="1200" dirty="0">
                          <a:solidFill>
                            <a:srgbClr val="17332B"/>
                          </a:solidFill>
                          <a:latin typeface="IBM Plex Sans" pitchFamily="34" charset="0"/>
                          <a:ea typeface="IBM Plex Sans" pitchFamily="34" charset="-122"/>
                          <a:cs typeface="IBM Plex Sans" pitchFamily="34" charset="-120"/>
                        </a:rPr>
                        <a:t>One written spec, both pipelines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Fidelity only means something against fixed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The shared per-cell rule isn’t tested independently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564">
                <a:tc>
                  <a:txBody>
                    <a:bodyPr/>
                    <a:lstStyle/>
                    <a:p>
                      <a:pPr indent="0" marL="0">
                        <a:lnSpc>
                          <a:spcPts val="1680"/>
                        </a:lnSpc>
                        <a:buNone/>
                      </a:pPr>
                      <a:r>
                        <a:rPr lang="en-US" sz="1200" dirty="0">
                          <a:solidFill>
                            <a:srgbClr val="17332B"/>
                          </a:solidFill>
                          <a:latin typeface="IBM Plex Sans" pitchFamily="34" charset="0"/>
                          <a:ea typeface="IBM Plex Sans" pitchFamily="34" charset="-122"/>
                          <a:cs typeface="IBM Plex Sans" pitchFamily="34" charset="-120"/>
                        </a:rPr>
                        <a:t>Lossless encoding</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Exact values: no quantised dates, no downsampling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Bigger than a lossy store would 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330564">
                <a:tc>
                  <a:txBody>
                    <a:bodyPr/>
                    <a:lstStyle/>
                    <a:p>
                      <a:pPr indent="0" marL="0">
                        <a:lnSpc>
                          <a:spcPts val="1680"/>
                        </a:lnSpc>
                        <a:buNone/>
                      </a:pPr>
                      <a:r>
                        <a:rPr lang="en-US" sz="1200" dirty="0">
                          <a:solidFill>
                            <a:srgbClr val="17332B"/>
                          </a:solidFill>
                          <a:latin typeface="IBM Plex Sans" pitchFamily="34" charset="0"/>
                          <a:ea typeface="IBM Plex Sans" pitchFamily="34" charset="-122"/>
                          <a:cs typeface="IBM Plex Sans" pitchFamily="34" charset="-120"/>
                        </a:rPr>
                        <a:t>Pixel-centre rule; points → circles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Deterministic; EUDR lets plots up to 4 ha be points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Edge pixels count all or nothing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3884">
                <a:tc>
                  <a:txBody>
                    <a:bodyPr/>
                    <a:lstStyle/>
                    <a:p>
                      <a:pPr indent="0" marL="0">
                        <a:lnSpc>
                          <a:spcPts val="1680"/>
                        </a:lnSpc>
                        <a:buNone/>
                      </a:pPr>
                      <a:r>
                        <a:rPr lang="en-US" sz="1200" dirty="0">
                          <a:solidFill>
                            <a:srgbClr val="17332B"/>
                          </a:solidFill>
                          <a:latin typeface="IBM Plex Sans" pitchFamily="34" charset="0"/>
                          <a:ea typeface="IBM Plex Sans" pitchFamily="34" charset="-122"/>
                          <a:cs typeface="IBM Plex Sans" pitchFamily="34" charset="-120"/>
                        </a:rPr>
                        <a:t>Nearest neighbour; Hansen year → 1 Jan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Never invents values; the earliest date is conservative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Some Hansen loss is dated early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bl>
          </a:graphicData>
        </a:graphic>
      </p:graphicFrame>
      <p:sp>
        <p:nvSpPr>
          <p:cNvPr id="19" name="Text 16"/>
          <p:cNvSpPr/>
          <p:nvPr/>
        </p:nvSpPr>
        <p:spPr>
          <a:xfrm>
            <a:off x="812767" y="6235731"/>
            <a:ext cx="7476728"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100% = the store loses nothing vs the raw layers, not that the layers are right on the ground</a:t>
            </a:r>
            <a:endParaRPr lang="en-US" sz="1200" dirty="0"/>
          </a:p>
        </p:txBody>
      </p:sp>
      <p:sp>
        <p:nvSpPr>
          <p:cNvPr id="20" name="Text 17"/>
          <p:cNvSpPr/>
          <p:nvPr/>
        </p:nvSpPr>
        <p:spPr>
          <a:xfrm>
            <a:off x="11145457" y="6235731"/>
            <a:ext cx="233693"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RUNNING COST · RESULT AND RATIONALE</a:t>
            </a:r>
            <a:endParaRPr lang="en-US" sz="1200" dirty="0"/>
          </a:p>
        </p:txBody>
      </p:sp>
      <p:sp>
        <p:nvSpPr>
          <p:cNvPr id="3" name="Text 1"/>
          <p:cNvSpPr/>
          <p:nvPr>
            <p:ph type="title"/>
          </p:nvPr>
        </p:nvSpPr>
        <p:spPr>
          <a:xfrm>
            <a:off x="812767" y="1102233"/>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Reanalysis in minutes, not hours</a:t>
            </a:r>
            <a:endParaRPr lang="en-US" sz="3200" dirty="0"/>
          </a:p>
        </p:txBody>
      </p:sp>
      <p:sp>
        <p:nvSpPr>
          <p:cNvPr id="4" name="Shape 2"/>
          <p:cNvSpPr/>
          <p:nvPr/>
        </p:nvSpPr>
        <p:spPr>
          <a:xfrm>
            <a:off x="812767" y="1757656"/>
            <a:ext cx="10566466" cy="0"/>
          </a:xfrm>
          <a:prstGeom prst="line">
            <a:avLst/>
          </a:prstGeom>
          <a:noFill/>
          <a:ln w="10583">
            <a:solidFill>
              <a:srgbClr val="141413">
                <a:alpha val="22000"/>
              </a:srgbClr>
            </a:solidFill>
            <a:prstDash val="solid"/>
          </a:ln>
        </p:spPr>
      </p:sp>
      <p:sp>
        <p:nvSpPr>
          <p:cNvPr id="5" name="Shape 3"/>
          <p:cNvSpPr/>
          <p:nvPr/>
        </p:nvSpPr>
        <p:spPr>
          <a:xfrm>
            <a:off x="818059" y="1752364"/>
            <a:ext cx="0" cy="1911780"/>
          </a:xfrm>
          <a:prstGeom prst="line">
            <a:avLst/>
          </a:prstGeom>
          <a:noFill/>
          <a:ln w="10583">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7650" y="1839148"/>
          <a:ext cx="10327283" cy="1748896"/>
        </p:xfrm>
        <a:graphic>
          <a:graphicData uri="http://schemas.openxmlformats.org/drawingml/2006/table">
            <a:tbl>
              <a:tblPr/>
              <a:tblGrid>
                <a:gridCol w="2478548"/>
                <a:gridCol w="3717822"/>
                <a:gridCol w="4130913"/>
              </a:tblGrid>
              <a:tr h="330564">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All of Ivory Coast, 1 M plots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Our design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Today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r>
              <a:tr h="330564">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Storage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 0.17 GB, under $0.01/month (approx.)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Full raster copies in GCS + PostGIS vectors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3884">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Reanalysis of 1 M plots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CC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5BCC3"/>
                      </a:solidFill>
                      <a:prstDash val="solid"/>
                      <a:round/>
                      <a:headEnd type="none" w="med" len="med"/>
                      <a:tailEnd type="none" w="med" len="med"/>
                    </a:lnB>
                    <a:solidFill>
                      <a:srgbClr val="E3ECF4"/>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 11 min local compute; ≈ $0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3"/>
                      </a:solidFill>
                      <a:prstDash val="solid"/>
                      <a:round/>
                      <a:headEnd type="none" w="med" len="med"/>
                      <a:tailEnd type="none" w="med" len="med"/>
                    </a:lnL>
                    <a:lnR w="12700" cap="flat" cmpd="sng" algn="ctr">
                      <a:solidFill>
                        <a:srgbClr val="B5BCC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5BCC3"/>
                      </a:solidFill>
                      <a:prstDash val="solid"/>
                      <a:round/>
                      <a:headEnd type="none" w="med" len="med"/>
                      <a:tailEnd type="none" w="med" len="med"/>
                    </a:lnB>
                    <a:solidFill>
                      <a:srgbClr val="E3ECF4"/>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 7 hours (0.5 s per request, 20-request cap); ≈ $19 of EECU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3"/>
                      </a:solidFill>
                      <a:prstDash val="solid"/>
                      <a:round/>
                      <a:headEnd type="none" w="med" len="med"/>
                      <a:tailEnd type="none" w="med" len="med"/>
                    </a:lnL>
                    <a:lnR w="12700" cap="flat" cmpd="sng" algn="ctr">
                      <a:solidFill>
                        <a:srgbClr val="B5BCC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5BCC3"/>
                      </a:solidFill>
                      <a:prstDash val="solid"/>
                      <a:round/>
                      <a:headEnd type="none" w="med" len="med"/>
                      <a:tailEnd type="none" w="med" len="med"/>
                    </a:lnB>
                    <a:solidFill>
                      <a:srgbClr val="E3ECF4"/>
                    </a:solidFill>
                  </a:tcPr>
                </a:tc>
              </a:tr>
              <a:tr h="543884">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Fixed cost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B5BCC3"/>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Object storage + small batch job, under $1/month (approx.)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5BCC3"/>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Enterprise Basic fee $500/month (incl. 33 online + 100 batch EECU-hours)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5BCC3"/>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5942" y="3870474"/>
            <a:ext cx="3414216" cy="1213048"/>
          </a:xfrm>
          <a:prstGeom prst="roundRect">
            <a:avLst>
              <a:gd name="adj" fmla="val 6020"/>
            </a:avLst>
          </a:prstGeom>
          <a:solidFill>
            <a:srgbClr val="FCFBF7"/>
          </a:solidFill>
          <a:ln w="6350">
            <a:solidFill>
              <a:srgbClr val="DDD8CA"/>
            </a:solidFill>
            <a:prstDash val="solid"/>
          </a:ln>
        </p:spPr>
      </p:sp>
      <p:sp>
        <p:nvSpPr>
          <p:cNvPr id="8" name="Text 5"/>
          <p:cNvSpPr/>
          <p:nvPr/>
        </p:nvSpPr>
        <p:spPr>
          <a:xfrm>
            <a:off x="995825" y="4024970"/>
            <a:ext cx="31460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Earth Engine once per release</a:t>
            </a:r>
            <a:endParaRPr lang="en-US" sz="1400" dirty="0"/>
          </a:p>
        </p:txBody>
      </p:sp>
      <p:sp>
        <p:nvSpPr>
          <p:cNvPr id="9" name="Text 6"/>
          <p:cNvSpPr/>
          <p:nvPr/>
        </p:nvSpPr>
        <p:spPr>
          <a:xfrm>
            <a:off x="995825" y="4289059"/>
            <a:ext cx="31460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Per-check compute is cheap either way; the gain is time and no 20-request cap.</a:t>
            </a:r>
            <a:endParaRPr lang="en-US" sz="1200" dirty="0"/>
          </a:p>
        </p:txBody>
      </p:sp>
      <p:sp>
        <p:nvSpPr>
          <p:cNvPr id="10" name="Shape 7"/>
          <p:cNvSpPr/>
          <p:nvPr/>
        </p:nvSpPr>
        <p:spPr>
          <a:xfrm>
            <a:off x="4388892" y="3870474"/>
            <a:ext cx="3414216" cy="1213048"/>
          </a:xfrm>
          <a:prstGeom prst="roundRect">
            <a:avLst>
              <a:gd name="adj" fmla="val 6020"/>
            </a:avLst>
          </a:prstGeom>
          <a:solidFill>
            <a:srgbClr val="FCFBF7"/>
          </a:solidFill>
          <a:ln w="6350">
            <a:solidFill>
              <a:srgbClr val="DDD8CA"/>
            </a:solidFill>
            <a:prstDash val="solid"/>
          </a:ln>
        </p:spPr>
      </p:sp>
      <p:sp>
        <p:nvSpPr>
          <p:cNvPr id="11" name="Text 8"/>
          <p:cNvSpPr/>
          <p:nvPr/>
        </p:nvSpPr>
        <p:spPr>
          <a:xfrm>
            <a:off x="4568775" y="4024970"/>
            <a:ext cx="31460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Files + a small batch job</a:t>
            </a:r>
            <a:endParaRPr lang="en-US" sz="1400" dirty="0"/>
          </a:p>
        </p:txBody>
      </p:sp>
      <p:sp>
        <p:nvSpPr>
          <p:cNvPr id="12" name="Text 9"/>
          <p:cNvSpPr/>
          <p:nvPr/>
        </p:nvSpPr>
        <p:spPr>
          <a:xfrm>
            <a:off x="4568775" y="4289059"/>
            <a:ext cx="31460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Nothing to keep running. Trade-off: a start-up cost on each run.</a:t>
            </a:r>
            <a:endParaRPr lang="en-US" sz="1200" dirty="0"/>
          </a:p>
        </p:txBody>
      </p:sp>
      <p:sp>
        <p:nvSpPr>
          <p:cNvPr id="13" name="Shape 10"/>
          <p:cNvSpPr/>
          <p:nvPr/>
        </p:nvSpPr>
        <p:spPr>
          <a:xfrm>
            <a:off x="7961841" y="3870474"/>
            <a:ext cx="3414216" cy="1213048"/>
          </a:xfrm>
          <a:prstGeom prst="roundRect">
            <a:avLst>
              <a:gd name="adj" fmla="val 6020"/>
            </a:avLst>
          </a:prstGeom>
          <a:solidFill>
            <a:srgbClr val="FCFBF7"/>
          </a:solidFill>
          <a:ln w="6350">
            <a:solidFill>
              <a:srgbClr val="DDD8CA"/>
            </a:solidFill>
            <a:prstDash val="solid"/>
          </a:ln>
        </p:spPr>
      </p:sp>
      <p:sp>
        <p:nvSpPr>
          <p:cNvPr id="14" name="Text 11"/>
          <p:cNvSpPr/>
          <p:nvPr/>
        </p:nvSpPr>
        <p:spPr>
          <a:xfrm>
            <a:off x="8141725" y="4024970"/>
            <a:ext cx="31460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Option: direct downloads</a:t>
            </a:r>
            <a:endParaRPr lang="en-US" sz="1400" dirty="0"/>
          </a:p>
        </p:txBody>
      </p:sp>
      <p:sp>
        <p:nvSpPr>
          <p:cNvPr id="15" name="Text 12"/>
          <p:cNvSpPr/>
          <p:nvPr/>
        </p:nvSpPr>
        <p:spPr>
          <a:xfrm>
            <a:off x="8141725" y="4289059"/>
            <a:ext cx="314608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Hansen and GFC2020 are public files: could free the $500/month plan, if nothing else needs it.</a:t>
            </a:r>
            <a:endParaRPr lang="en-US" sz="1200" dirty="0"/>
          </a:p>
        </p:txBody>
      </p:sp>
      <p:sp>
        <p:nvSpPr>
          <p:cNvPr id="16" name="Text 13"/>
          <p:cNvSpPr/>
          <p:nvPr/>
        </p:nvSpPr>
        <p:spPr>
          <a:xfrm>
            <a:off x="812767" y="6235731"/>
            <a:ext cx="8220670"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Prices approximate; Earth Engine pricing read 14 Oct 2026 · extraction per release not yet measured</a:t>
            </a:r>
            <a:endParaRPr lang="en-US" sz="1200" dirty="0"/>
          </a:p>
        </p:txBody>
      </p:sp>
      <p:sp>
        <p:nvSpPr>
          <p:cNvPr id="17" name="Text 14"/>
          <p:cNvSpPr/>
          <p:nvPr/>
        </p:nvSpPr>
        <p:spPr>
          <a:xfrm>
            <a:off x="11145457" y="6235731"/>
            <a:ext cx="233693"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SYSTEM DESIGN · IN PRODUCTION (PROPOSED)</a:t>
            </a:r>
            <a:endParaRPr lang="en-US" sz="1200" dirty="0"/>
          </a:p>
        </p:txBody>
      </p:sp>
      <p:sp>
        <p:nvSpPr>
          <p:cNvPr id="3" name="Text 1"/>
          <p:cNvSpPr/>
          <p:nvPr>
            <p:ph type="title"/>
          </p:nvPr>
        </p:nvSpPr>
        <p:spPr>
          <a:xfrm>
            <a:off x="812767" y="1102233"/>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It slots into SystemEarth’s stack</a:t>
            </a:r>
            <a:endParaRPr lang="en-US" sz="3200" dirty="0"/>
          </a:p>
        </p:txBody>
      </p:sp>
      <p:sp>
        <p:nvSpPr>
          <p:cNvPr id="4" name="Shape 2"/>
          <p:cNvSpPr/>
          <p:nvPr/>
        </p:nvSpPr>
        <p:spPr>
          <a:xfrm>
            <a:off x="819117" y="1758714"/>
            <a:ext cx="2781300" cy="850834"/>
          </a:xfrm>
          <a:prstGeom prst="roundRect">
            <a:avLst>
              <a:gd name="adj" fmla="val 8210"/>
            </a:avLst>
          </a:prstGeom>
          <a:solidFill>
            <a:srgbClr val="FCFBF7"/>
          </a:solidFill>
          <a:ln w="12700">
            <a:solidFill>
              <a:srgbClr val="2F6FA3"/>
            </a:solidFill>
            <a:prstDash val="solid"/>
          </a:ln>
        </p:spPr>
      </p:sp>
      <p:sp>
        <p:nvSpPr>
          <p:cNvPr id="5" name="Text 3"/>
          <p:cNvSpPr/>
          <p:nvPr/>
        </p:nvSpPr>
        <p:spPr>
          <a:xfrm>
            <a:off x="975734" y="1877219"/>
            <a:ext cx="2542108" cy="219290"/>
          </a:xfrm>
          <a:prstGeom prst="rect">
            <a:avLst/>
          </a:prstGeom>
          <a:noFill/>
          <a:ln/>
        </p:spPr>
        <p:txBody>
          <a:bodyPr wrap="square" lIns="0" tIns="0" rIns="0" bIns="0" rtlCol="0" anchor="t">
            <a:normAutofit/>
          </a:bodyPr>
          <a:lstStyle/>
          <a:p>
            <a:pPr algn="l" indent="0" marL="0">
              <a:lnSpc>
                <a:spcPts val="1575"/>
              </a:lnSpc>
              <a:buNone/>
            </a:pPr>
            <a:r>
              <a:rPr lang="en-US" sz="1125" b="1" spc="50" kern="0" dirty="0">
                <a:solidFill>
                  <a:srgbClr val="2F6FA3"/>
                </a:solidFill>
                <a:latin typeface="IBM Plex Sans" pitchFamily="34" charset="0"/>
                <a:ea typeface="IBM Plex Sans" pitchFamily="34" charset="-122"/>
                <a:cs typeface="IBM Plex Sans" pitchFamily="34" charset="-120"/>
              </a:rPr>
              <a:t>KEPT</a:t>
            </a:r>
            <a:endParaRPr lang="en-US" sz="1125" dirty="0"/>
          </a:p>
        </p:txBody>
      </p:sp>
      <p:sp>
        <p:nvSpPr>
          <p:cNvPr id="6" name="Text 4"/>
          <p:cNvSpPr/>
          <p:nvPr/>
        </p:nvSpPr>
        <p:spPr>
          <a:xfrm>
            <a:off x="975734" y="2071105"/>
            <a:ext cx="2542108" cy="251453"/>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7332B"/>
                </a:solidFill>
                <a:latin typeface="IBM Plex Sans" pitchFamily="34" charset="0"/>
                <a:ea typeface="IBM Plex Sans" pitchFamily="34" charset="-122"/>
                <a:cs typeface="IBM Plex Sans" pitchFamily="34" charset="-120"/>
              </a:rPr>
              <a:t>Earth Engine / downloads</a:t>
            </a:r>
            <a:endParaRPr lang="en-US" sz="1299" dirty="0"/>
          </a:p>
        </p:txBody>
      </p:sp>
      <p:sp>
        <p:nvSpPr>
          <p:cNvPr id="7" name="Text 5"/>
          <p:cNvSpPr/>
          <p:nvPr/>
        </p:nvSpPr>
        <p:spPr>
          <a:xfrm>
            <a:off x="975734" y="2297162"/>
            <a:ext cx="2542108" cy="219290"/>
          </a:xfrm>
          <a:prstGeom prst="rect">
            <a:avLst/>
          </a:prstGeom>
          <a:noFill/>
          <a:ln/>
        </p:spPr>
        <p:txBody>
          <a:bodyPr wrap="square" lIns="0" tIns="0" rIns="0" bIns="0" rtlCol="0" anchor="t">
            <a:normAutofit/>
          </a:bodyPr>
          <a:lstStyle/>
          <a:p>
            <a:pPr algn="l" indent="0" marL="0">
              <a:lnSpc>
                <a:spcPts val="1575"/>
              </a:lnSpc>
              <a:buNone/>
            </a:pPr>
            <a:r>
              <a:rPr lang="en-US" sz="1125" dirty="0">
                <a:solidFill>
                  <a:srgbClr val="44524B"/>
                </a:solidFill>
                <a:latin typeface="IBM Plex Sans" pitchFamily="34" charset="0"/>
                <a:ea typeface="IBM Plex Sans" pitchFamily="34" charset="-122"/>
                <a:cs typeface="IBM Plex Sans" pitchFamily="34" charset="-120"/>
              </a:rPr>
              <a:t>Source layers, once per release</a:t>
            </a:r>
            <a:endParaRPr lang="en-US" sz="1125" dirty="0"/>
          </a:p>
        </p:txBody>
      </p:sp>
      <p:sp>
        <p:nvSpPr>
          <p:cNvPr id="8" name="Shape 6"/>
          <p:cNvSpPr/>
          <p:nvPr/>
        </p:nvSpPr>
        <p:spPr>
          <a:xfrm>
            <a:off x="819117" y="2901714"/>
            <a:ext cx="2781300" cy="850834"/>
          </a:xfrm>
          <a:prstGeom prst="roundRect">
            <a:avLst>
              <a:gd name="adj" fmla="val 8210"/>
            </a:avLst>
          </a:prstGeom>
          <a:solidFill>
            <a:srgbClr val="FCFBF7"/>
          </a:solidFill>
          <a:ln w="12700">
            <a:solidFill>
              <a:srgbClr val="2F6FA3"/>
            </a:solidFill>
            <a:prstDash val="solid"/>
          </a:ln>
        </p:spPr>
      </p:sp>
      <p:sp>
        <p:nvSpPr>
          <p:cNvPr id="9" name="Text 7"/>
          <p:cNvSpPr/>
          <p:nvPr/>
        </p:nvSpPr>
        <p:spPr>
          <a:xfrm>
            <a:off x="975734" y="3020219"/>
            <a:ext cx="2542108" cy="219290"/>
          </a:xfrm>
          <a:prstGeom prst="rect">
            <a:avLst/>
          </a:prstGeom>
          <a:noFill/>
          <a:ln/>
        </p:spPr>
        <p:txBody>
          <a:bodyPr wrap="square" lIns="0" tIns="0" rIns="0" bIns="0" rtlCol="0" anchor="t">
            <a:normAutofit/>
          </a:bodyPr>
          <a:lstStyle/>
          <a:p>
            <a:pPr algn="l" indent="0" marL="0">
              <a:lnSpc>
                <a:spcPts val="1575"/>
              </a:lnSpc>
              <a:buNone/>
            </a:pPr>
            <a:r>
              <a:rPr lang="en-US" sz="1125" b="1" spc="50" kern="0" dirty="0">
                <a:solidFill>
                  <a:srgbClr val="2F6FA3"/>
                </a:solidFill>
                <a:latin typeface="IBM Plex Sans" pitchFamily="34" charset="0"/>
                <a:ea typeface="IBM Plex Sans" pitchFamily="34" charset="-122"/>
                <a:cs typeface="IBM Plex Sans" pitchFamily="34" charset="-120"/>
              </a:rPr>
              <a:t>KEPT</a:t>
            </a:r>
            <a:endParaRPr lang="en-US" sz="1125" dirty="0"/>
          </a:p>
        </p:txBody>
      </p:sp>
      <p:sp>
        <p:nvSpPr>
          <p:cNvPr id="10" name="Text 8"/>
          <p:cNvSpPr/>
          <p:nvPr/>
        </p:nvSpPr>
        <p:spPr>
          <a:xfrm>
            <a:off x="975734" y="3214105"/>
            <a:ext cx="2542108" cy="251453"/>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7332B"/>
                </a:solidFill>
                <a:latin typeface="IBM Plex Sans" pitchFamily="34" charset="0"/>
                <a:ea typeface="IBM Plex Sans" pitchFamily="34" charset="-122"/>
                <a:cs typeface="IBM Plex Sans" pitchFamily="34" charset="-120"/>
              </a:rPr>
              <a:t>PostGIS</a:t>
            </a:r>
            <a:endParaRPr lang="en-US" sz="1299" dirty="0"/>
          </a:p>
        </p:txBody>
      </p:sp>
      <p:sp>
        <p:nvSpPr>
          <p:cNvPr id="11" name="Text 9"/>
          <p:cNvSpPr/>
          <p:nvPr/>
        </p:nvSpPr>
        <p:spPr>
          <a:xfrm>
            <a:off x="975734" y="3440162"/>
            <a:ext cx="2542108" cy="219290"/>
          </a:xfrm>
          <a:prstGeom prst="rect">
            <a:avLst/>
          </a:prstGeom>
          <a:noFill/>
          <a:ln/>
        </p:spPr>
        <p:txBody>
          <a:bodyPr wrap="square" lIns="0" tIns="0" rIns="0" bIns="0" rtlCol="0" anchor="t">
            <a:normAutofit/>
          </a:bodyPr>
          <a:lstStyle/>
          <a:p>
            <a:pPr algn="l" indent="0" marL="0">
              <a:lnSpc>
                <a:spcPts val="1575"/>
              </a:lnSpc>
              <a:buNone/>
            </a:pPr>
            <a:r>
              <a:rPr lang="en-US" sz="1125" dirty="0">
                <a:solidFill>
                  <a:srgbClr val="44524B"/>
                </a:solidFill>
                <a:latin typeface="IBM Plex Sans" pitchFamily="34" charset="0"/>
                <a:ea typeface="IBM Plex Sans" pitchFamily="34" charset="-122"/>
                <a:cs typeface="IBM Plex Sans" pitchFamily="34" charset="-120"/>
              </a:rPr>
              <a:t>Plots and lots</a:t>
            </a:r>
            <a:endParaRPr lang="en-US" sz="1125" dirty="0"/>
          </a:p>
        </p:txBody>
      </p:sp>
      <p:sp>
        <p:nvSpPr>
          <p:cNvPr id="12" name="Shape 10"/>
          <p:cNvSpPr/>
          <p:nvPr/>
        </p:nvSpPr>
        <p:spPr>
          <a:xfrm>
            <a:off x="819117" y="4171714"/>
            <a:ext cx="2781300" cy="850834"/>
          </a:xfrm>
          <a:prstGeom prst="roundRect">
            <a:avLst>
              <a:gd name="adj" fmla="val 8210"/>
            </a:avLst>
          </a:prstGeom>
          <a:solidFill>
            <a:srgbClr val="FCFBF7"/>
          </a:solidFill>
          <a:ln w="12700">
            <a:solidFill>
              <a:srgbClr val="2F6FA3"/>
            </a:solidFill>
            <a:prstDash val="solid"/>
          </a:ln>
        </p:spPr>
      </p:sp>
      <p:sp>
        <p:nvSpPr>
          <p:cNvPr id="13" name="Text 11"/>
          <p:cNvSpPr/>
          <p:nvPr/>
        </p:nvSpPr>
        <p:spPr>
          <a:xfrm>
            <a:off x="975734" y="4290219"/>
            <a:ext cx="2542108" cy="219290"/>
          </a:xfrm>
          <a:prstGeom prst="rect">
            <a:avLst/>
          </a:prstGeom>
          <a:noFill/>
          <a:ln/>
        </p:spPr>
        <p:txBody>
          <a:bodyPr wrap="square" lIns="0" tIns="0" rIns="0" bIns="0" rtlCol="0" anchor="t">
            <a:normAutofit/>
          </a:bodyPr>
          <a:lstStyle/>
          <a:p>
            <a:pPr algn="l" indent="0" marL="0">
              <a:lnSpc>
                <a:spcPts val="1575"/>
              </a:lnSpc>
              <a:buNone/>
            </a:pPr>
            <a:r>
              <a:rPr lang="en-US" sz="1125" b="1" spc="50" kern="0" dirty="0">
                <a:solidFill>
                  <a:srgbClr val="2F6FA3"/>
                </a:solidFill>
                <a:latin typeface="IBM Plex Sans" pitchFamily="34" charset="0"/>
                <a:ea typeface="IBM Plex Sans" pitchFamily="34" charset="-122"/>
                <a:cs typeface="IBM Plex Sans" pitchFamily="34" charset="-120"/>
              </a:rPr>
              <a:t>KEPT</a:t>
            </a:r>
            <a:endParaRPr lang="en-US" sz="1125" dirty="0"/>
          </a:p>
        </p:txBody>
      </p:sp>
      <p:sp>
        <p:nvSpPr>
          <p:cNvPr id="14" name="Text 12"/>
          <p:cNvSpPr/>
          <p:nvPr/>
        </p:nvSpPr>
        <p:spPr>
          <a:xfrm>
            <a:off x="975734" y="4484105"/>
            <a:ext cx="2542108" cy="251453"/>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7332B"/>
                </a:solidFill>
                <a:latin typeface="IBM Plex Sans" pitchFamily="34" charset="0"/>
                <a:ea typeface="IBM Plex Sans" pitchFamily="34" charset="-122"/>
                <a:cs typeface="IBM Plex Sans" pitchFamily="34" charset="-120"/>
              </a:rPr>
              <a:t>Results + audit trail</a:t>
            </a:r>
            <a:endParaRPr lang="en-US" sz="1299" dirty="0"/>
          </a:p>
        </p:txBody>
      </p:sp>
      <p:sp>
        <p:nvSpPr>
          <p:cNvPr id="15" name="Text 13"/>
          <p:cNvSpPr/>
          <p:nvPr/>
        </p:nvSpPr>
        <p:spPr>
          <a:xfrm>
            <a:off x="975734" y="4710162"/>
            <a:ext cx="2542108" cy="219290"/>
          </a:xfrm>
          <a:prstGeom prst="rect">
            <a:avLst/>
          </a:prstGeom>
          <a:noFill/>
          <a:ln/>
        </p:spPr>
        <p:txBody>
          <a:bodyPr wrap="square" lIns="0" tIns="0" rIns="0" bIns="0" rtlCol="0" anchor="t">
            <a:normAutofit/>
          </a:bodyPr>
          <a:lstStyle/>
          <a:p>
            <a:pPr algn="l" indent="0" marL="0">
              <a:lnSpc>
                <a:spcPts val="1575"/>
              </a:lnSpc>
              <a:buNone/>
            </a:pPr>
            <a:r>
              <a:rPr lang="en-US" sz="1125" dirty="0">
                <a:solidFill>
                  <a:srgbClr val="44524B"/>
                </a:solidFill>
                <a:latin typeface="IBM Plex Sans" pitchFamily="34" charset="0"/>
                <a:ea typeface="IBM Plex Sans" pitchFamily="34" charset="-122"/>
                <a:cs typeface="IBM Plex Sans" pitchFamily="34" charset="-120"/>
              </a:rPr>
              <a:t>Verdicts tagged with manifest ID</a:t>
            </a:r>
            <a:endParaRPr lang="en-US" sz="1125" dirty="0"/>
          </a:p>
        </p:txBody>
      </p:sp>
      <p:sp>
        <p:nvSpPr>
          <p:cNvPr id="16" name="Shape 14"/>
          <p:cNvSpPr/>
          <p:nvPr/>
        </p:nvSpPr>
        <p:spPr>
          <a:xfrm>
            <a:off x="4705267" y="1758714"/>
            <a:ext cx="2781300" cy="850834"/>
          </a:xfrm>
          <a:prstGeom prst="roundRect">
            <a:avLst>
              <a:gd name="adj" fmla="val 8210"/>
            </a:avLst>
          </a:prstGeom>
          <a:solidFill>
            <a:srgbClr val="FBEFE6"/>
          </a:solidFill>
          <a:ln w="12700">
            <a:solidFill>
              <a:srgbClr val="C2652A"/>
            </a:solidFill>
            <a:prstDash val="solid"/>
          </a:ln>
        </p:spPr>
      </p:sp>
      <p:sp>
        <p:nvSpPr>
          <p:cNvPr id="17" name="Text 15"/>
          <p:cNvSpPr/>
          <p:nvPr/>
        </p:nvSpPr>
        <p:spPr>
          <a:xfrm>
            <a:off x="4861884" y="1877219"/>
            <a:ext cx="2542108" cy="219290"/>
          </a:xfrm>
          <a:prstGeom prst="rect">
            <a:avLst/>
          </a:prstGeom>
          <a:noFill/>
          <a:ln/>
        </p:spPr>
        <p:txBody>
          <a:bodyPr wrap="square" lIns="0" tIns="0" rIns="0" bIns="0" rtlCol="0" anchor="t">
            <a:normAutofit/>
          </a:bodyPr>
          <a:lstStyle/>
          <a:p>
            <a:pPr algn="l" indent="0" marL="0">
              <a:lnSpc>
                <a:spcPts val="1575"/>
              </a:lnSpc>
              <a:buNone/>
            </a:pPr>
            <a:r>
              <a:rPr lang="en-US" sz="1125" b="1" spc="50" kern="0" dirty="0">
                <a:solidFill>
                  <a:srgbClr val="A4501C"/>
                </a:solidFill>
                <a:latin typeface="IBM Plex Sans" pitchFamily="34" charset="0"/>
                <a:ea typeface="IBM Plex Sans" pitchFamily="34" charset="-122"/>
                <a:cs typeface="IBM Plex Sans" pitchFamily="34" charset="-120"/>
              </a:rPr>
              <a:t>NEW</a:t>
            </a:r>
            <a:endParaRPr lang="en-US" sz="1125" dirty="0"/>
          </a:p>
        </p:txBody>
      </p:sp>
      <p:sp>
        <p:nvSpPr>
          <p:cNvPr id="18" name="Text 16"/>
          <p:cNvSpPr/>
          <p:nvPr/>
        </p:nvSpPr>
        <p:spPr>
          <a:xfrm>
            <a:off x="4861884" y="2071105"/>
            <a:ext cx="2542108" cy="251453"/>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7332B"/>
                </a:solidFill>
                <a:latin typeface="IBM Plex Sans" pitchFamily="34" charset="0"/>
                <a:ea typeface="IBM Plex Sans" pitchFamily="34" charset="-122"/>
                <a:cs typeface="IBM Plex Sans" pitchFamily="34" charset="-120"/>
              </a:rPr>
              <a:t>Release job</a:t>
            </a:r>
            <a:endParaRPr lang="en-US" sz="1299" dirty="0"/>
          </a:p>
        </p:txBody>
      </p:sp>
      <p:sp>
        <p:nvSpPr>
          <p:cNvPr id="19" name="Text 17"/>
          <p:cNvSpPr/>
          <p:nvPr/>
        </p:nvSpPr>
        <p:spPr>
          <a:xfrm>
            <a:off x="4861884" y="2297162"/>
            <a:ext cx="2542108" cy="219290"/>
          </a:xfrm>
          <a:prstGeom prst="rect">
            <a:avLst/>
          </a:prstGeom>
          <a:noFill/>
          <a:ln/>
        </p:spPr>
        <p:txBody>
          <a:bodyPr wrap="square" lIns="0" tIns="0" rIns="0" bIns="0" rtlCol="0" anchor="t">
            <a:normAutofit/>
          </a:bodyPr>
          <a:lstStyle/>
          <a:p>
            <a:pPr algn="l" indent="0" marL="0">
              <a:lnSpc>
                <a:spcPts val="1575"/>
              </a:lnSpc>
              <a:buNone/>
            </a:pPr>
            <a:r>
              <a:rPr lang="en-US" sz="1125" dirty="0">
                <a:solidFill>
                  <a:srgbClr val="44524B"/>
                </a:solidFill>
                <a:latin typeface="IBM Plex Sans" pitchFamily="34" charset="0"/>
                <a:ea typeface="IBM Plex Sans" pitchFamily="34" charset="-122"/>
                <a:cs typeface="IBM Plex Sans" pitchFamily="34" charset="-120"/>
              </a:rPr>
              <a:t>Extract → encode → event file</a:t>
            </a:r>
            <a:endParaRPr lang="en-US" sz="1125" dirty="0"/>
          </a:p>
        </p:txBody>
      </p:sp>
      <p:sp>
        <p:nvSpPr>
          <p:cNvPr id="20" name="Shape 18"/>
          <p:cNvSpPr/>
          <p:nvPr/>
        </p:nvSpPr>
        <p:spPr>
          <a:xfrm>
            <a:off x="4705267" y="2901714"/>
            <a:ext cx="2781300" cy="850834"/>
          </a:xfrm>
          <a:prstGeom prst="roundRect">
            <a:avLst>
              <a:gd name="adj" fmla="val 8210"/>
            </a:avLst>
          </a:prstGeom>
          <a:solidFill>
            <a:srgbClr val="FBEFE6"/>
          </a:solidFill>
          <a:ln w="12700">
            <a:solidFill>
              <a:srgbClr val="C2652A"/>
            </a:solidFill>
            <a:prstDash val="solid"/>
          </a:ln>
        </p:spPr>
      </p:sp>
      <p:sp>
        <p:nvSpPr>
          <p:cNvPr id="21" name="Text 19"/>
          <p:cNvSpPr/>
          <p:nvPr/>
        </p:nvSpPr>
        <p:spPr>
          <a:xfrm>
            <a:off x="4861884" y="3020219"/>
            <a:ext cx="2542108" cy="219290"/>
          </a:xfrm>
          <a:prstGeom prst="rect">
            <a:avLst/>
          </a:prstGeom>
          <a:noFill/>
          <a:ln/>
        </p:spPr>
        <p:txBody>
          <a:bodyPr wrap="square" lIns="0" tIns="0" rIns="0" bIns="0" rtlCol="0" anchor="t">
            <a:normAutofit/>
          </a:bodyPr>
          <a:lstStyle/>
          <a:p>
            <a:pPr algn="l" indent="0" marL="0">
              <a:lnSpc>
                <a:spcPts val="1575"/>
              </a:lnSpc>
              <a:buNone/>
            </a:pPr>
            <a:r>
              <a:rPr lang="en-US" sz="1125" b="1" spc="50" kern="0" dirty="0">
                <a:solidFill>
                  <a:srgbClr val="A4501C"/>
                </a:solidFill>
                <a:latin typeface="IBM Plex Sans" pitchFamily="34" charset="0"/>
                <a:ea typeface="IBM Plex Sans" pitchFamily="34" charset="-122"/>
                <a:cs typeface="IBM Plex Sans" pitchFamily="34" charset="-120"/>
              </a:rPr>
              <a:t>NEW</a:t>
            </a:r>
            <a:endParaRPr lang="en-US" sz="1125" dirty="0"/>
          </a:p>
        </p:txBody>
      </p:sp>
      <p:sp>
        <p:nvSpPr>
          <p:cNvPr id="22" name="Text 20"/>
          <p:cNvSpPr/>
          <p:nvPr/>
        </p:nvSpPr>
        <p:spPr>
          <a:xfrm>
            <a:off x="4861884" y="3214105"/>
            <a:ext cx="2542108" cy="251453"/>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7332B"/>
                </a:solidFill>
                <a:latin typeface="IBM Plex Sans" pitchFamily="34" charset="0"/>
                <a:ea typeface="IBM Plex Sans" pitchFamily="34" charset="-122"/>
                <a:cs typeface="IBM Plex Sans" pitchFamily="34" charset="-120"/>
              </a:rPr>
              <a:t>Indexer</a:t>
            </a:r>
            <a:endParaRPr lang="en-US" sz="1299" dirty="0"/>
          </a:p>
        </p:txBody>
      </p:sp>
      <p:sp>
        <p:nvSpPr>
          <p:cNvPr id="23" name="Text 21"/>
          <p:cNvSpPr/>
          <p:nvPr/>
        </p:nvSpPr>
        <p:spPr>
          <a:xfrm>
            <a:off x="4861884" y="3440162"/>
            <a:ext cx="2542108" cy="219290"/>
          </a:xfrm>
          <a:prstGeom prst="rect">
            <a:avLst/>
          </a:prstGeom>
          <a:noFill/>
          <a:ln/>
        </p:spPr>
        <p:txBody>
          <a:bodyPr wrap="square" lIns="0" tIns="0" rIns="0" bIns="0" rtlCol="0" anchor="t">
            <a:normAutofit/>
          </a:bodyPr>
          <a:lstStyle/>
          <a:p>
            <a:pPr algn="l" indent="0" marL="0">
              <a:lnSpc>
                <a:spcPts val="1575"/>
              </a:lnSpc>
              <a:buNone/>
            </a:pPr>
            <a:r>
              <a:rPr lang="en-US" sz="1125" dirty="0">
                <a:solidFill>
                  <a:srgbClr val="44524B"/>
                </a:solidFill>
                <a:latin typeface="IBM Plex Sans" pitchFamily="34" charset="0"/>
                <a:ea typeface="IBM Plex Sans" pitchFamily="34" charset="-122"/>
                <a:cs typeface="IBM Plex Sans" pitchFamily="34" charset="-120"/>
              </a:rPr>
              <a:t>On upload: cell runs + park overlaps</a:t>
            </a:r>
            <a:endParaRPr lang="en-US" sz="1125" dirty="0"/>
          </a:p>
        </p:txBody>
      </p:sp>
      <p:sp>
        <p:nvSpPr>
          <p:cNvPr id="24" name="Shape 22"/>
          <p:cNvSpPr/>
          <p:nvPr/>
        </p:nvSpPr>
        <p:spPr>
          <a:xfrm>
            <a:off x="4705267" y="4171714"/>
            <a:ext cx="2781300" cy="850834"/>
          </a:xfrm>
          <a:prstGeom prst="roundRect">
            <a:avLst>
              <a:gd name="adj" fmla="val 8210"/>
            </a:avLst>
          </a:prstGeom>
          <a:solidFill>
            <a:srgbClr val="FBEFE6"/>
          </a:solidFill>
          <a:ln w="12700">
            <a:solidFill>
              <a:srgbClr val="C2652A"/>
            </a:solidFill>
            <a:prstDash val="solid"/>
          </a:ln>
        </p:spPr>
      </p:sp>
      <p:sp>
        <p:nvSpPr>
          <p:cNvPr id="25" name="Text 23"/>
          <p:cNvSpPr/>
          <p:nvPr/>
        </p:nvSpPr>
        <p:spPr>
          <a:xfrm>
            <a:off x="4861884" y="4290219"/>
            <a:ext cx="2542108" cy="219290"/>
          </a:xfrm>
          <a:prstGeom prst="rect">
            <a:avLst/>
          </a:prstGeom>
          <a:noFill/>
          <a:ln/>
        </p:spPr>
        <p:txBody>
          <a:bodyPr wrap="square" lIns="0" tIns="0" rIns="0" bIns="0" rtlCol="0" anchor="t">
            <a:normAutofit/>
          </a:bodyPr>
          <a:lstStyle/>
          <a:p>
            <a:pPr algn="l" indent="0" marL="0">
              <a:lnSpc>
                <a:spcPts val="1575"/>
              </a:lnSpc>
              <a:buNone/>
            </a:pPr>
            <a:r>
              <a:rPr lang="en-US" sz="1125" b="1" spc="50" kern="0" dirty="0">
                <a:solidFill>
                  <a:srgbClr val="A4501C"/>
                </a:solidFill>
                <a:latin typeface="IBM Plex Sans" pitchFamily="34" charset="0"/>
                <a:ea typeface="IBM Plex Sans" pitchFamily="34" charset="-122"/>
                <a:cs typeface="IBM Plex Sans" pitchFamily="34" charset="-120"/>
              </a:rPr>
              <a:t>NEW</a:t>
            </a:r>
            <a:endParaRPr lang="en-US" sz="1125" dirty="0"/>
          </a:p>
        </p:txBody>
      </p:sp>
      <p:sp>
        <p:nvSpPr>
          <p:cNvPr id="26" name="Text 24"/>
          <p:cNvSpPr/>
          <p:nvPr/>
        </p:nvSpPr>
        <p:spPr>
          <a:xfrm>
            <a:off x="4861884" y="4484105"/>
            <a:ext cx="2542108" cy="251453"/>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7332B"/>
                </a:solidFill>
                <a:latin typeface="IBM Plex Sans" pitchFamily="34" charset="0"/>
                <a:ea typeface="IBM Plex Sans" pitchFamily="34" charset="-122"/>
                <a:cs typeface="IBM Plex Sans" pitchFamily="34" charset="-120"/>
              </a:rPr>
              <a:t>Check engine</a:t>
            </a:r>
            <a:endParaRPr lang="en-US" sz="1299" dirty="0"/>
          </a:p>
        </p:txBody>
      </p:sp>
      <p:sp>
        <p:nvSpPr>
          <p:cNvPr id="27" name="Text 25"/>
          <p:cNvSpPr/>
          <p:nvPr/>
        </p:nvSpPr>
        <p:spPr>
          <a:xfrm>
            <a:off x="4861884" y="4710162"/>
            <a:ext cx="2542108" cy="219290"/>
          </a:xfrm>
          <a:prstGeom prst="rect">
            <a:avLst/>
          </a:prstGeom>
          <a:noFill/>
          <a:ln/>
        </p:spPr>
        <p:txBody>
          <a:bodyPr wrap="square" lIns="0" tIns="0" rIns="0" bIns="0" rtlCol="0" anchor="t">
            <a:normAutofit/>
          </a:bodyPr>
          <a:lstStyle/>
          <a:p>
            <a:pPr algn="l" indent="0" marL="0">
              <a:lnSpc>
                <a:spcPts val="1575"/>
              </a:lnSpc>
              <a:buNone/>
            </a:pPr>
            <a:r>
              <a:rPr lang="en-US" sz="1125" dirty="0">
                <a:solidFill>
                  <a:srgbClr val="44524B"/>
                </a:solidFill>
                <a:latin typeface="IBM Plex Sans" pitchFamily="34" charset="0"/>
                <a:ea typeface="IBM Plex Sans" pitchFamily="34" charset="-122"/>
                <a:cs typeface="IBM Plex Sans" pitchFamily="34" charset="-120"/>
              </a:rPr>
              <a:t>DuckDB; on demand or scheduled</a:t>
            </a:r>
            <a:endParaRPr lang="en-US" sz="1125" dirty="0"/>
          </a:p>
        </p:txBody>
      </p:sp>
      <p:sp>
        <p:nvSpPr>
          <p:cNvPr id="28" name="Shape 26"/>
          <p:cNvSpPr/>
          <p:nvPr/>
        </p:nvSpPr>
        <p:spPr>
          <a:xfrm>
            <a:off x="8591500" y="1758714"/>
            <a:ext cx="2781300" cy="1993834"/>
          </a:xfrm>
          <a:prstGeom prst="roundRect">
            <a:avLst>
              <a:gd name="adj" fmla="val 3503"/>
            </a:avLst>
          </a:prstGeom>
          <a:solidFill>
            <a:srgbClr val="17332B"/>
          </a:solidFill>
          <a:ln w="12700">
            <a:solidFill>
              <a:srgbClr val="C2652A"/>
            </a:solidFill>
            <a:prstDash val="solid"/>
          </a:ln>
        </p:spPr>
      </p:sp>
      <p:sp>
        <p:nvSpPr>
          <p:cNvPr id="29" name="Text 27"/>
          <p:cNvSpPr/>
          <p:nvPr/>
        </p:nvSpPr>
        <p:spPr>
          <a:xfrm>
            <a:off x="8773500" y="1915331"/>
            <a:ext cx="2489818"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E3A06B"/>
                </a:solidFill>
                <a:latin typeface="IBM Plex Sans" pitchFamily="34" charset="0"/>
                <a:ea typeface="IBM Plex Sans" pitchFamily="34" charset="-122"/>
                <a:cs typeface="IBM Plex Sans" pitchFamily="34" charset="-120"/>
              </a:rPr>
              <a:t>NEW</a:t>
            </a:r>
            <a:endParaRPr lang="en-US" sz="1200" dirty="0"/>
          </a:p>
        </p:txBody>
      </p:sp>
      <p:sp>
        <p:nvSpPr>
          <p:cNvPr id="30" name="Text 28"/>
          <p:cNvSpPr/>
          <p:nvPr/>
        </p:nvSpPr>
        <p:spPr>
          <a:xfrm>
            <a:off x="8773500" y="2204802"/>
            <a:ext cx="2489818"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5EF"/>
                </a:solidFill>
                <a:latin typeface="IBM Plex Sans" pitchFamily="34" charset="0"/>
                <a:ea typeface="IBM Plex Sans" pitchFamily="34" charset="-122"/>
                <a:cs typeface="IBM Plex Sans" pitchFamily="34" charset="-120"/>
              </a:rPr>
              <a:t>Compact store, in GCS</a:t>
            </a:r>
            <a:endParaRPr lang="en-US" sz="1400" dirty="0"/>
          </a:p>
        </p:txBody>
      </p:sp>
      <p:sp>
        <p:nvSpPr>
          <p:cNvPr id="31" name="Text 29"/>
          <p:cNvSpPr/>
          <p:nvPr/>
        </p:nvSpPr>
        <p:spPr>
          <a:xfrm>
            <a:off x="8773500" y="2529830"/>
            <a:ext cx="24898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Base raster · event files · manifest · plot index</a:t>
            </a:r>
            <a:endParaRPr lang="en-US" sz="1200" dirty="0"/>
          </a:p>
        </p:txBody>
      </p:sp>
      <p:sp>
        <p:nvSpPr>
          <p:cNvPr id="32" name="Text 30"/>
          <p:cNvSpPr/>
          <p:nvPr/>
        </p:nvSpPr>
        <p:spPr>
          <a:xfrm>
            <a:off x="8773500" y="3032621"/>
            <a:ext cx="24898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Plain files in object storage, beside their rasters</a:t>
            </a:r>
            <a:endParaRPr lang="en-US" sz="1200" dirty="0"/>
          </a:p>
        </p:txBody>
      </p:sp>
      <p:pic>
        <p:nvPicPr>
          <p:cNvPr id="33" name="Image 0" descr="connector">    </p:cNvPr>
          <p:cNvPicPr>
            <a:picLocks noChangeAspect="1"/>
          </p:cNvPicPr>
          <p:nvPr/>
        </p:nvPicPr>
        <p:blipFill>
          <a:blip r:embed="rId1"/>
          <a:srcRect l="-32" r="-32" t="0" b="0"/>
          <a:stretch/>
        </p:blipFill>
        <p:spPr>
          <a:xfrm>
            <a:off x="3568650" y="2146015"/>
            <a:ext cx="1168383" cy="76150"/>
          </a:xfrm>
          <a:prstGeom prst="rect">
            <a:avLst/>
          </a:prstGeom>
        </p:spPr>
      </p:pic>
      <p:pic>
        <p:nvPicPr>
          <p:cNvPr id="34" name="Image 1" descr="connector">    </p:cNvPr>
          <p:cNvPicPr>
            <a:picLocks noChangeAspect="1"/>
          </p:cNvPicPr>
          <p:nvPr/>
        </p:nvPicPr>
        <p:blipFill>
          <a:blip r:embed="rId2"/>
          <a:srcRect l="-32" r="-32" t="0" b="0"/>
          <a:stretch/>
        </p:blipFill>
        <p:spPr>
          <a:xfrm>
            <a:off x="7454801" y="2146015"/>
            <a:ext cx="1168383" cy="76150"/>
          </a:xfrm>
          <a:prstGeom prst="rect">
            <a:avLst/>
          </a:prstGeom>
        </p:spPr>
      </p:pic>
      <p:pic>
        <p:nvPicPr>
          <p:cNvPr id="35" name="Image 2" descr="connector">    </p:cNvPr>
          <p:cNvPicPr>
            <a:picLocks noChangeAspect="1"/>
          </p:cNvPicPr>
          <p:nvPr/>
        </p:nvPicPr>
        <p:blipFill>
          <a:blip r:embed="rId3"/>
          <a:srcRect l="-32" r="-32" t="0" b="0"/>
          <a:stretch/>
        </p:blipFill>
        <p:spPr>
          <a:xfrm>
            <a:off x="3568650" y="3289015"/>
            <a:ext cx="1168383" cy="76150"/>
          </a:xfrm>
          <a:prstGeom prst="rect">
            <a:avLst/>
          </a:prstGeom>
        </p:spPr>
      </p:pic>
      <p:pic>
        <p:nvPicPr>
          <p:cNvPr id="36" name="Image 3" descr="connector">    </p:cNvPr>
          <p:cNvPicPr>
            <a:picLocks noChangeAspect="1"/>
          </p:cNvPicPr>
          <p:nvPr/>
        </p:nvPicPr>
        <p:blipFill>
          <a:blip r:embed="rId4"/>
          <a:srcRect l="-32" r="-32" t="0" b="0"/>
          <a:stretch/>
        </p:blipFill>
        <p:spPr>
          <a:xfrm>
            <a:off x="7454801" y="3289015"/>
            <a:ext cx="1168383" cy="76150"/>
          </a:xfrm>
          <a:prstGeom prst="rect">
            <a:avLst/>
          </a:prstGeom>
        </p:spPr>
      </p:pic>
      <p:pic>
        <p:nvPicPr>
          <p:cNvPr id="37" name="Image 4" descr="connector">    </p:cNvPr>
          <p:cNvPicPr>
            <a:picLocks noChangeAspect="1"/>
          </p:cNvPicPr>
          <p:nvPr/>
        </p:nvPicPr>
        <p:blipFill>
          <a:blip r:embed="rId5"/>
          <a:srcRect l="-1" r="-1" t="0" b="0"/>
          <a:stretch/>
        </p:blipFill>
        <p:spPr>
          <a:xfrm>
            <a:off x="7454801" y="3720864"/>
            <a:ext cx="2565383" cy="914383"/>
          </a:xfrm>
          <a:prstGeom prst="rect">
            <a:avLst/>
          </a:prstGeom>
        </p:spPr>
      </p:pic>
      <p:pic>
        <p:nvPicPr>
          <p:cNvPr id="38" name="Image 5" descr="connector">    </p:cNvPr>
          <p:cNvPicPr>
            <a:picLocks noChangeAspect="1"/>
          </p:cNvPicPr>
          <p:nvPr/>
        </p:nvPicPr>
        <p:blipFill>
          <a:blip r:embed="rId6"/>
          <a:srcRect l="-32" r="-32" t="0" b="0"/>
          <a:stretch/>
        </p:blipFill>
        <p:spPr>
          <a:xfrm>
            <a:off x="3568650" y="4559015"/>
            <a:ext cx="1168383" cy="76150"/>
          </a:xfrm>
          <a:prstGeom prst="rect">
            <a:avLst/>
          </a:prstGeom>
        </p:spPr>
      </p:pic>
      <p:sp>
        <p:nvSpPr>
          <p:cNvPr id="39" name="Text 31"/>
          <p:cNvSpPr/>
          <p:nvPr/>
        </p:nvSpPr>
        <p:spPr>
          <a:xfrm>
            <a:off x="812767" y="523205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National scale, estimated: layers ≈ 16 MB · plot index ≈ 148 MB for 1 M plots · full re-check ≈ 11 CPU-minutes · GeoServer maps unchanged</a:t>
            </a:r>
            <a:endParaRPr lang="en-US" sz="1200" dirty="0"/>
          </a:p>
        </p:txBody>
      </p:sp>
      <p:sp>
        <p:nvSpPr>
          <p:cNvPr id="40" name="Text 32"/>
          <p:cNvSpPr/>
          <p:nvPr/>
        </p:nvSpPr>
        <p:spPr>
          <a:xfrm>
            <a:off x="812767" y="6235731"/>
            <a:ext cx="5225851"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Proposed deployment · stack per SystemEarth PM, 14 Oct 2026</a:t>
            </a:r>
            <a:endParaRPr lang="en-US" sz="1200" dirty="0"/>
          </a:p>
        </p:txBody>
      </p:sp>
      <p:sp>
        <p:nvSpPr>
          <p:cNvPr id="41" name="Text 33"/>
          <p:cNvSpPr/>
          <p:nvPr/>
        </p:nvSpPr>
        <p:spPr>
          <a:xfrm>
            <a:off x="11145457" y="6235731"/>
            <a:ext cx="233693"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TRADE-OFFS AND NEXT STEPS</a:t>
            </a:r>
            <a:endParaRPr lang="en-US" sz="1200" dirty="0"/>
          </a:p>
        </p:txBody>
      </p:sp>
      <p:sp>
        <p:nvSpPr>
          <p:cNvPr id="3" name="Text 1"/>
          <p:cNvSpPr/>
          <p:nvPr>
            <p:ph type="title"/>
          </p:nvPr>
        </p:nvSpPr>
        <p:spPr>
          <a:xfrm>
            <a:off x="812767" y="1102233"/>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What we chose, where it stops, how to adopt it</a:t>
            </a:r>
            <a:endParaRPr lang="en-US" sz="3200" dirty="0"/>
          </a:p>
        </p:txBody>
      </p:sp>
      <p:sp>
        <p:nvSpPr>
          <p:cNvPr id="4" name="Shape 2"/>
          <p:cNvSpPr/>
          <p:nvPr/>
        </p:nvSpPr>
        <p:spPr>
          <a:xfrm>
            <a:off x="812767" y="1822264"/>
            <a:ext cx="3285133" cy="0"/>
          </a:xfrm>
          <a:prstGeom prst="line">
            <a:avLst/>
          </a:prstGeom>
          <a:noFill/>
          <a:ln w="38100">
            <a:solidFill>
              <a:srgbClr val="17332B"/>
            </a:solidFill>
            <a:prstDash val="solid"/>
          </a:ln>
        </p:spPr>
      </p:sp>
      <p:sp>
        <p:nvSpPr>
          <p:cNvPr id="5" name="Text 3"/>
          <p:cNvSpPr/>
          <p:nvPr/>
        </p:nvSpPr>
        <p:spPr>
          <a:xfrm>
            <a:off x="812767" y="1979910"/>
            <a:ext cx="3383687"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332B"/>
                </a:solidFill>
                <a:latin typeface="IBM Plex Sans" pitchFamily="34" charset="0"/>
                <a:ea typeface="IBM Plex Sans" pitchFamily="34" charset="-122"/>
                <a:cs typeface="IBM Plex Sans" pitchFamily="34" charset="-120"/>
              </a:rPr>
              <a:t>What we chose</a:t>
            </a:r>
            <a:endParaRPr lang="en-US" sz="1700" dirty="0"/>
          </a:p>
        </p:txBody>
      </p:sp>
      <p:sp>
        <p:nvSpPr>
          <p:cNvPr id="6" name="Text 4"/>
          <p:cNvSpPr/>
          <p:nvPr/>
        </p:nvSpPr>
        <p:spPr>
          <a:xfrm>
            <a:off x="812767" y="2353221"/>
            <a:ext cx="33836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The satellite’s own pixel grid</a:t>
            </a:r>
            <a:endParaRPr lang="en-US" sz="1300" dirty="0"/>
          </a:p>
        </p:txBody>
      </p:sp>
      <p:sp>
        <p:nvSpPr>
          <p:cNvPr id="7" name="Text 5"/>
          <p:cNvSpPr/>
          <p:nvPr/>
        </p:nvSpPr>
        <p:spPr>
          <a:xfrm>
            <a:off x="812767" y="2580506"/>
            <a:ext cx="33836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so plot edges match exactly</a:t>
            </a:r>
            <a:endParaRPr lang="en-US" sz="1200" dirty="0"/>
          </a:p>
        </p:txBody>
      </p:sp>
      <p:sp>
        <p:nvSpPr>
          <p:cNvPr id="8" name="Text 6"/>
          <p:cNvSpPr/>
          <p:nvPr/>
        </p:nvSpPr>
        <p:spPr>
          <a:xfrm>
            <a:off x="812767" y="2892797"/>
            <a:ext cx="33836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16 bits per cell</a:t>
            </a:r>
            <a:endParaRPr lang="en-US" sz="1300" dirty="0"/>
          </a:p>
        </p:txBody>
      </p:sp>
      <p:sp>
        <p:nvSpPr>
          <p:cNvPr id="9" name="Text 7"/>
          <p:cNvSpPr/>
          <p:nvPr/>
        </p:nvSpPr>
        <p:spPr>
          <a:xfrm>
            <a:off x="812767" y="3120095"/>
            <a:ext cx="33836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one small read per plot</a:t>
            </a:r>
            <a:endParaRPr lang="en-US" sz="1200" dirty="0"/>
          </a:p>
        </p:txBody>
      </p:sp>
      <p:sp>
        <p:nvSpPr>
          <p:cNvPr id="10" name="Text 8"/>
          <p:cNvSpPr/>
          <p:nvPr/>
        </p:nvSpPr>
        <p:spPr>
          <a:xfrm>
            <a:off x="812767" y="3432386"/>
            <a:ext cx="33836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One small file per data release</a:t>
            </a:r>
            <a:endParaRPr lang="en-US" sz="1300" dirty="0"/>
          </a:p>
        </p:txBody>
      </p:sp>
      <p:sp>
        <p:nvSpPr>
          <p:cNvPr id="11" name="Text 9"/>
          <p:cNvSpPr/>
          <p:nvPr/>
        </p:nvSpPr>
        <p:spPr>
          <a:xfrm>
            <a:off x="812767" y="3659684"/>
            <a:ext cx="33836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re-check only what changed</a:t>
            </a:r>
            <a:endParaRPr lang="en-US" sz="1200" dirty="0"/>
          </a:p>
        </p:txBody>
      </p:sp>
      <p:sp>
        <p:nvSpPr>
          <p:cNvPr id="12" name="Text 10"/>
          <p:cNvSpPr/>
          <p:nvPr/>
        </p:nvSpPr>
        <p:spPr>
          <a:xfrm>
            <a:off x="812767" y="3971975"/>
            <a:ext cx="33836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Plots stored as cell runs</a:t>
            </a:r>
            <a:endParaRPr lang="en-US" sz="1300" dirty="0"/>
          </a:p>
        </p:txBody>
      </p:sp>
      <p:sp>
        <p:nvSpPr>
          <p:cNvPr id="13" name="Text 11"/>
          <p:cNvSpPr/>
          <p:nvPr/>
        </p:nvSpPr>
        <p:spPr>
          <a:xfrm>
            <a:off x="812767" y="4199260"/>
            <a:ext cx="33836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no geometry at check time</a:t>
            </a:r>
            <a:endParaRPr lang="en-US" sz="1200" dirty="0"/>
          </a:p>
        </p:txBody>
      </p:sp>
      <p:sp>
        <p:nvSpPr>
          <p:cNvPr id="14" name="Text 12"/>
          <p:cNvSpPr/>
          <p:nvPr/>
        </p:nvSpPr>
        <p:spPr>
          <a:xfrm>
            <a:off x="812767" y="4511551"/>
            <a:ext cx="33836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DuckDB on plain files</a:t>
            </a:r>
            <a:endParaRPr lang="en-US" sz="1300" dirty="0"/>
          </a:p>
        </p:txBody>
      </p:sp>
      <p:sp>
        <p:nvSpPr>
          <p:cNvPr id="15" name="Text 13"/>
          <p:cNvSpPr/>
          <p:nvPr/>
        </p:nvSpPr>
        <p:spPr>
          <a:xfrm>
            <a:off x="812767" y="4738849"/>
            <a:ext cx="33836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no server to run</a:t>
            </a:r>
            <a:endParaRPr lang="en-US" sz="1200" dirty="0"/>
          </a:p>
        </p:txBody>
      </p:sp>
      <p:sp>
        <p:nvSpPr>
          <p:cNvPr id="16" name="Text 14"/>
          <p:cNvSpPr/>
          <p:nvPr/>
        </p:nvSpPr>
        <p:spPr>
          <a:xfrm>
            <a:off x="812767" y="5051140"/>
            <a:ext cx="33836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Thresholds as settings</a:t>
            </a:r>
            <a:endParaRPr lang="en-US" sz="1300" dirty="0"/>
          </a:p>
        </p:txBody>
      </p:sp>
      <p:sp>
        <p:nvSpPr>
          <p:cNvPr id="17" name="Text 15"/>
          <p:cNvSpPr/>
          <p:nvPr/>
        </p:nvSpPr>
        <p:spPr>
          <a:xfrm>
            <a:off x="812767" y="5278438"/>
            <a:ext cx="33836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Compliant plots held across 12 settings</a:t>
            </a:r>
            <a:endParaRPr lang="en-US" sz="1200" dirty="0"/>
          </a:p>
        </p:txBody>
      </p:sp>
      <p:sp>
        <p:nvSpPr>
          <p:cNvPr id="18" name="Shape 16"/>
          <p:cNvSpPr/>
          <p:nvPr/>
        </p:nvSpPr>
        <p:spPr>
          <a:xfrm>
            <a:off x="4453434" y="1822264"/>
            <a:ext cx="3285133" cy="0"/>
          </a:xfrm>
          <a:prstGeom prst="line">
            <a:avLst/>
          </a:prstGeom>
          <a:noFill/>
          <a:ln w="38100">
            <a:solidFill>
              <a:srgbClr val="C2652A"/>
            </a:solidFill>
            <a:prstDash val="solid"/>
          </a:ln>
        </p:spPr>
      </p:sp>
      <p:sp>
        <p:nvSpPr>
          <p:cNvPr id="19" name="Text 17"/>
          <p:cNvSpPr/>
          <p:nvPr/>
        </p:nvSpPr>
        <p:spPr>
          <a:xfrm>
            <a:off x="4453434" y="1979910"/>
            <a:ext cx="3383687"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332B"/>
                </a:solidFill>
                <a:latin typeface="IBM Plex Sans" pitchFamily="34" charset="0"/>
                <a:ea typeface="IBM Plex Sans" pitchFamily="34" charset="-122"/>
                <a:cs typeface="IBM Plex Sans" pitchFamily="34" charset="-120"/>
              </a:rPr>
              <a:t>Where it stops</a:t>
            </a:r>
            <a:endParaRPr lang="en-US" sz="1700" dirty="0"/>
          </a:p>
        </p:txBody>
      </p:sp>
      <p:sp>
        <p:nvSpPr>
          <p:cNvPr id="20" name="Text 18"/>
          <p:cNvSpPr/>
          <p:nvPr/>
        </p:nvSpPr>
        <p:spPr>
          <a:xfrm>
            <a:off x="4453434" y="2353221"/>
            <a:ext cx="33836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Today’s rule only</a:t>
            </a:r>
            <a:endParaRPr lang="en-US" sz="1300" dirty="0"/>
          </a:p>
        </p:txBody>
      </p:sp>
      <p:sp>
        <p:nvSpPr>
          <p:cNvPr id="21" name="Text 19"/>
          <p:cNvSpPr/>
          <p:nvPr/>
        </p:nvSpPr>
        <p:spPr>
          <a:xfrm>
            <a:off x="4453434" y="2580506"/>
            <a:ext cx="33836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new questions mean re-extracting</a:t>
            </a:r>
            <a:endParaRPr lang="en-US" sz="1200" dirty="0"/>
          </a:p>
        </p:txBody>
      </p:sp>
      <p:sp>
        <p:nvSpPr>
          <p:cNvPr id="22" name="Text 20"/>
          <p:cNvSpPr/>
          <p:nvPr/>
        </p:nvSpPr>
        <p:spPr>
          <a:xfrm>
            <a:off x="4453434" y="2892797"/>
            <a:ext cx="33836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Simulated test plots</a:t>
            </a:r>
            <a:endParaRPr lang="en-US" sz="1300" dirty="0"/>
          </a:p>
        </p:txBody>
      </p:sp>
      <p:sp>
        <p:nvSpPr>
          <p:cNvPr id="23" name="Text 21"/>
          <p:cNvSpPr/>
          <p:nvPr/>
        </p:nvSpPr>
        <p:spPr>
          <a:xfrm>
            <a:off x="4453434" y="3120095"/>
            <a:ext cx="33836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no field data yet</a:t>
            </a:r>
            <a:endParaRPr lang="en-US" sz="1200" dirty="0"/>
          </a:p>
        </p:txBody>
      </p:sp>
      <p:sp>
        <p:nvSpPr>
          <p:cNvPr id="24" name="Text 22"/>
          <p:cNvSpPr/>
          <p:nvPr/>
        </p:nvSpPr>
        <p:spPr>
          <a:xfrm>
            <a:off x="4453434" y="3432386"/>
            <a:ext cx="33836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One 50 km area tested</a:t>
            </a:r>
            <a:endParaRPr lang="en-US" sz="1300" dirty="0"/>
          </a:p>
        </p:txBody>
      </p:sp>
      <p:sp>
        <p:nvSpPr>
          <p:cNvPr id="25" name="Text 23"/>
          <p:cNvSpPr/>
          <p:nvPr/>
        </p:nvSpPr>
        <p:spPr>
          <a:xfrm>
            <a:off x="4453434" y="3659684"/>
            <a:ext cx="33836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per-km² figures scale</a:t>
            </a:r>
            <a:endParaRPr lang="en-US" sz="1200" dirty="0"/>
          </a:p>
        </p:txBody>
      </p:sp>
      <p:sp>
        <p:nvSpPr>
          <p:cNvPr id="26" name="Text 24"/>
          <p:cNvSpPr/>
          <p:nvPr/>
        </p:nvSpPr>
        <p:spPr>
          <a:xfrm>
            <a:off x="4453434" y="3971975"/>
            <a:ext cx="33836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Withdrawn alerts</a:t>
            </a:r>
            <a:endParaRPr lang="en-US" sz="1300" dirty="0"/>
          </a:p>
        </p:txBody>
      </p:sp>
      <p:sp>
        <p:nvSpPr>
          <p:cNvPr id="27" name="Text 25"/>
          <p:cNvSpPr/>
          <p:nvPr/>
        </p:nvSpPr>
        <p:spPr>
          <a:xfrm>
            <a:off x="4453434" y="4199260"/>
            <a:ext cx="33836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designed, not built</a:t>
            </a:r>
            <a:endParaRPr lang="en-US" sz="1200" dirty="0"/>
          </a:p>
        </p:txBody>
      </p:sp>
      <p:sp>
        <p:nvSpPr>
          <p:cNvPr id="28" name="Text 26"/>
          <p:cNvSpPr/>
          <p:nvPr/>
        </p:nvSpPr>
        <p:spPr>
          <a:xfrm>
            <a:off x="4453434" y="4511551"/>
            <a:ext cx="33836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Prices are estimates</a:t>
            </a:r>
            <a:endParaRPr lang="en-US" sz="1300" dirty="0"/>
          </a:p>
        </p:txBody>
      </p:sp>
      <p:sp>
        <p:nvSpPr>
          <p:cNvPr id="29" name="Text 27"/>
          <p:cNvSpPr/>
          <p:nvPr/>
        </p:nvSpPr>
        <p:spPr>
          <a:xfrm>
            <a:off x="4453434" y="4738849"/>
            <a:ext cx="33836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the conclusion holds even if 10× off</a:t>
            </a:r>
            <a:endParaRPr lang="en-US" sz="1200" dirty="0"/>
          </a:p>
        </p:txBody>
      </p:sp>
      <p:sp>
        <p:nvSpPr>
          <p:cNvPr id="30" name="Shape 28"/>
          <p:cNvSpPr/>
          <p:nvPr/>
        </p:nvSpPr>
        <p:spPr>
          <a:xfrm>
            <a:off x="8094100" y="1822264"/>
            <a:ext cx="3285133" cy="0"/>
          </a:xfrm>
          <a:prstGeom prst="line">
            <a:avLst/>
          </a:prstGeom>
          <a:noFill/>
          <a:ln w="38100">
            <a:solidFill>
              <a:srgbClr val="2F6FA3"/>
            </a:solidFill>
            <a:prstDash val="solid"/>
          </a:ln>
        </p:spPr>
      </p:sp>
      <p:sp>
        <p:nvSpPr>
          <p:cNvPr id="31" name="Text 29"/>
          <p:cNvSpPr/>
          <p:nvPr/>
        </p:nvSpPr>
        <p:spPr>
          <a:xfrm>
            <a:off x="8094100" y="1979910"/>
            <a:ext cx="3383687"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332B"/>
                </a:solidFill>
                <a:latin typeface="IBM Plex Sans" pitchFamily="34" charset="0"/>
                <a:ea typeface="IBM Plex Sans" pitchFamily="34" charset="-122"/>
                <a:cs typeface="IBM Plex Sans" pitchFamily="34" charset="-120"/>
              </a:rPr>
              <a:t>How to adopt it</a:t>
            </a:r>
            <a:endParaRPr lang="en-US" sz="1700" dirty="0"/>
          </a:p>
        </p:txBody>
      </p:sp>
      <p:sp>
        <p:nvSpPr>
          <p:cNvPr id="32" name="Text 30"/>
          <p:cNvSpPr/>
          <p:nvPr/>
        </p:nvSpPr>
        <p:spPr>
          <a:xfrm>
            <a:off x="8094100" y="2353221"/>
            <a:ext cx="330183"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2F6FA3"/>
                </a:solidFill>
                <a:latin typeface="Source Serif 4" pitchFamily="18" charset="0"/>
                <a:ea typeface="Source Serif 4" pitchFamily="18" charset="-122"/>
                <a:cs typeface="Source Serif 4" pitchFamily="18" charset="-120"/>
              </a:rPr>
              <a:t>1</a:t>
            </a:r>
            <a:endParaRPr lang="en-US" sz="2000" dirty="0"/>
          </a:p>
        </p:txBody>
      </p:sp>
      <p:sp>
        <p:nvSpPr>
          <p:cNvPr id="33" name="Text 31"/>
          <p:cNvSpPr/>
          <p:nvPr/>
        </p:nvSpPr>
        <p:spPr>
          <a:xfrm>
            <a:off x="8449634" y="2353221"/>
            <a:ext cx="30174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Run alongside Earth Engine</a:t>
            </a:r>
            <a:endParaRPr lang="en-US" sz="1300" dirty="0"/>
          </a:p>
        </p:txBody>
      </p:sp>
      <p:sp>
        <p:nvSpPr>
          <p:cNvPr id="34" name="Text 32"/>
          <p:cNvSpPr/>
          <p:nvPr/>
        </p:nvSpPr>
        <p:spPr>
          <a:xfrm>
            <a:off x="8449634" y="2580506"/>
            <a:ext cx="30174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no change for users</a:t>
            </a:r>
            <a:endParaRPr lang="en-US" sz="1200" dirty="0"/>
          </a:p>
        </p:txBody>
      </p:sp>
      <p:sp>
        <p:nvSpPr>
          <p:cNvPr id="35" name="Text 33"/>
          <p:cNvSpPr/>
          <p:nvPr/>
        </p:nvSpPr>
        <p:spPr>
          <a:xfrm>
            <a:off x="8094100" y="2892797"/>
            <a:ext cx="330183"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2F6FA3"/>
                </a:solidFill>
                <a:latin typeface="Source Serif 4" pitchFamily="18" charset="0"/>
                <a:ea typeface="Source Serif 4" pitchFamily="18" charset="-122"/>
                <a:cs typeface="Source Serif 4" pitchFamily="18" charset="-120"/>
              </a:rPr>
              <a:t>2</a:t>
            </a:r>
            <a:endParaRPr lang="en-US" sz="2000" dirty="0"/>
          </a:p>
        </p:txBody>
      </p:sp>
      <p:sp>
        <p:nvSpPr>
          <p:cNvPr id="36" name="Text 34"/>
          <p:cNvSpPr/>
          <p:nvPr/>
        </p:nvSpPr>
        <p:spPr>
          <a:xfrm>
            <a:off x="8449634" y="2892797"/>
            <a:ext cx="30174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Compare verdicts</a:t>
            </a:r>
            <a:endParaRPr lang="en-US" sz="1300" dirty="0"/>
          </a:p>
        </p:txBody>
      </p:sp>
      <p:sp>
        <p:nvSpPr>
          <p:cNvPr id="37" name="Text 35"/>
          <p:cNvSpPr/>
          <p:nvPr/>
        </p:nvSpPr>
        <p:spPr>
          <a:xfrm>
            <a:off x="8449634" y="3120095"/>
            <a:ext cx="30174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plot by plot</a:t>
            </a:r>
            <a:endParaRPr lang="en-US" sz="1200" dirty="0"/>
          </a:p>
        </p:txBody>
      </p:sp>
      <p:sp>
        <p:nvSpPr>
          <p:cNvPr id="38" name="Text 36"/>
          <p:cNvSpPr/>
          <p:nvPr/>
        </p:nvSpPr>
        <p:spPr>
          <a:xfrm>
            <a:off x="8094100" y="3432386"/>
            <a:ext cx="330183"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2F6FA3"/>
                </a:solidFill>
                <a:latin typeface="Source Serif 4" pitchFamily="18" charset="0"/>
                <a:ea typeface="Source Serif 4" pitchFamily="18" charset="-122"/>
                <a:cs typeface="Source Serif 4" pitchFamily="18" charset="-120"/>
              </a:rPr>
              <a:t>3</a:t>
            </a:r>
            <a:endParaRPr lang="en-US" sz="2000" dirty="0"/>
          </a:p>
        </p:txBody>
      </p:sp>
      <p:sp>
        <p:nvSpPr>
          <p:cNvPr id="39" name="Text 37"/>
          <p:cNvSpPr/>
          <p:nvPr/>
        </p:nvSpPr>
        <p:spPr>
          <a:xfrm>
            <a:off x="8449634" y="3432386"/>
            <a:ext cx="30174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Switch re-checks over</a:t>
            </a:r>
            <a:endParaRPr lang="en-US" sz="1300" dirty="0"/>
          </a:p>
        </p:txBody>
      </p:sp>
      <p:sp>
        <p:nvSpPr>
          <p:cNvPr id="40" name="Text 38"/>
          <p:cNvSpPr/>
          <p:nvPr/>
        </p:nvSpPr>
        <p:spPr>
          <a:xfrm>
            <a:off x="8449634" y="3659684"/>
            <a:ext cx="30174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to the compact store</a:t>
            </a:r>
            <a:endParaRPr lang="en-US" sz="1200" dirty="0"/>
          </a:p>
        </p:txBody>
      </p:sp>
      <p:sp>
        <p:nvSpPr>
          <p:cNvPr id="41" name="Text 39"/>
          <p:cNvSpPr/>
          <p:nvPr/>
        </p:nvSpPr>
        <p:spPr>
          <a:xfrm>
            <a:off x="8094100" y="3971975"/>
            <a:ext cx="330183"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2F6FA3"/>
                </a:solidFill>
                <a:latin typeface="Source Serif 4" pitchFamily="18" charset="0"/>
                <a:ea typeface="Source Serif 4" pitchFamily="18" charset="-122"/>
                <a:cs typeface="Source Serif 4" pitchFamily="18" charset="-120"/>
              </a:rPr>
              <a:t>4</a:t>
            </a:r>
            <a:endParaRPr lang="en-US" sz="2000" dirty="0"/>
          </a:p>
        </p:txBody>
      </p:sp>
      <p:sp>
        <p:nvSpPr>
          <p:cNvPr id="42" name="Text 40"/>
          <p:cNvSpPr/>
          <p:nvPr/>
        </p:nvSpPr>
        <p:spPr>
          <a:xfrm>
            <a:off x="8449634" y="3971975"/>
            <a:ext cx="3017487" cy="24004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7332B"/>
                </a:solidFill>
                <a:latin typeface="IBM Plex Sans" pitchFamily="34" charset="0"/>
                <a:ea typeface="IBM Plex Sans" pitchFamily="34" charset="-122"/>
                <a:cs typeface="IBM Plex Sans" pitchFamily="34" charset="-120"/>
              </a:rPr>
              <a:t>Keep Earth Engine</a:t>
            </a:r>
            <a:endParaRPr lang="en-US" sz="1300" dirty="0"/>
          </a:p>
        </p:txBody>
      </p:sp>
      <p:sp>
        <p:nvSpPr>
          <p:cNvPr id="43" name="Text 41"/>
          <p:cNvSpPr/>
          <p:nvPr/>
        </p:nvSpPr>
        <p:spPr>
          <a:xfrm>
            <a:off x="8449634" y="4199260"/>
            <a:ext cx="3017487" cy="22342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B64"/>
                </a:solidFill>
                <a:latin typeface="IBM Plex Sans" pitchFamily="34" charset="0"/>
                <a:ea typeface="IBM Plex Sans" pitchFamily="34" charset="-122"/>
                <a:cs typeface="IBM Plex Sans" pitchFamily="34" charset="-120"/>
              </a:rPr>
              <a:t>for extracting each release</a:t>
            </a:r>
            <a:endParaRPr lang="en-US" sz="1200" dirty="0"/>
          </a:p>
        </p:txBody>
      </p:sp>
      <p:sp>
        <p:nvSpPr>
          <p:cNvPr id="44" name="Text 42"/>
          <p:cNvSpPr/>
          <p:nvPr/>
        </p:nvSpPr>
        <p:spPr>
          <a:xfrm>
            <a:off x="812767" y="6235725"/>
            <a:ext cx="2542083"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Keep the decision, not the data</a:t>
            </a:r>
            <a:endParaRPr lang="en-US" sz="1200" dirty="0"/>
          </a:p>
        </p:txBody>
      </p:sp>
      <p:sp>
        <p:nvSpPr>
          <p:cNvPr id="45" name="Text 43"/>
          <p:cNvSpPr/>
          <p:nvPr/>
        </p:nvSpPr>
        <p:spPr>
          <a:xfrm>
            <a:off x="11145457" y="6235725"/>
            <a:ext cx="233693"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332B"/>
        </a:solidFill>
      </p:bgPr>
    </p:bg>
    <p:spTree>
      <p:nvGrpSpPr>
        <p:cNvPr id="1" name=""/>
        <p:cNvGrpSpPr/>
        <p:nvPr/>
      </p:nvGrpSpPr>
      <p:grpSpPr>
        <a:xfrm>
          <a:off x="0" y="0"/>
          <a:ext cx="0" cy="0"/>
          <a:chOff x="0" y="0"/>
          <a:chExt cx="0" cy="0"/>
        </a:xfrm>
      </p:grpSpPr>
      <p:sp>
        <p:nvSpPr>
          <p:cNvPr id="2" name="Text 0"/>
          <p:cNvSpPr/>
          <p:nvPr>
            <p:ph type="title"/>
          </p:nvPr>
        </p:nvSpPr>
        <p:spPr>
          <a:xfrm>
            <a:off x="812767" y="1767656"/>
            <a:ext cx="10883460" cy="1518973"/>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7F5EF"/>
                </a:solidFill>
                <a:latin typeface="Source Serif 4" pitchFamily="18" charset="0"/>
                <a:ea typeface="Source Serif 4" pitchFamily="18" charset="-122"/>
                <a:cs typeface="Source Serif 4" pitchFamily="18" charset="-120"/>
              </a:rPr>
              <a:t>Keep the decision, not the data.</a:t>
            </a:r>
            <a:endParaRPr lang="en-US" sz="5600" dirty="0"/>
          </a:p>
        </p:txBody>
      </p:sp>
      <p:sp>
        <p:nvSpPr>
          <p:cNvPr id="3" name="Shape 1"/>
          <p:cNvSpPr/>
          <p:nvPr/>
        </p:nvSpPr>
        <p:spPr>
          <a:xfrm>
            <a:off x="812767" y="3572346"/>
            <a:ext cx="2489233" cy="0"/>
          </a:xfrm>
          <a:prstGeom prst="line">
            <a:avLst/>
          </a:prstGeom>
          <a:noFill/>
          <a:ln w="12700">
            <a:solidFill>
              <a:srgbClr val="3F7A5E"/>
            </a:solidFill>
            <a:prstDash val="solid"/>
          </a:ln>
        </p:spPr>
      </p:sp>
      <p:sp>
        <p:nvSpPr>
          <p:cNvPr id="4" name="Text 2"/>
          <p:cNvSpPr/>
          <p:nvPr/>
        </p:nvSpPr>
        <p:spPr>
          <a:xfrm>
            <a:off x="812767" y="3703588"/>
            <a:ext cx="2563910"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E3A06B"/>
                </a:solidFill>
                <a:latin typeface="Source Serif 4" pitchFamily="18" charset="0"/>
                <a:ea typeface="Source Serif 4" pitchFamily="18" charset="-122"/>
                <a:cs typeface="Source Serif 4" pitchFamily="18" charset="-120"/>
              </a:rPr>
              <a:t>43×</a:t>
            </a:r>
            <a:endParaRPr lang="en-US" sz="3200" dirty="0"/>
          </a:p>
        </p:txBody>
      </p:sp>
      <p:sp>
        <p:nvSpPr>
          <p:cNvPr id="5" name="Text 3"/>
          <p:cNvSpPr/>
          <p:nvPr/>
        </p:nvSpPr>
        <p:spPr>
          <a:xfrm>
            <a:off x="812767" y="4323283"/>
            <a:ext cx="25639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smaller store</a:t>
            </a:r>
            <a:endParaRPr lang="en-US" sz="1200" dirty="0"/>
          </a:p>
        </p:txBody>
      </p:sp>
      <p:sp>
        <p:nvSpPr>
          <p:cNvPr id="6" name="Shape 4"/>
          <p:cNvSpPr/>
          <p:nvPr/>
        </p:nvSpPr>
        <p:spPr>
          <a:xfrm>
            <a:off x="3505150" y="3572346"/>
            <a:ext cx="2489316" cy="0"/>
          </a:xfrm>
          <a:prstGeom prst="line">
            <a:avLst/>
          </a:prstGeom>
          <a:noFill/>
          <a:ln w="12700">
            <a:solidFill>
              <a:srgbClr val="3F7A5E"/>
            </a:solidFill>
            <a:prstDash val="solid"/>
          </a:ln>
        </p:spPr>
      </p:sp>
      <p:sp>
        <p:nvSpPr>
          <p:cNvPr id="7" name="Text 5"/>
          <p:cNvSpPr/>
          <p:nvPr/>
        </p:nvSpPr>
        <p:spPr>
          <a:xfrm>
            <a:off x="3505150" y="3703588"/>
            <a:ext cx="2563995"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E3A06B"/>
                </a:solidFill>
                <a:latin typeface="Source Serif 4" pitchFamily="18" charset="0"/>
                <a:ea typeface="Source Serif 4" pitchFamily="18" charset="-122"/>
                <a:cs typeface="Source Serif 4" pitchFamily="18" charset="-120"/>
              </a:rPr>
              <a:t>32 ms</a:t>
            </a:r>
            <a:endParaRPr lang="en-US" sz="3200" dirty="0"/>
          </a:p>
        </p:txBody>
      </p:sp>
      <p:sp>
        <p:nvSpPr>
          <p:cNvPr id="8" name="Text 6"/>
          <p:cNvSpPr/>
          <p:nvPr/>
        </p:nvSpPr>
        <p:spPr>
          <a:xfrm>
            <a:off x="3505150" y="4323283"/>
            <a:ext cx="2563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per plot check</a:t>
            </a:r>
            <a:endParaRPr lang="en-US" sz="1200" dirty="0"/>
          </a:p>
        </p:txBody>
      </p:sp>
      <p:sp>
        <p:nvSpPr>
          <p:cNvPr id="9" name="Shape 7"/>
          <p:cNvSpPr/>
          <p:nvPr/>
        </p:nvSpPr>
        <p:spPr>
          <a:xfrm>
            <a:off x="6197616" y="3572346"/>
            <a:ext cx="2489233" cy="0"/>
          </a:xfrm>
          <a:prstGeom prst="line">
            <a:avLst/>
          </a:prstGeom>
          <a:noFill/>
          <a:ln w="12700">
            <a:solidFill>
              <a:srgbClr val="3F7A5E"/>
            </a:solidFill>
            <a:prstDash val="solid"/>
          </a:ln>
        </p:spPr>
      </p:sp>
      <p:sp>
        <p:nvSpPr>
          <p:cNvPr id="10" name="Text 8"/>
          <p:cNvSpPr/>
          <p:nvPr/>
        </p:nvSpPr>
        <p:spPr>
          <a:xfrm>
            <a:off x="6197616" y="3703588"/>
            <a:ext cx="2563910"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E3A06B"/>
                </a:solidFill>
                <a:latin typeface="Source Serif 4" pitchFamily="18" charset="0"/>
                <a:ea typeface="Source Serif 4" pitchFamily="18" charset="-122"/>
                <a:cs typeface="Source Serif 4" pitchFamily="18" charset="-120"/>
              </a:rPr>
              <a:t>39 / 500</a:t>
            </a:r>
            <a:endParaRPr lang="en-US" sz="3200" dirty="0"/>
          </a:p>
        </p:txBody>
      </p:sp>
      <p:sp>
        <p:nvSpPr>
          <p:cNvPr id="11" name="Text 9"/>
          <p:cNvSpPr/>
          <p:nvPr/>
        </p:nvSpPr>
        <p:spPr>
          <a:xfrm>
            <a:off x="6197616" y="4323283"/>
            <a:ext cx="25639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plots re-checked per update</a:t>
            </a:r>
            <a:endParaRPr lang="en-US" sz="1200" dirty="0"/>
          </a:p>
        </p:txBody>
      </p:sp>
      <p:sp>
        <p:nvSpPr>
          <p:cNvPr id="12" name="Shape 10"/>
          <p:cNvSpPr/>
          <p:nvPr/>
        </p:nvSpPr>
        <p:spPr>
          <a:xfrm>
            <a:off x="8890000" y="3572346"/>
            <a:ext cx="2489233" cy="0"/>
          </a:xfrm>
          <a:prstGeom prst="line">
            <a:avLst/>
          </a:prstGeom>
          <a:noFill/>
          <a:ln w="12700">
            <a:solidFill>
              <a:srgbClr val="3F7A5E"/>
            </a:solidFill>
            <a:prstDash val="solid"/>
          </a:ln>
        </p:spPr>
      </p:sp>
      <p:sp>
        <p:nvSpPr>
          <p:cNvPr id="13" name="Text 11"/>
          <p:cNvSpPr/>
          <p:nvPr/>
        </p:nvSpPr>
        <p:spPr>
          <a:xfrm>
            <a:off x="8890000" y="3703588"/>
            <a:ext cx="2563910"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E3A06B"/>
                </a:solidFill>
                <a:latin typeface="Source Serif 4" pitchFamily="18" charset="0"/>
                <a:ea typeface="Source Serif 4" pitchFamily="18" charset="-122"/>
                <a:cs typeface="Source Serif 4" pitchFamily="18" charset="-120"/>
              </a:rPr>
              <a:t>100%</a:t>
            </a:r>
            <a:endParaRPr lang="en-US" sz="3200" dirty="0"/>
          </a:p>
        </p:txBody>
      </p:sp>
      <p:sp>
        <p:nvSpPr>
          <p:cNvPr id="14" name="Text 12"/>
          <p:cNvSpPr/>
          <p:nvPr/>
        </p:nvSpPr>
        <p:spPr>
          <a:xfrm>
            <a:off x="8890000" y="4323283"/>
            <a:ext cx="25639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decision fidelity</a:t>
            </a:r>
            <a:endParaRPr lang="en-US" sz="1200" dirty="0"/>
          </a:p>
        </p:txBody>
      </p:sp>
      <p:sp>
        <p:nvSpPr>
          <p:cNvPr id="15" name="Text 13"/>
          <p:cNvSpPr/>
          <p:nvPr/>
        </p:nvSpPr>
        <p:spPr>
          <a:xfrm>
            <a:off x="812767" y="4841379"/>
            <a:ext cx="10883460" cy="27427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CF"/>
                </a:solidFill>
                <a:latin typeface="IBM Plex Sans" pitchFamily="34" charset="0"/>
                <a:ea typeface="IBM Plex Sans" pitchFamily="34" charset="-122"/>
                <a:cs typeface="IBM Plex Sans" pitchFamily="34" charset="-120"/>
              </a:rPr>
              <a:t>Rafael · rafael-macam.vercel.app · Questions welcome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47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APPENDIX · QUESTIONS ON FIDELITY</a:t>
            </a:r>
            <a:endParaRPr lang="en-US" sz="1200" dirty="0"/>
          </a:p>
        </p:txBody>
      </p:sp>
      <p:sp>
        <p:nvSpPr>
          <p:cNvPr id="3" name="Text 1"/>
          <p:cNvSpPr/>
          <p:nvPr>
            <p:ph type="title"/>
          </p:nvPr>
        </p:nvSpPr>
        <p:spPr>
          <a:xfrm>
            <a:off x="812767" y="1101985"/>
            <a:ext cx="10883460" cy="471967"/>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What 100% does and doesn’t prove</a:t>
            </a:r>
            <a:endParaRPr lang="en-US" sz="3200" dirty="0"/>
          </a:p>
        </p:txBody>
      </p:sp>
      <p:sp>
        <p:nvSpPr>
          <p:cNvPr id="4" name="Shape 2"/>
          <p:cNvSpPr/>
          <p:nvPr/>
        </p:nvSpPr>
        <p:spPr>
          <a:xfrm>
            <a:off x="812767" y="1756999"/>
            <a:ext cx="10566466" cy="0"/>
          </a:xfrm>
          <a:prstGeom prst="line">
            <a:avLst/>
          </a:prstGeom>
          <a:noFill/>
          <a:ln w="10583">
            <a:solidFill>
              <a:srgbClr val="141413">
                <a:alpha val="22000"/>
              </a:srgbClr>
            </a:solidFill>
            <a:prstDash val="solid"/>
          </a:ln>
        </p:spPr>
      </p:sp>
      <p:sp>
        <p:nvSpPr>
          <p:cNvPr id="5" name="Shape 3"/>
          <p:cNvSpPr/>
          <p:nvPr/>
        </p:nvSpPr>
        <p:spPr>
          <a:xfrm>
            <a:off x="818059" y="1751707"/>
            <a:ext cx="0" cy="4090293"/>
          </a:xfrm>
          <a:prstGeom prst="line">
            <a:avLst/>
          </a:prstGeom>
          <a:noFill/>
          <a:ln w="10583">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0350" y="1838490"/>
          <a:ext cx="10301883" cy="3927409"/>
        </p:xfrm>
        <a:graphic>
          <a:graphicData uri="http://schemas.openxmlformats.org/drawingml/2006/table">
            <a:tbl>
              <a:tblPr/>
              <a:tblGrid>
                <a:gridCol w="3502640"/>
                <a:gridCol w="6799242"/>
              </a:tblGrid>
              <a:tr h="383811">
                <a:tc>
                  <a:txBody>
                    <a:bodyPr/>
                    <a:lstStyle/>
                    <a:p>
                      <a:pPr indent="0" marL="0">
                        <a:lnSpc>
                          <a:spcPts val="1954"/>
                        </a:lnSpc>
                        <a:buNone/>
                      </a:pPr>
                      <a:r>
                        <a:rPr lang="en-US" sz="1396" b="1" dirty="0">
                          <a:solidFill>
                            <a:srgbClr val="F7F5EF"/>
                          </a:solidFill>
                          <a:latin typeface="IBM Plex Sans" pitchFamily="34" charset="0"/>
                          <a:ea typeface="IBM Plex Sans" pitchFamily="34" charset="-122"/>
                          <a:cs typeface="IBM Plex Sans" pitchFamily="34" charset="-120"/>
                        </a:rPr>
                        <a:t>Question</a:t>
                      </a:r>
                      <a:endParaRPr lang="en-US" sz="1396" dirty="0">
                        <a:latin typeface="IBM Plex Sans" charset="0"/>
                        <a:ea typeface="IBM Plex Sans" charset="0"/>
                        <a:cs typeface="IBM Plex Sans" charset="0"/>
                      </a:endParaRPr>
                    </a:p>
                  </a:txBody>
                  <a:tcPr marL="62036" marR="62036" marT="62036" marB="62036" anchor="t">
                    <a:lnL w="0" cap="flat" cmpd="sng" algn="ctr">
                      <a:noFill/>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954"/>
                        </a:lnSpc>
                        <a:buNone/>
                      </a:pPr>
                      <a:r>
                        <a:rPr lang="en-US" sz="1396" b="1" dirty="0">
                          <a:solidFill>
                            <a:srgbClr val="F7F5EF"/>
                          </a:solidFill>
                          <a:latin typeface="IBM Plex Sans" pitchFamily="34" charset="0"/>
                          <a:ea typeface="IBM Plex Sans" pitchFamily="34" charset="-122"/>
                          <a:cs typeface="IBM Plex Sans" pitchFamily="34" charset="-120"/>
                        </a:rPr>
                        <a:t>Answer</a:t>
                      </a:r>
                      <a:endParaRPr lang="en-US" sz="1396" dirty="0">
                        <a:latin typeface="IBM Plex Sans" charset="0"/>
                        <a:ea typeface="IBM Plex Sans" charset="0"/>
                        <a:cs typeface="IBM Plex Sans" charset="0"/>
                      </a:endParaRPr>
                    </a:p>
                  </a:txBody>
                  <a:tcPr marL="62036" marR="62036" marT="62036" marB="62036"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r>
              <a:tr h="631941">
                <a:tc>
                  <a:txBody>
                    <a:bodyPr/>
                    <a:lstStyle/>
                    <a:p>
                      <a:pPr indent="0" marL="0">
                        <a:lnSpc>
                          <a:spcPts val="1954"/>
                        </a:lnSpc>
                        <a:buNone/>
                      </a:pPr>
                      <a:r>
                        <a:rPr lang="en-US" sz="1396" dirty="0">
                          <a:solidFill>
                            <a:srgbClr val="2E3B35"/>
                          </a:solidFill>
                          <a:latin typeface="IBM Plex Sans" pitchFamily="34" charset="0"/>
                          <a:ea typeface="IBM Plex Sans" pitchFamily="34" charset="-122"/>
                          <a:cs typeface="IBM Plex Sans" pitchFamily="34" charset="-120"/>
                        </a:rPr>
                        <a:t>100% because you share code?</a:t>
                      </a:r>
                      <a:endParaRPr lang="en-US" sz="1396" dirty="0">
                        <a:latin typeface="IBM Plex Sans" charset="0"/>
                        <a:ea typeface="IBM Plex Sans" charset="0"/>
                        <a:cs typeface="IBM Plex Sans" charset="0"/>
                      </a:endParaRPr>
                    </a:p>
                  </a:txBody>
                  <a:tcPr marL="62036" marR="62036" marT="62036" marB="62036"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54"/>
                        </a:lnSpc>
                        <a:buNone/>
                      </a:pPr>
                      <a:r>
                        <a:rPr lang="en-US" sz="1396" dirty="0">
                          <a:solidFill>
                            <a:srgbClr val="2E3B35"/>
                          </a:solidFill>
                          <a:latin typeface="IBM Plex Sans" pitchFamily="34" charset="0"/>
                          <a:ea typeface="IBM Plex Sans" pitchFamily="34" charset="-122"/>
                          <a:cs typeface="IBM Plex Sans" pitchFamily="34" charset="-120"/>
                        </a:rPr>
                        <a:t>Shared: the spec’s per-cell rule. Verified independently: encoding, events, index, SQL rules</a:t>
                      </a:r>
                      <a:endParaRPr lang="en-US" sz="1396" dirty="0">
                        <a:latin typeface="IBM Plex Sans" charset="0"/>
                        <a:ea typeface="IBM Plex Sans" charset="0"/>
                        <a:cs typeface="IBM Plex Sans" charset="0"/>
                      </a:endParaRPr>
                    </a:p>
                  </a:txBody>
                  <a:tcPr marL="62036" marR="62036" marT="62036" marB="62036"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631941">
                <a:tc>
                  <a:txBody>
                    <a:bodyPr/>
                    <a:lstStyle/>
                    <a:p>
                      <a:pPr indent="0" marL="0">
                        <a:lnSpc>
                          <a:spcPts val="1954"/>
                        </a:lnSpc>
                        <a:buNone/>
                      </a:pPr>
                      <a:r>
                        <a:rPr lang="en-US" sz="1396" dirty="0">
                          <a:solidFill>
                            <a:srgbClr val="2E3B35"/>
                          </a:solidFill>
                          <a:latin typeface="IBM Plex Sans" pitchFamily="34" charset="0"/>
                          <a:ea typeface="IBM Plex Sans" pitchFamily="34" charset="-122"/>
                          <a:cs typeface="IBM Plex Sans" pitchFamily="34" charset="-120"/>
                        </a:rPr>
                        <a:t>Both pipelines share one pixel rule, so edges can’t disagree?</a:t>
                      </a:r>
                      <a:endParaRPr lang="en-US" sz="1396" dirty="0">
                        <a:latin typeface="IBM Plex Sans" charset="0"/>
                        <a:ea typeface="IBM Plex Sans" charset="0"/>
                        <a:cs typeface="IBM Plex Sans" charset="0"/>
                      </a:endParaRPr>
                    </a:p>
                  </a:txBody>
                  <a:tcPr marL="62036" marR="62036" marT="62036" marB="62036"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954"/>
                        </a:lnSpc>
                        <a:buNone/>
                      </a:pPr>
                      <a:r>
                        <a:rPr lang="en-US" sz="1396" dirty="0">
                          <a:solidFill>
                            <a:srgbClr val="2E3B35"/>
                          </a:solidFill>
                          <a:latin typeface="IBM Plex Sans" pitchFamily="34" charset="0"/>
                          <a:ea typeface="IBM Plex Sans" pitchFamily="34" charset="-122"/>
                          <a:cs typeface="IBM Plex Sans" pitchFamily="34" charset="-120"/>
                        </a:rPr>
                        <a:t>Exactly: fixing one rule in the spec makes fidelity achievable. Between systems the risk is real: Earth Engine’s edge handling changed forest counts on 19% of plots</a:t>
                      </a:r>
                      <a:endParaRPr lang="en-US" sz="1396" dirty="0">
                        <a:latin typeface="IBM Plex Sans" charset="0"/>
                        <a:ea typeface="IBM Plex Sans" charset="0"/>
                        <a:cs typeface="IBM Plex Sans" charset="0"/>
                      </a:endParaRPr>
                    </a:p>
                  </a:txBody>
                  <a:tcPr marL="62036" marR="62036" marT="62036" marB="62036"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631941">
                <a:tc>
                  <a:txBody>
                    <a:bodyPr/>
                    <a:lstStyle/>
                    <a:p>
                      <a:pPr indent="0" marL="0">
                        <a:lnSpc>
                          <a:spcPts val="1954"/>
                        </a:lnSpc>
                        <a:buNone/>
                      </a:pPr>
                      <a:r>
                        <a:rPr lang="en-US" sz="1396" dirty="0">
                          <a:solidFill>
                            <a:srgbClr val="2E3B35"/>
                          </a:solidFill>
                          <a:latin typeface="IBM Plex Sans" pitchFamily="34" charset="0"/>
                          <a:ea typeface="IBM Plex Sans" pitchFamily="34" charset="-122"/>
                          <a:cs typeface="IBM Plex Sans" pitchFamily="34" charset="-120"/>
                        </a:rPr>
                        <a:t>Then why are small plots the hard case?</a:t>
                      </a:r>
                      <a:endParaRPr lang="en-US" sz="1396" dirty="0">
                        <a:latin typeface="IBM Plex Sans" charset="0"/>
                        <a:ea typeface="IBM Plex Sans" charset="0"/>
                        <a:cs typeface="IBM Plex Sans" charset="0"/>
                      </a:endParaRPr>
                    </a:p>
                  </a:txBody>
                  <a:tcPr marL="62036" marR="62036" marT="62036" marB="62036"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54"/>
                        </a:lnSpc>
                        <a:buNone/>
                      </a:pPr>
                      <a:r>
                        <a:rPr lang="en-US" sz="1396" dirty="0">
                          <a:solidFill>
                            <a:srgbClr val="2E3B35"/>
                          </a:solidFill>
                          <a:latin typeface="IBM Plex Sans" pitchFamily="34" charset="0"/>
                          <a:ea typeface="IBM Plex Sans" pitchFamily="34" charset="-122"/>
                          <a:cs typeface="IBM Plex Sans" pitchFamily="34" charset="-120"/>
                        </a:rPr>
                        <a:t>That’s where a vague rule breaks verdicts: a third of a 1 ha plot’s cells sit on its edge</a:t>
                      </a:r>
                      <a:endParaRPr lang="en-US" sz="1396" dirty="0">
                        <a:latin typeface="IBM Plex Sans" charset="0"/>
                        <a:ea typeface="IBM Plex Sans" charset="0"/>
                        <a:cs typeface="IBM Plex Sans" charset="0"/>
                      </a:endParaRPr>
                    </a:p>
                  </a:txBody>
                  <a:tcPr marL="62036" marR="62036" marT="62036" marB="62036"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631941">
                <a:tc>
                  <a:txBody>
                    <a:bodyPr/>
                    <a:lstStyle/>
                    <a:p>
                      <a:pPr indent="0" marL="0">
                        <a:lnSpc>
                          <a:spcPts val="1954"/>
                        </a:lnSpc>
                        <a:buNone/>
                      </a:pPr>
                      <a:r>
                        <a:rPr lang="en-US" sz="1396" dirty="0">
                          <a:solidFill>
                            <a:srgbClr val="2E3B35"/>
                          </a:solidFill>
                          <a:latin typeface="IBM Plex Sans" pitchFamily="34" charset="0"/>
                          <a:ea typeface="IBM Plex Sans" pitchFamily="34" charset="-122"/>
                          <a:cs typeface="IBM Plex Sans" pitchFamily="34" charset="-120"/>
                        </a:rPr>
                        <a:t>Synthetic plots?</a:t>
                      </a:r>
                      <a:endParaRPr lang="en-US" sz="1396" dirty="0">
                        <a:latin typeface="IBM Plex Sans" charset="0"/>
                        <a:ea typeface="IBM Plex Sans" charset="0"/>
                        <a:cs typeface="IBM Plex Sans" charset="0"/>
                      </a:endParaRPr>
                    </a:p>
                  </a:txBody>
                  <a:tcPr marL="62036" marR="62036" marT="62036" marB="62036"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954"/>
                        </a:lnSpc>
                        <a:buNone/>
                      </a:pPr>
                      <a:r>
                        <a:rPr lang="en-US" sz="1396" dirty="0">
                          <a:solidFill>
                            <a:srgbClr val="2E3B35"/>
                          </a:solidFill>
                          <a:latin typeface="IBM Plex Sans" pitchFamily="34" charset="0"/>
                          <a:ea typeface="IBM Plex Sans" pitchFamily="34" charset="-122"/>
                          <a:cs typeface="IBM Plex Sans" pitchFamily="34" charset="-120"/>
                        </a:rPr>
                        <a:t>Stratified so every rule path runs; landscape rates come only from 5,000 random plots</a:t>
                      </a:r>
                      <a:endParaRPr lang="en-US" sz="1396" dirty="0">
                        <a:latin typeface="IBM Plex Sans" charset="0"/>
                        <a:ea typeface="IBM Plex Sans" charset="0"/>
                        <a:cs typeface="IBM Plex Sans" charset="0"/>
                      </a:endParaRPr>
                    </a:p>
                  </a:txBody>
                  <a:tcPr marL="62036" marR="62036" marT="62036" marB="62036"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383811">
                <a:tc>
                  <a:txBody>
                    <a:bodyPr/>
                    <a:lstStyle/>
                    <a:p>
                      <a:pPr indent="0" marL="0">
                        <a:lnSpc>
                          <a:spcPts val="1954"/>
                        </a:lnSpc>
                        <a:buNone/>
                      </a:pPr>
                      <a:r>
                        <a:rPr lang="en-US" sz="1396" dirty="0">
                          <a:solidFill>
                            <a:srgbClr val="2E3B35"/>
                          </a:solidFill>
                          <a:latin typeface="IBM Plex Sans" pitchFamily="34" charset="0"/>
                          <a:ea typeface="IBM Plex Sans" pitchFamily="34" charset="-122"/>
                          <a:cs typeface="IBM Plex Sans" pitchFamily="34" charset="-120"/>
                        </a:rPr>
                        <a:t>Why 3 pixels?</a:t>
                      </a:r>
                      <a:endParaRPr lang="en-US" sz="1396" dirty="0">
                        <a:latin typeface="IBM Plex Sans" charset="0"/>
                        <a:ea typeface="IBM Plex Sans" charset="0"/>
                        <a:cs typeface="IBM Plex Sans" charset="0"/>
                      </a:endParaRPr>
                    </a:p>
                  </a:txBody>
                  <a:tcPr marL="62036" marR="62036" marT="62036" marB="62036"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54"/>
                        </a:lnSpc>
                        <a:buNone/>
                      </a:pPr>
                      <a:r>
                        <a:rPr lang="en-US" sz="1396" dirty="0">
                          <a:solidFill>
                            <a:srgbClr val="2E3B35"/>
                          </a:solidFill>
                          <a:latin typeface="IBM Plex Sans" pitchFamily="34" charset="0"/>
                          <a:ea typeface="IBM Plex Sans" pitchFamily="34" charset="-122"/>
                          <a:cs typeface="IBM Plex Sans" pitchFamily="34" charset="-120"/>
                        </a:rPr>
                        <a:t>A setting: Compliant stays at 248 across all 12 threshold settings</a:t>
                      </a:r>
                      <a:endParaRPr lang="en-US" sz="1396" dirty="0">
                        <a:latin typeface="IBM Plex Sans" charset="0"/>
                        <a:ea typeface="IBM Plex Sans" charset="0"/>
                        <a:cs typeface="IBM Plex Sans" charset="0"/>
                      </a:endParaRPr>
                    </a:p>
                  </a:txBody>
                  <a:tcPr marL="62036" marR="62036" marT="62036" marB="62036"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632023">
                <a:tc>
                  <a:txBody>
                    <a:bodyPr/>
                    <a:lstStyle/>
                    <a:p>
                      <a:pPr indent="0" marL="0">
                        <a:lnSpc>
                          <a:spcPts val="1954"/>
                        </a:lnSpc>
                        <a:buNone/>
                      </a:pPr>
                      <a:r>
                        <a:rPr lang="en-US" sz="1396" dirty="0">
                          <a:solidFill>
                            <a:srgbClr val="2E3B35"/>
                          </a:solidFill>
                          <a:latin typeface="IBM Plex Sans" pitchFamily="34" charset="0"/>
                          <a:ea typeface="IBM Plex Sans" pitchFamily="34" charset="-122"/>
                          <a:cs typeface="IBM Plex Sans" pitchFamily="34" charset="-120"/>
                        </a:rPr>
                        <a:t>Does 100% mean the verdicts are right?</a:t>
                      </a:r>
                      <a:endParaRPr lang="en-US" sz="1396" dirty="0">
                        <a:latin typeface="IBM Plex Sans" charset="0"/>
                        <a:ea typeface="IBM Plex Sans" charset="0"/>
                        <a:cs typeface="IBM Plex Sans" charset="0"/>
                      </a:endParaRPr>
                    </a:p>
                  </a:txBody>
                  <a:tcPr marL="62036" marR="62036" marT="62036" marB="62036"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954"/>
                        </a:lnSpc>
                        <a:buNone/>
                      </a:pPr>
                      <a:r>
                        <a:rPr lang="en-US" sz="1396" dirty="0">
                          <a:solidFill>
                            <a:srgbClr val="2E3B35"/>
                          </a:solidFill>
                          <a:latin typeface="IBM Plex Sans" pitchFamily="34" charset="0"/>
                          <a:ea typeface="IBM Plex Sans" pitchFamily="34" charset="-122"/>
                          <a:cs typeface="IBM Plex Sans" pitchFamily="34" charset="-120"/>
                        </a:rPr>
                        <a:t>No: the store loses nothing vs the raw layers; it says nothing about the layers on the ground</a:t>
                      </a:r>
                      <a:endParaRPr lang="en-US" sz="1396" dirty="0">
                        <a:latin typeface="IBM Plex Sans" charset="0"/>
                        <a:ea typeface="IBM Plex Sans" charset="0"/>
                        <a:cs typeface="IBM Plex Sans" charset="0"/>
                      </a:endParaRPr>
                    </a:p>
                  </a:txBody>
                  <a:tcPr marL="62036" marR="62036" marT="62036" marB="62036"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bl>
          </a:graphicData>
        </a:graphic>
      </p:graphicFrame>
      <p:sp>
        <p:nvSpPr>
          <p:cNvPr id="7" name="Text 4"/>
          <p:cNvSpPr/>
          <p:nvPr/>
        </p:nvSpPr>
        <p:spPr>
          <a:xfrm>
            <a:off x="812767" y="6235725"/>
            <a:ext cx="2260798"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Backup · show only if asked</a:t>
            </a:r>
            <a:endParaRPr lang="en-US" sz="1200" dirty="0"/>
          </a:p>
        </p:txBody>
      </p:sp>
      <p:sp>
        <p:nvSpPr>
          <p:cNvPr id="8" name="Text 5"/>
          <p:cNvSpPr/>
          <p:nvPr/>
        </p:nvSpPr>
        <p:spPr>
          <a:xfrm>
            <a:off x="11139173" y="6235725"/>
            <a:ext cx="23997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A1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APPENDIX · QUESTIONS ON DATA AND THE RULE</a:t>
            </a:r>
            <a:endParaRPr lang="en-US" sz="1200" dirty="0"/>
          </a:p>
        </p:txBody>
      </p:sp>
      <p:sp>
        <p:nvSpPr>
          <p:cNvPr id="3" name="Text 1"/>
          <p:cNvSpPr/>
          <p:nvPr>
            <p:ph type="title"/>
          </p:nvPr>
        </p:nvSpPr>
        <p:spPr>
          <a:xfrm>
            <a:off x="812767" y="1102233"/>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Why each layer and rule is the way it is</a:t>
            </a:r>
            <a:endParaRPr lang="en-US" sz="3200" dirty="0"/>
          </a:p>
        </p:txBody>
      </p:sp>
      <p:sp>
        <p:nvSpPr>
          <p:cNvPr id="4" name="Shape 2"/>
          <p:cNvSpPr/>
          <p:nvPr/>
        </p:nvSpPr>
        <p:spPr>
          <a:xfrm>
            <a:off x="812767" y="1757656"/>
            <a:ext cx="10566466" cy="0"/>
          </a:xfrm>
          <a:prstGeom prst="line">
            <a:avLst/>
          </a:prstGeom>
          <a:noFill/>
          <a:ln w="10583">
            <a:solidFill>
              <a:srgbClr val="141413">
                <a:alpha val="22000"/>
              </a:srgbClr>
            </a:solidFill>
            <a:prstDash val="solid"/>
          </a:ln>
        </p:spPr>
      </p:sp>
      <p:sp>
        <p:nvSpPr>
          <p:cNvPr id="5" name="Shape 3"/>
          <p:cNvSpPr/>
          <p:nvPr/>
        </p:nvSpPr>
        <p:spPr>
          <a:xfrm>
            <a:off x="818059" y="1752364"/>
            <a:ext cx="0" cy="3347310"/>
          </a:xfrm>
          <a:prstGeom prst="line">
            <a:avLst/>
          </a:prstGeom>
          <a:noFill/>
          <a:ln w="10583">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0350" y="1839148"/>
          <a:ext cx="10301883" cy="3184426"/>
        </p:xfrm>
        <a:graphic>
          <a:graphicData uri="http://schemas.openxmlformats.org/drawingml/2006/table">
            <a:tbl>
              <a:tblPr/>
              <a:tblGrid>
                <a:gridCol w="3502640"/>
                <a:gridCol w="6799242"/>
              </a:tblGrid>
              <a:tr h="383811">
                <a:tc>
                  <a:txBody>
                    <a:bodyPr/>
                    <a:lstStyle/>
                    <a:p>
                      <a:pPr indent="0" marL="0">
                        <a:lnSpc>
                          <a:spcPts val="1960"/>
                        </a:lnSpc>
                        <a:buNone/>
                      </a:pPr>
                      <a:r>
                        <a:rPr lang="en-US" sz="1400" b="1" dirty="0">
                          <a:solidFill>
                            <a:srgbClr val="F7F5EF"/>
                          </a:solidFill>
                          <a:latin typeface="IBM Plex Sans" pitchFamily="34" charset="0"/>
                          <a:ea typeface="IBM Plex Sans" pitchFamily="34" charset="-122"/>
                          <a:cs typeface="IBM Plex Sans" pitchFamily="34" charset="-120"/>
                        </a:rPr>
                        <a:t>Question</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960"/>
                        </a:lnSpc>
                        <a:buNone/>
                      </a:pPr>
                      <a:r>
                        <a:rPr lang="en-US" sz="1400" b="1" dirty="0">
                          <a:solidFill>
                            <a:srgbClr val="F7F5EF"/>
                          </a:solidFill>
                          <a:latin typeface="IBM Plex Sans" pitchFamily="34" charset="0"/>
                          <a:ea typeface="IBM Plex Sans" pitchFamily="34" charset="-122"/>
                          <a:cs typeface="IBM Plex Sans" pitchFamily="34" charset="-120"/>
                        </a:rPr>
                        <a:t>Answer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r>
              <a:tr h="383811">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Isn’t GFC2020 wrong on shade cocoa?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Sometimes (18% commission error in v2); uncertain plots go to review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632685">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Why drop all data before 2021?</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The cut-off is fixed in EUDR Art. 2; earlier loss can’t change the verdict. The 2020 map keeps the one fact needed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383811">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Why resample Hansen to the 10 m grid?</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Exact 3 × 3 alignment with GFC2020; it adds no information and compresses away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811">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Why not H3?</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Hexes don’t align with pixels; plot membership would change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632685">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What about retracted RADD alerts?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Not in the demo: needs “retract” events (designed, not built); a quarterly fold-in rebuilds the base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811">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Classified forests only “review”?</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Legally restricted but heavily farmed: a legality question for a person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bl>
          </a:graphicData>
        </a:graphic>
      </p:graphicFrame>
      <p:sp>
        <p:nvSpPr>
          <p:cNvPr id="7" name="Text 4"/>
          <p:cNvSpPr/>
          <p:nvPr/>
        </p:nvSpPr>
        <p:spPr>
          <a:xfrm>
            <a:off x="812767" y="6235725"/>
            <a:ext cx="2260798"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Backup · show only if asked</a:t>
            </a:r>
            <a:endParaRPr lang="en-US" sz="1200" dirty="0"/>
          </a:p>
        </p:txBody>
      </p:sp>
      <p:sp>
        <p:nvSpPr>
          <p:cNvPr id="8" name="Text 5"/>
          <p:cNvSpPr/>
          <p:nvPr/>
        </p:nvSpPr>
        <p:spPr>
          <a:xfrm>
            <a:off x="11139173" y="6235725"/>
            <a:ext cx="23997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A2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APPENDIX · QUESTIONS ON PERFORMANCE, COST AND SCOPE</a:t>
            </a:r>
            <a:endParaRPr lang="en-US" sz="1200" dirty="0"/>
          </a:p>
        </p:txBody>
      </p:sp>
      <p:sp>
        <p:nvSpPr>
          <p:cNvPr id="3" name="Text 1"/>
          <p:cNvSpPr/>
          <p:nvPr>
            <p:ph type="title"/>
          </p:nvPr>
        </p:nvSpPr>
        <p:spPr>
          <a:xfrm>
            <a:off x="812767" y="1102233"/>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What the numbers do and don’t claim</a:t>
            </a:r>
            <a:endParaRPr lang="en-US" sz="3200" dirty="0"/>
          </a:p>
        </p:txBody>
      </p:sp>
      <p:sp>
        <p:nvSpPr>
          <p:cNvPr id="4" name="Shape 2"/>
          <p:cNvSpPr/>
          <p:nvPr/>
        </p:nvSpPr>
        <p:spPr>
          <a:xfrm>
            <a:off x="812767" y="1757656"/>
            <a:ext cx="10566466" cy="0"/>
          </a:xfrm>
          <a:prstGeom prst="line">
            <a:avLst/>
          </a:prstGeom>
          <a:noFill/>
          <a:ln w="10583">
            <a:solidFill>
              <a:srgbClr val="141413">
                <a:alpha val="22000"/>
              </a:srgbClr>
            </a:solidFill>
            <a:prstDash val="solid"/>
          </a:ln>
        </p:spPr>
      </p:sp>
      <p:sp>
        <p:nvSpPr>
          <p:cNvPr id="5" name="Shape 3"/>
          <p:cNvSpPr/>
          <p:nvPr/>
        </p:nvSpPr>
        <p:spPr>
          <a:xfrm>
            <a:off x="818059" y="1752364"/>
            <a:ext cx="0" cy="3845057"/>
          </a:xfrm>
          <a:prstGeom prst="line">
            <a:avLst/>
          </a:prstGeom>
          <a:noFill/>
          <a:ln w="10583">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0350" y="1839148"/>
          <a:ext cx="10301883" cy="3682173"/>
        </p:xfrm>
        <a:graphic>
          <a:graphicData uri="http://schemas.openxmlformats.org/drawingml/2006/table">
            <a:tbl>
              <a:tblPr/>
              <a:tblGrid>
                <a:gridCol w="3502640"/>
                <a:gridCol w="6799242"/>
              </a:tblGrid>
              <a:tr h="383811">
                <a:tc>
                  <a:txBody>
                    <a:bodyPr/>
                    <a:lstStyle/>
                    <a:p>
                      <a:pPr indent="0" marL="0">
                        <a:lnSpc>
                          <a:spcPts val="1960"/>
                        </a:lnSpc>
                        <a:buNone/>
                      </a:pPr>
                      <a:r>
                        <a:rPr lang="en-US" sz="1400" b="1" dirty="0">
                          <a:solidFill>
                            <a:srgbClr val="F7F5EF"/>
                          </a:solidFill>
                          <a:latin typeface="IBM Plex Sans" pitchFamily="34" charset="0"/>
                          <a:ea typeface="IBM Plex Sans" pitchFamily="34" charset="-122"/>
                          <a:cs typeface="IBM Plex Sans" pitchFamily="34" charset="-120"/>
                        </a:rPr>
                        <a:t>Question</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960"/>
                        </a:lnSpc>
                        <a:buNone/>
                      </a:pPr>
                      <a:r>
                        <a:rPr lang="en-US" sz="1400" b="1" dirty="0">
                          <a:solidFill>
                            <a:srgbClr val="F7F5EF"/>
                          </a:solidFill>
                          <a:latin typeface="IBM Plex Sans" pitchFamily="34" charset="0"/>
                          <a:ea typeface="IBM Plex Sans" pitchFamily="34" charset="-122"/>
                          <a:cs typeface="IBM Plex Sans" pitchFamily="34" charset="-120"/>
                        </a:rPr>
                        <a:t>Answer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r>
              <a:tr h="632685">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Earth Engine is cheap per check. Why switch?</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True: ≈ $19 per million. The win: ≈ 7 h → ≈ 11 min, no 20-request cap, targeted reanalysis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632685">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EE timings from a noncommercial project?</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Same compute metering; latency on a commercial setup may differ, so we quote the median and range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632685">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Your area is small.</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We report per-km² and per-plot figures so it scales; national numbers are labelled estimates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811">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Are the prices verified?</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Approximate and marked; the conclusion holds even if they’re 10× off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383811">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What about supplier declarations?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Simulated the sample supplier: 75.6% agree; 76 flags removed, 46 misses found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632685">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We already record versions. What’s new?</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Agreed, and our manifest ID joins your audit trail. The new part is speed and targeted reanalysis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bl>
          </a:graphicData>
        </a:graphic>
      </p:graphicFrame>
      <p:sp>
        <p:nvSpPr>
          <p:cNvPr id="7" name="Text 4"/>
          <p:cNvSpPr/>
          <p:nvPr/>
        </p:nvSpPr>
        <p:spPr>
          <a:xfrm>
            <a:off x="812767" y="6235725"/>
            <a:ext cx="2260798"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Backup · show only if asked</a:t>
            </a:r>
            <a:endParaRPr lang="en-US" sz="1200" dirty="0"/>
          </a:p>
        </p:txBody>
      </p:sp>
      <p:sp>
        <p:nvSpPr>
          <p:cNvPr id="8" name="Text 5"/>
          <p:cNvSpPr/>
          <p:nvPr/>
        </p:nvSpPr>
        <p:spPr>
          <a:xfrm>
            <a:off x="11139173" y="6235725"/>
            <a:ext cx="23997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A3</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67" y="812763"/>
            <a:ext cx="10883460" cy="224664"/>
          </a:xfrm>
          <a:prstGeom prst="rect">
            <a:avLst/>
          </a:prstGeom>
          <a:noFill/>
          <a:ln/>
        </p:spPr>
        <p:txBody>
          <a:bodyPr wrap="square" lIns="0" tIns="0" rIns="0" bIns="0" rtlCol="0" anchor="t">
            <a:normAutofit/>
          </a:bodyPr>
          <a:lstStyle/>
          <a:p>
            <a:pPr algn="l" indent="0" marL="0">
              <a:lnSpc>
                <a:spcPts val="1575"/>
              </a:lnSpc>
              <a:buNone/>
            </a:pPr>
            <a:r>
              <a:rPr lang="en-US" sz="1125" b="1" spc="100" kern="0" dirty="0">
                <a:solidFill>
                  <a:srgbClr val="A4501C"/>
                </a:solidFill>
                <a:latin typeface="IBM Plex Sans" pitchFamily="34" charset="0"/>
                <a:ea typeface="IBM Plex Sans" pitchFamily="34" charset="-122"/>
                <a:cs typeface="IBM Plex Sans" pitchFamily="34" charset="-120"/>
              </a:rPr>
              <a:t>APPENDIX · QUESTIONS ON PLOT UPLOAD AND LIFECYCLE</a:t>
            </a:r>
            <a:endParaRPr lang="en-US" sz="1125" dirty="0"/>
          </a:p>
        </p:txBody>
      </p:sp>
      <p:sp>
        <p:nvSpPr>
          <p:cNvPr id="3" name="Text 1"/>
          <p:cNvSpPr/>
          <p:nvPr>
            <p:ph type="title"/>
          </p:nvPr>
        </p:nvSpPr>
        <p:spPr>
          <a:xfrm>
            <a:off x="812767" y="1088182"/>
            <a:ext cx="10883460" cy="442946"/>
          </a:xfrm>
          <a:prstGeom prst="rect">
            <a:avLst/>
          </a:prstGeom>
          <a:noFill/>
          <a:ln/>
        </p:spPr>
        <p:txBody>
          <a:bodyPr wrap="square" lIns="0" tIns="0" rIns="0" bIns="0" rtlCol="0" anchor="t">
            <a:normAutofit/>
          </a:bodyPr>
          <a:lstStyle/>
          <a:p>
            <a:pPr algn="l" indent="0" marL="0">
              <a:lnSpc>
                <a:spcPts val="3322"/>
              </a:lnSpc>
              <a:buNone/>
            </a:pPr>
            <a:r>
              <a:rPr lang="en-US" sz="3020" b="1" i="0" dirty="0">
                <a:solidFill>
                  <a:srgbClr val="17332B"/>
                </a:solidFill>
                <a:latin typeface="Source Serif 4" pitchFamily="18" charset="0"/>
                <a:ea typeface="Source Serif 4" pitchFamily="18" charset="-122"/>
                <a:cs typeface="Source Serif 4" pitchFamily="18" charset="-120"/>
              </a:rPr>
              <a:t>Over a plot’s lifetime, the geometry is solved once</a:t>
            </a:r>
            <a:endParaRPr lang="en-US" sz="3020" dirty="0"/>
          </a:p>
        </p:txBody>
      </p:sp>
      <p:sp>
        <p:nvSpPr>
          <p:cNvPr id="4" name="Shape 2"/>
          <p:cNvSpPr/>
          <p:nvPr/>
        </p:nvSpPr>
        <p:spPr>
          <a:xfrm>
            <a:off x="812767" y="1663398"/>
            <a:ext cx="10566466" cy="0"/>
          </a:xfrm>
          <a:prstGeom prst="line">
            <a:avLst/>
          </a:prstGeom>
          <a:noFill/>
          <a:ln w="10583">
            <a:solidFill>
              <a:srgbClr val="141413">
                <a:alpha val="22000"/>
              </a:srgbClr>
            </a:solidFill>
            <a:prstDash val="solid"/>
          </a:ln>
        </p:spPr>
      </p:sp>
      <p:sp>
        <p:nvSpPr>
          <p:cNvPr id="5" name="Shape 3"/>
          <p:cNvSpPr/>
          <p:nvPr/>
        </p:nvSpPr>
        <p:spPr>
          <a:xfrm>
            <a:off x="818059" y="1658107"/>
            <a:ext cx="0" cy="3830753"/>
          </a:xfrm>
          <a:prstGeom prst="line">
            <a:avLst/>
          </a:prstGeom>
          <a:noFill/>
          <a:ln w="10583">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7650" y="1732190"/>
          <a:ext cx="10327283" cy="3693170"/>
        </p:xfrm>
        <a:graphic>
          <a:graphicData uri="http://schemas.openxmlformats.org/drawingml/2006/table">
            <a:tbl>
              <a:tblPr/>
              <a:tblGrid>
                <a:gridCol w="1962184"/>
                <a:gridCol w="2891639"/>
                <a:gridCol w="3201458"/>
                <a:gridCol w="2272002"/>
              </a:tblGrid>
              <a:tr h="332383">
                <a:tc>
                  <a:txBody>
                    <a:bodyPr/>
                    <a:lstStyle/>
                    <a:p>
                      <a:pPr indent="0" marL="0">
                        <a:lnSpc>
                          <a:spcPts val="1627"/>
                        </a:lnSpc>
                        <a:buNone/>
                      </a:pPr>
                      <a:r>
                        <a:rPr lang="en-US" sz="1163" b="1" dirty="0">
                          <a:solidFill>
                            <a:srgbClr val="F7F5EF"/>
                          </a:solidFill>
                          <a:latin typeface="IBM Plex Sans" pitchFamily="34" charset="0"/>
                          <a:ea typeface="IBM Plex Sans" pitchFamily="34" charset="-122"/>
                          <a:cs typeface="IBM Plex Sans" pitchFamily="34" charset="-120"/>
                        </a:rPr>
                        <a:t>Moment</a:t>
                      </a:r>
                      <a:endParaRPr lang="en-US" sz="1163" dirty="0">
                        <a:latin typeface="IBM Plex Sans" charset="0"/>
                        <a:ea typeface="IBM Plex Sans" charset="0"/>
                        <a:cs typeface="IBM Plex Sans" charset="0"/>
                      </a:endParaRPr>
                    </a:p>
                  </a:txBody>
                  <a:tcPr marL="51673" marR="51673" marT="51673" marB="51673" anchor="t">
                    <a:lnL w="0" cap="flat" cmpd="sng" algn="ctr">
                      <a:noFill/>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27"/>
                        </a:lnSpc>
                        <a:buNone/>
                      </a:pPr>
                      <a:r>
                        <a:rPr lang="en-US" sz="1163" b="1" dirty="0">
                          <a:solidFill>
                            <a:srgbClr val="F7F5EF"/>
                          </a:solidFill>
                          <a:latin typeface="IBM Plex Sans" pitchFamily="34" charset="0"/>
                          <a:ea typeface="IBM Plex Sans" pitchFamily="34" charset="-122"/>
                          <a:cs typeface="IBM Plex Sans" pitchFamily="34" charset="-120"/>
                        </a:rPr>
                        <a:t>SystemEarth today</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27"/>
                        </a:lnSpc>
                        <a:buNone/>
                      </a:pPr>
                      <a:r>
                        <a:rPr lang="en-US" sz="1163" b="1" dirty="0">
                          <a:solidFill>
                            <a:srgbClr val="F7F5EF"/>
                          </a:solidFill>
                          <a:latin typeface="IBM Plex Sans" pitchFamily="34" charset="0"/>
                          <a:ea typeface="IBM Plex Sans" pitchFamily="34" charset="-122"/>
                          <a:cs typeface="IBM Plex Sans" pitchFamily="34" charset="-120"/>
                        </a:rPr>
                        <a:t>Our design</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27"/>
                        </a:lnSpc>
                        <a:buNone/>
                      </a:pPr>
                      <a:r>
                        <a:rPr lang="en-US" sz="1163" b="1" dirty="0">
                          <a:solidFill>
                            <a:srgbClr val="F7F5EF"/>
                          </a:solidFill>
                          <a:latin typeface="IBM Plex Sans" pitchFamily="34" charset="0"/>
                          <a:ea typeface="IBM Plex Sans" pitchFamily="34" charset="-122"/>
                          <a:cs typeface="IBM Plex Sans" pitchFamily="34" charset="-120"/>
                        </a:rPr>
                        <a:t>Who’s better</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r>
              <a:tr h="539171">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New plot, first check</a:t>
                      </a:r>
                      <a:endParaRPr lang="en-US" sz="1163" dirty="0">
                        <a:latin typeface="IBM Plex Sans" charset="0"/>
                        <a:ea typeface="IBM Plex Sans" charset="0"/>
                        <a:cs typeface="IBM Plex Sans" charset="0"/>
                      </a:endParaRPr>
                    </a:p>
                  </a:txBody>
                  <a:tcPr marL="51673" marR="51673" marT="51673" marB="51673"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Earth Engine overlays the polygon: about 0.5 s</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Index once, then check: tens of ms</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Marginal: both fine for one lot</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39171">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Bulk upload</a:t>
                      </a:r>
                      <a:endParaRPr lang="en-US" sz="1163" dirty="0">
                        <a:latin typeface="IBM Plex Sans" charset="0"/>
                        <a:ea typeface="IBM Plex Sans" charset="0"/>
                        <a:cs typeface="IBM Plex Sans" charset="0"/>
                      </a:endParaRPr>
                    </a:p>
                  </a:txBody>
                  <a:tcPr marL="51673" marR="51673" marT="51673" marB="51673"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20-request cap: ≈ 7 h per million (≈ 4.4 h batched)</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 0.67 ms per plot: ≈ 11 min per million, one core</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27"/>
                        </a:lnSpc>
                        <a:buNone/>
                      </a:pPr>
                      <a:r>
                        <a:rPr lang="en-US" sz="1163" dirty="0">
                          <a:solidFill>
                            <a:srgbClr val="2F6FA3"/>
                          </a:solidFill>
                          <a:latin typeface="IBM Plex Sans" pitchFamily="34" charset="0"/>
                          <a:ea typeface="IBM Plex Sans" pitchFamily="34" charset="-122"/>
                          <a:cs typeface="IBM Plex Sans" pitchFamily="34" charset="-120"/>
                        </a:rPr>
                        <a:t>Ours, at scale</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539171">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Every later reanalysis</a:t>
                      </a:r>
                      <a:endParaRPr lang="en-US" sz="1163" dirty="0">
                        <a:latin typeface="IBM Plex Sans" charset="0"/>
                        <a:ea typeface="IBM Plex Sans" charset="0"/>
                        <a:cs typeface="IBM Plex Sans" charset="0"/>
                      </a:endParaRPr>
                    </a:p>
                  </a:txBody>
                  <a:tcPr marL="51673" marR="51673" marT="51673" marB="51673"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The geometry overlay re-runs in Earth Engine</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Lookups on stored cell runs; no geometry</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27"/>
                        </a:lnSpc>
                        <a:buNone/>
                      </a:pPr>
                      <a:r>
                        <a:rPr lang="en-US" sz="1163" dirty="0">
                          <a:solidFill>
                            <a:srgbClr val="2F6FA3"/>
                          </a:solidFill>
                          <a:latin typeface="IBM Plex Sans" pitchFamily="34" charset="0"/>
                          <a:ea typeface="IBM Plex Sans" pitchFamily="34" charset="-122"/>
                          <a:cs typeface="IBM Plex Sans" pitchFamily="34" charset="-120"/>
                        </a:rPr>
                        <a:t>Ours: done once</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39171">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A new data release</a:t>
                      </a:r>
                      <a:endParaRPr lang="en-US" sz="1163" dirty="0">
                        <a:latin typeface="IBM Plex Sans" charset="0"/>
                        <a:ea typeface="IBM Plex Sans" charset="0"/>
                        <a:cs typeface="IBM Plex Sans" charset="0"/>
                      </a:endParaRPr>
                    </a:p>
                  </a:txBody>
                  <a:tcPr marL="51673" marR="51673" marT="51673" marB="51673"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Users pick lots manually or by schedule</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Events × index name the affected plots (39 of 500)</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27"/>
                        </a:lnSpc>
                        <a:buNone/>
                      </a:pPr>
                      <a:r>
                        <a:rPr lang="en-US" sz="1163" dirty="0">
                          <a:solidFill>
                            <a:srgbClr val="2F6FA3"/>
                          </a:solidFill>
                          <a:latin typeface="IBM Plex Sans" pitchFamily="34" charset="0"/>
                          <a:ea typeface="IBM Plex Sans" pitchFamily="34" charset="-122"/>
                          <a:cs typeface="IBM Plex Sans" pitchFamily="34" charset="-120"/>
                        </a:rPr>
                        <a:t>Ours: the main point</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332465">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Only events before harvest</a:t>
                      </a:r>
                      <a:endParaRPr lang="en-US" sz="1163" dirty="0">
                        <a:latin typeface="IBM Plex Sans" charset="0"/>
                        <a:ea typeface="IBM Plex Sans" charset="0"/>
                        <a:cs typeface="IBM Plex Sans" charset="0"/>
                      </a:endParaRPr>
                    </a:p>
                  </a:txBody>
                  <a:tcPr marL="51673" marR="51673" marT="51673" marB="51673"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A fresh Earth Engine analysis</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Filter dated events against the plot’s cells</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27"/>
                        </a:lnSpc>
                        <a:buNone/>
                      </a:pPr>
                      <a:r>
                        <a:rPr lang="en-US" sz="1163" dirty="0">
                          <a:solidFill>
                            <a:srgbClr val="2F6FA3"/>
                          </a:solidFill>
                          <a:latin typeface="IBM Plex Sans" pitchFamily="34" charset="0"/>
                          <a:ea typeface="IBM Plex Sans" pitchFamily="34" charset="-122"/>
                          <a:cs typeface="IBM Plex Sans" pitchFamily="34" charset="-120"/>
                        </a:rPr>
                        <a:t>Ours</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465">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A rule setting changes</a:t>
                      </a:r>
                      <a:endParaRPr lang="en-US" sz="1163" dirty="0">
                        <a:latin typeface="IBM Plex Sans" charset="0"/>
                        <a:ea typeface="IBM Plex Sans" charset="0"/>
                        <a:cs typeface="IBM Plex Sans" charset="0"/>
                      </a:endParaRPr>
                    </a:p>
                  </a:txBody>
                  <a:tcPr marL="51673" marR="51673" marT="51673" marB="51673"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Re-run every plot on Earth Engine</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Re-run locally in seconds</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27"/>
                        </a:lnSpc>
                        <a:buNone/>
                      </a:pPr>
                      <a:r>
                        <a:rPr lang="en-US" sz="1163" dirty="0">
                          <a:solidFill>
                            <a:srgbClr val="2F6FA3"/>
                          </a:solidFill>
                          <a:latin typeface="IBM Plex Sans" pitchFamily="34" charset="0"/>
                          <a:ea typeface="IBM Plex Sans" pitchFamily="34" charset="-122"/>
                          <a:cs typeface="IBM Plex Sans" pitchFamily="34" charset="-120"/>
                        </a:rPr>
                        <a:t>Ours</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539171">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Plot edited or deleted</a:t>
                      </a:r>
                      <a:endParaRPr lang="en-US" sz="1163" dirty="0">
                        <a:latin typeface="IBM Plex Sans" charset="0"/>
                        <a:ea typeface="IBM Plex Sans" charset="0"/>
                        <a:cs typeface="IBM Plex Sans" charset="0"/>
                      </a:endParaRPr>
                    </a:p>
                  </a:txBody>
                  <a:tcPr marL="51673" marR="51673" marT="51673" marB="51673"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Handled by their audit trail</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27"/>
                        </a:lnSpc>
                        <a:buNone/>
                      </a:pPr>
                      <a:r>
                        <a:rPr lang="en-US" sz="1163" dirty="0">
                          <a:solidFill>
                            <a:srgbClr val="2E3B35"/>
                          </a:solidFill>
                          <a:latin typeface="IBM Plex Sans" pitchFamily="34" charset="0"/>
                          <a:ea typeface="IBM Plex Sans" pitchFamily="34" charset="-122"/>
                          <a:cs typeface="IBM Plex Sans" pitchFamily="34" charset="-120"/>
                        </a:rPr>
                        <a:t>Must re-index or remove, triggered from their trail</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27"/>
                        </a:lnSpc>
                        <a:buNone/>
                      </a:pPr>
                      <a:r>
                        <a:rPr lang="en-US" sz="1163" dirty="0">
                          <a:solidFill>
                            <a:srgbClr val="A4501C"/>
                          </a:solidFill>
                          <a:latin typeface="IBM Plex Sans" pitchFamily="34" charset="0"/>
                          <a:ea typeface="IBM Plex Sans" pitchFamily="34" charset="-122"/>
                          <a:cs typeface="IBM Plex Sans" pitchFamily="34" charset="-120"/>
                        </a:rPr>
                        <a:t>Theirs is simpler</a:t>
                      </a:r>
                      <a:endParaRPr lang="en-US" sz="1163" dirty="0">
                        <a:latin typeface="IBM Plex Sans" charset="0"/>
                        <a:ea typeface="IBM Plex Sans" charset="0"/>
                        <a:cs typeface="IBM Plex Sans" charset="0"/>
                      </a:endParaRPr>
                    </a:p>
                  </a:txBody>
                  <a:tcPr marL="51673" marR="51673" marT="51673" marB="516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Text 4"/>
          <p:cNvSpPr/>
          <p:nvPr/>
        </p:nvSpPr>
        <p:spPr>
          <a:xfrm>
            <a:off x="812767" y="5641243"/>
            <a:ext cx="10883460" cy="226153"/>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17332B"/>
                </a:solidFill>
                <a:latin typeface="IBM Plex Sans" pitchFamily="34" charset="0"/>
                <a:ea typeface="IBM Plex Sans" pitchFamily="34" charset="-122"/>
                <a:cs typeface="IBM Plex Sans" pitchFamily="34" charset="-120"/>
              </a:rPr>
              <a:t>Trade-off:</a:t>
            </a:r>
            <a:r>
              <a:rPr lang="en-US" sz="1159" dirty="0">
                <a:solidFill>
                  <a:srgbClr val="17332B"/>
                </a:solidFill>
                <a:latin typeface="IBM Plex Sans" pitchFamily="34" charset="0"/>
                <a:ea typeface="IBM Plex Sans" pitchFamily="34" charset="-122"/>
                <a:cs typeface="IBM Plex Sans" pitchFamily="34" charset="-120"/>
              </a:rPr>
              <a:t> one more component to keep in sync. Drive the indexer from their upload flow and audit trail, and refuse an unindexed plot rather than skip it.</a:t>
            </a:r>
            <a:endParaRPr lang="en-US" sz="1159" dirty="0"/>
          </a:p>
        </p:txBody>
      </p:sp>
      <p:sp>
        <p:nvSpPr>
          <p:cNvPr id="8" name="Text 5"/>
          <p:cNvSpPr/>
          <p:nvPr/>
        </p:nvSpPr>
        <p:spPr>
          <a:xfrm>
            <a:off x="812767" y="6235725"/>
            <a:ext cx="2260798"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Backup · show only if asked</a:t>
            </a:r>
            <a:endParaRPr lang="en-US" sz="1200" dirty="0"/>
          </a:p>
        </p:txBody>
      </p:sp>
      <p:sp>
        <p:nvSpPr>
          <p:cNvPr id="9" name="Text 6"/>
          <p:cNvSpPr/>
          <p:nvPr/>
        </p:nvSpPr>
        <p:spPr>
          <a:xfrm>
            <a:off x="11139173" y="6235725"/>
            <a:ext cx="23997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A4</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APPENDIX · QUESTIONS ON THE CHECK ENGINE</a:t>
            </a:r>
            <a:endParaRPr lang="en-US" sz="1200" dirty="0"/>
          </a:p>
        </p:txBody>
      </p:sp>
      <p:sp>
        <p:nvSpPr>
          <p:cNvPr id="3" name="Text 1"/>
          <p:cNvSpPr/>
          <p:nvPr>
            <p:ph type="title"/>
          </p:nvPr>
        </p:nvSpPr>
        <p:spPr>
          <a:xfrm>
            <a:off x="812767" y="1102233"/>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Why DuckDB and not something else</a:t>
            </a:r>
            <a:endParaRPr lang="en-US" sz="3200" dirty="0"/>
          </a:p>
        </p:txBody>
      </p:sp>
      <p:sp>
        <p:nvSpPr>
          <p:cNvPr id="4" name="Shape 2"/>
          <p:cNvSpPr/>
          <p:nvPr/>
        </p:nvSpPr>
        <p:spPr>
          <a:xfrm>
            <a:off x="812767" y="1757656"/>
            <a:ext cx="10566466" cy="0"/>
          </a:xfrm>
          <a:prstGeom prst="line">
            <a:avLst/>
          </a:prstGeom>
          <a:noFill/>
          <a:ln w="10583">
            <a:solidFill>
              <a:srgbClr val="141413">
                <a:alpha val="22000"/>
              </a:srgbClr>
            </a:solidFill>
            <a:prstDash val="solid"/>
          </a:ln>
        </p:spPr>
      </p:sp>
      <p:sp>
        <p:nvSpPr>
          <p:cNvPr id="5" name="Shape 3"/>
          <p:cNvSpPr/>
          <p:nvPr/>
        </p:nvSpPr>
        <p:spPr>
          <a:xfrm>
            <a:off x="818059" y="1752364"/>
            <a:ext cx="0" cy="2221342"/>
          </a:xfrm>
          <a:prstGeom prst="line">
            <a:avLst/>
          </a:prstGeom>
          <a:noFill/>
          <a:ln w="10583">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0350" y="1851848"/>
          <a:ext cx="10301883" cy="2032992"/>
        </p:xfrm>
        <a:graphic>
          <a:graphicData uri="http://schemas.openxmlformats.org/drawingml/2006/table">
            <a:tbl>
              <a:tblPr/>
              <a:tblGrid>
                <a:gridCol w="3090565"/>
                <a:gridCol w="7211318"/>
              </a:tblGrid>
              <a:tr h="383811">
                <a:tc>
                  <a:txBody>
                    <a:bodyPr/>
                    <a:lstStyle/>
                    <a:p>
                      <a:pPr indent="0" marL="0">
                        <a:lnSpc>
                          <a:spcPts val="1960"/>
                        </a:lnSpc>
                        <a:buNone/>
                      </a:pPr>
                      <a:r>
                        <a:rPr lang="en-US" sz="1400" b="1" dirty="0">
                          <a:solidFill>
                            <a:srgbClr val="F7F5EF"/>
                          </a:solidFill>
                          <a:latin typeface="IBM Plex Sans" pitchFamily="34" charset="0"/>
                          <a:ea typeface="IBM Plex Sans" pitchFamily="34" charset="-122"/>
                          <a:cs typeface="IBM Plex Sans" pitchFamily="34" charset="-120"/>
                        </a:rPr>
                        <a:t>Alternative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960"/>
                        </a:lnSpc>
                        <a:buNone/>
                      </a:pPr>
                      <a:r>
                        <a:rPr lang="en-US" sz="1400" b="1" dirty="0">
                          <a:solidFill>
                            <a:srgbClr val="F7F5EF"/>
                          </a:solidFill>
                          <a:latin typeface="IBM Plex Sans" pitchFamily="34" charset="0"/>
                          <a:ea typeface="IBM Plex Sans" pitchFamily="34" charset="-122"/>
                          <a:cs typeface="IBM Plex Sans" pitchFamily="34" charset="-120"/>
                        </a:rPr>
                        <a:t>Why not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r>
              <a:tr h="632685">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PostGIS (what SystemEarth has)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A database server that must run all the time; overkill for lookups over small, unchanging files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3811">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Earth Engine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Remote, about 0.5 s per request, paid per use, 20 requests at once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632685">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Plain Python</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2E3B35"/>
                          </a:solidFill>
                          <a:latin typeface="IBM Plex Sans" pitchFamily="34" charset="0"/>
                          <a:ea typeface="IBM Plex Sans" pitchFamily="34" charset="-122"/>
                          <a:cs typeface="IBM Plex Sans" pitchFamily="34" charset="-120"/>
                        </a:rPr>
                        <a:t>Works (it’s how the raw pipeline does it), but the SQL version is a second, independent implementation of the rules, which is what makes the 100% fidelity check meaningful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2767" y="4189561"/>
            <a:ext cx="10566466" cy="0"/>
          </a:xfrm>
          <a:prstGeom prst="line">
            <a:avLst/>
          </a:prstGeom>
          <a:noFill/>
          <a:ln w="25400">
            <a:solidFill>
              <a:srgbClr val="17332B"/>
            </a:solidFill>
            <a:prstDash val="solid"/>
          </a:ln>
        </p:spPr>
      </p:sp>
      <p:sp>
        <p:nvSpPr>
          <p:cNvPr id="8" name="Text 5"/>
          <p:cNvSpPr/>
          <p:nvPr/>
        </p:nvSpPr>
        <p:spPr>
          <a:xfrm>
            <a:off x="812767" y="4325020"/>
            <a:ext cx="108834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What DuckDB gives us</a:t>
            </a:r>
            <a:endParaRPr lang="en-US" sz="1400" dirty="0"/>
          </a:p>
        </p:txBody>
      </p:sp>
      <p:sp>
        <p:nvSpPr>
          <p:cNvPr id="9" name="Text 6"/>
          <p:cNvSpPr/>
          <p:nvPr/>
        </p:nvSpPr>
        <p:spPr>
          <a:xfrm>
            <a:off x="812767" y="4589115"/>
            <a:ext cx="108834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4B"/>
                </a:solidFill>
                <a:latin typeface="IBM Plex Sans" pitchFamily="34" charset="0"/>
                <a:ea typeface="IBM Plex Sans" pitchFamily="34" charset="-122"/>
                <a:cs typeface="IBM Plex Sans" pitchFamily="34" charset="-120"/>
              </a:rPr>
              <a:t>SQL over plain files, in-process: no server to run, no request cap, 32 ms per check. Trade-off: one machine, and start-up is most of those 32 ms.</a:t>
            </a:r>
            <a:endParaRPr lang="en-US" sz="1200" dirty="0"/>
          </a:p>
        </p:txBody>
      </p:sp>
      <p:sp>
        <p:nvSpPr>
          <p:cNvPr id="10" name="Text 7"/>
          <p:cNvSpPr/>
          <p:nvPr/>
        </p:nvSpPr>
        <p:spPr>
          <a:xfrm>
            <a:off x="812767" y="6235725"/>
            <a:ext cx="2260798"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Backup · show only if asked</a:t>
            </a:r>
            <a:endParaRPr lang="en-US" sz="1200" dirty="0"/>
          </a:p>
        </p:txBody>
      </p:sp>
      <p:sp>
        <p:nvSpPr>
          <p:cNvPr id="11" name="Text 8"/>
          <p:cNvSpPr/>
          <p:nvPr/>
        </p:nvSpPr>
        <p:spPr>
          <a:xfrm>
            <a:off x="11139173" y="6235725"/>
            <a:ext cx="23997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A5</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01C"/>
                </a:solidFill>
                <a:latin typeface="IBM Plex Sans" pitchFamily="34" charset="0"/>
                <a:ea typeface="IBM Plex Sans" pitchFamily="34" charset="-122"/>
                <a:cs typeface="IBM Plex Sans" pitchFamily="34" charset="-120"/>
              </a:rPr>
              <a:t>APPENDIX · QUESTIONS ON WHY IT’S FASTER</a:t>
            </a:r>
            <a:endParaRPr lang="en-US" sz="1200" dirty="0"/>
          </a:p>
        </p:txBody>
      </p:sp>
      <p:sp>
        <p:nvSpPr>
          <p:cNvPr id="3" name="Text 1"/>
          <p:cNvSpPr/>
          <p:nvPr>
            <p:ph type="title"/>
          </p:nvPr>
        </p:nvSpPr>
        <p:spPr>
          <a:xfrm>
            <a:off x="812767" y="1102233"/>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332B"/>
                </a:solidFill>
                <a:latin typeface="Source Serif 4" pitchFamily="18" charset="0"/>
                <a:ea typeface="Source Serif 4" pitchFamily="18" charset="-122"/>
                <a:cs typeface="Source Serif 4" pitchFamily="18" charset="-120"/>
              </a:rPr>
              <a:t>The hard work is done before anyone asks</a:t>
            </a:r>
            <a:endParaRPr lang="en-US" sz="3200" dirty="0"/>
          </a:p>
        </p:txBody>
      </p:sp>
      <p:sp>
        <p:nvSpPr>
          <p:cNvPr id="4" name="Shape 2"/>
          <p:cNvSpPr/>
          <p:nvPr/>
        </p:nvSpPr>
        <p:spPr>
          <a:xfrm>
            <a:off x="812767" y="1732268"/>
            <a:ext cx="10566466" cy="0"/>
          </a:xfrm>
          <a:prstGeom prst="line">
            <a:avLst/>
          </a:prstGeom>
          <a:noFill/>
          <a:ln w="10583">
            <a:solidFill>
              <a:srgbClr val="141413">
                <a:alpha val="22000"/>
              </a:srgbClr>
            </a:solidFill>
            <a:prstDash val="solid"/>
          </a:ln>
        </p:spPr>
      </p:sp>
      <p:sp>
        <p:nvSpPr>
          <p:cNvPr id="5" name="Shape 3"/>
          <p:cNvSpPr/>
          <p:nvPr/>
        </p:nvSpPr>
        <p:spPr>
          <a:xfrm>
            <a:off x="818059" y="1726977"/>
            <a:ext cx="0" cy="2857004"/>
          </a:xfrm>
          <a:prstGeom prst="line">
            <a:avLst/>
          </a:prstGeom>
          <a:noFill/>
          <a:ln w="10583">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7650" y="1801060"/>
          <a:ext cx="10327283" cy="2719420"/>
        </p:xfrm>
        <a:graphic>
          <a:graphicData uri="http://schemas.openxmlformats.org/drawingml/2006/table">
            <a:tbl>
              <a:tblPr/>
              <a:tblGrid>
                <a:gridCol w="2065457"/>
                <a:gridCol w="3201458"/>
                <a:gridCol w="3201458"/>
                <a:gridCol w="1858911"/>
              </a:tblGrid>
              <a:tr h="330564">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Reason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Earth Engine (today)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Effect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C26"/>
                      </a:solidFill>
                      <a:prstDash val="solid"/>
                      <a:round/>
                      <a:headEnd type="none" w="med" len="med"/>
                      <a:tailEnd type="none" w="med" len="med"/>
                    </a:lnL>
                    <a:lnR w="12700" cap="flat" cmpd="sng" algn="ctr">
                      <a:solidFill>
                        <a:srgbClr val="162C26"/>
                      </a:solidFill>
                      <a:prstDash val="solid"/>
                      <a:round/>
                      <a:headEnd type="none" w="med" len="med"/>
                      <a:tailEnd type="none" w="med" len="med"/>
                    </a:lnR>
                    <a:lnT w="0" cap="flat" cmpd="sng" algn="ctr">
                      <a:noFill/>
                    </a:lnT>
                    <a:lnB w="12700" cap="flat" cmpd="sng" algn="ctr">
                      <a:solidFill>
                        <a:srgbClr val="162C26"/>
                      </a:solidFill>
                      <a:prstDash val="solid"/>
                      <a:round/>
                      <a:headEnd type="none" w="med" len="med"/>
                      <a:tailEnd type="none" w="med" len="med"/>
                    </a:lnB>
                    <a:solidFill>
                      <a:srgbClr val="17332B"/>
                    </a:solidFill>
                  </a:tcPr>
                </a:tc>
              </a:tr>
              <a:tr h="757204">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1. When the work happens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Every request redoes it all: which pixels fall in the farm, processing the full layers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Done once: farm cells at upload, layers condensed to 16 bits per cell at each 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F6FA3"/>
                          </a:solidFill>
                          <a:latin typeface="IBM Plex Sans" pitchFamily="34" charset="0"/>
                          <a:ea typeface="IBM Plex Sans" pitchFamily="34" charset="-122"/>
                          <a:cs typeface="IBM Plex Sans" pitchFamily="34" charset="-120"/>
                        </a:rPr>
                        <a:t>A check is a lookup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62C2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3884">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2. Data touched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Full layers, several bands, combined on the fly; most compute goes on preparing pixels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About one tile, under 1 kB, already filtered to what the rule needs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F6FA3"/>
                          </a:solidFill>
                          <a:latin typeface="IBM Plex Sans" pitchFamily="34" charset="0"/>
                          <a:ea typeface="IBM Plex Sans" pitchFamily="34" charset="-122"/>
                          <a:cs typeface="IBM Plex Sans" pitchFamily="34" charset="-120"/>
                        </a:rPr>
                        <a:t>Tiny reads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r h="543884">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3. Where it runs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Google’s servers: a trip over the internet plus queueing, 0.4–6.9 s each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On the same machine as the files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F6FA3"/>
                          </a:solidFill>
                          <a:latin typeface="IBM Plex Sans" pitchFamily="34" charset="0"/>
                          <a:ea typeface="IBM Plex Sans" pitchFamily="34" charset="-122"/>
                          <a:cs typeface="IBM Plex Sans" pitchFamily="34" charset="-120"/>
                        </a:rPr>
                        <a:t>No network wait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3C0B9"/>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3884">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4. How many at once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At most 20 requests at once on the Basic plan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E3B35"/>
                          </a:solidFill>
                          <a:latin typeface="IBM Plex Sans" pitchFamily="34" charset="0"/>
                          <a:ea typeface="IBM Plex Sans" pitchFamily="34" charset="-122"/>
                          <a:cs typeface="IBM Plex Sans" pitchFamily="34" charset="-120"/>
                        </a:rPr>
                        <a:t>All farms in one query: 500 in 0.34 s, ≈ 0.67 ms each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c>
                  <a:txBody>
                    <a:bodyPr/>
                    <a:lstStyle/>
                    <a:p>
                      <a:pPr indent="0" marL="0">
                        <a:lnSpc>
                          <a:spcPts val="1680"/>
                        </a:lnSpc>
                        <a:buNone/>
                      </a:pPr>
                      <a:r>
                        <a:rPr lang="en-US" sz="1200" dirty="0">
                          <a:solidFill>
                            <a:srgbClr val="2F6FA3"/>
                          </a:solidFill>
                          <a:latin typeface="IBM Plex Sans" pitchFamily="34" charset="0"/>
                          <a:ea typeface="IBM Plex Sans" pitchFamily="34" charset="-122"/>
                          <a:cs typeface="IBM Plex Sans" pitchFamily="34" charset="-120"/>
                        </a:rPr>
                        <a:t>No cap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0B9"/>
                      </a:solidFill>
                      <a:prstDash val="solid"/>
                      <a:round/>
                      <a:headEnd type="none" w="med" len="med"/>
                      <a:tailEnd type="none" w="med" len="med"/>
                    </a:lnL>
                    <a:lnR w="12700" cap="flat" cmpd="sng" algn="ctr">
                      <a:solidFill>
                        <a:srgbClr val="C3C0B9"/>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3C0B9"/>
                      </a:solidFill>
                      <a:prstDash val="solid"/>
                      <a:round/>
                      <a:headEnd type="none" w="med" len="med"/>
                      <a:tailEnd type="none" w="med" len="med"/>
                    </a:lnB>
                    <a:solidFill>
                      <a:srgbClr val="F4F1E8"/>
                    </a:solidFill>
                  </a:tcPr>
                </a:tc>
              </a:tr>
            </a:tbl>
          </a:graphicData>
        </a:graphic>
      </p:graphicFrame>
      <p:sp>
        <p:nvSpPr>
          <p:cNvPr id="7" name="Shape 4"/>
          <p:cNvSpPr/>
          <p:nvPr/>
        </p:nvSpPr>
        <p:spPr>
          <a:xfrm>
            <a:off x="812767" y="4774456"/>
            <a:ext cx="5207000" cy="0"/>
          </a:xfrm>
          <a:prstGeom prst="line">
            <a:avLst/>
          </a:prstGeom>
          <a:noFill/>
          <a:ln w="25400">
            <a:solidFill>
              <a:srgbClr val="2F6FA3"/>
            </a:solidFill>
            <a:prstDash val="solid"/>
          </a:ln>
        </p:spPr>
      </p:sp>
      <p:sp>
        <p:nvSpPr>
          <p:cNvPr id="8" name="Text 5"/>
          <p:cNvSpPr/>
          <p:nvPr/>
        </p:nvSpPr>
        <p:spPr>
          <a:xfrm>
            <a:off x="812767" y="4884452"/>
            <a:ext cx="53632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Reanalysis multiplies it</a:t>
            </a:r>
            <a:endParaRPr lang="en-US" sz="1400" dirty="0"/>
          </a:p>
        </p:txBody>
      </p:sp>
      <p:sp>
        <p:nvSpPr>
          <p:cNvPr id="9" name="Text 6"/>
          <p:cNvSpPr/>
          <p:nvPr/>
        </p:nvSpPr>
        <p:spPr>
          <a:xfrm>
            <a:off x="812767" y="5135811"/>
            <a:ext cx="53632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We also skip farms that can’t have changed: an update re-checked 39 of 500.</a:t>
            </a:r>
            <a:endParaRPr lang="en-US" sz="1200" dirty="0"/>
          </a:p>
        </p:txBody>
      </p:sp>
      <p:sp>
        <p:nvSpPr>
          <p:cNvPr id="10" name="Shape 7"/>
          <p:cNvSpPr/>
          <p:nvPr/>
        </p:nvSpPr>
        <p:spPr>
          <a:xfrm>
            <a:off x="6172150" y="4774456"/>
            <a:ext cx="5207083" cy="0"/>
          </a:xfrm>
          <a:prstGeom prst="line">
            <a:avLst/>
          </a:prstGeom>
          <a:noFill/>
          <a:ln w="25400">
            <a:solidFill>
              <a:srgbClr val="C2652A"/>
            </a:solidFill>
            <a:prstDash val="solid"/>
          </a:ln>
        </p:spPr>
      </p:sp>
      <p:sp>
        <p:nvSpPr>
          <p:cNvPr id="11" name="Text 8"/>
          <p:cNvSpPr/>
          <p:nvPr/>
        </p:nvSpPr>
        <p:spPr>
          <a:xfrm>
            <a:off x="6172150" y="4884452"/>
            <a:ext cx="536329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332B"/>
                </a:solidFill>
                <a:latin typeface="IBM Plex Sans" pitchFamily="34" charset="0"/>
                <a:ea typeface="IBM Plex Sans" pitchFamily="34" charset="-122"/>
                <a:cs typeface="IBM Plex Sans" pitchFamily="34" charset="-120"/>
              </a:rPr>
              <a:t>Keep it honest</a:t>
            </a:r>
            <a:endParaRPr lang="en-US" sz="1400" dirty="0"/>
          </a:p>
        </p:txBody>
      </p:sp>
      <p:sp>
        <p:nvSpPr>
          <p:cNvPr id="12" name="Text 9"/>
          <p:cNvSpPr/>
          <p:nvPr/>
        </p:nvSpPr>
        <p:spPr>
          <a:xfrm>
            <a:off x="6172150" y="5135811"/>
            <a:ext cx="536329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24B"/>
                </a:solidFill>
                <a:latin typeface="IBM Plex Sans" pitchFamily="34" charset="0"/>
                <a:ea typeface="IBM Plex Sans" pitchFamily="34" charset="-122"/>
                <a:cs typeface="IBM Plex Sans" pitchFamily="34" charset="-120"/>
              </a:rPr>
              <a:t>EE compute is small (≈ $19 per million). Batched it’s ≈ 4.4 h per million; we’re still ≈ 24× faster.</a:t>
            </a:r>
            <a:endParaRPr lang="en-US" sz="1200" dirty="0"/>
          </a:p>
        </p:txBody>
      </p:sp>
      <p:sp>
        <p:nvSpPr>
          <p:cNvPr id="13" name="Text 10"/>
          <p:cNvSpPr/>
          <p:nvPr/>
        </p:nvSpPr>
        <p:spPr>
          <a:xfrm>
            <a:off x="812767" y="6235725"/>
            <a:ext cx="7558286"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Backup · show only if asked · 11 min per million extrapolated from 500 farms, scales linearly</a:t>
            </a:r>
            <a:endParaRPr lang="en-US" sz="1200" dirty="0"/>
          </a:p>
        </p:txBody>
      </p:sp>
      <p:sp>
        <p:nvSpPr>
          <p:cNvPr id="14" name="Text 11"/>
          <p:cNvSpPr/>
          <p:nvPr/>
        </p:nvSpPr>
        <p:spPr>
          <a:xfrm>
            <a:off x="11139173" y="6235725"/>
            <a:ext cx="239977" cy="24128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64"/>
                </a:solidFill>
                <a:latin typeface="IBM Plex Sans" pitchFamily="34" charset="0"/>
                <a:ea typeface="IBM Plex Sans" pitchFamily="34" charset="-122"/>
                <a:cs typeface="IBM Plex Sans" pitchFamily="34" charset="-120"/>
              </a:rPr>
              <a:t>A6</a:t>
            </a:r>
            <a:endParaRPr lang="en-US" sz="1200" dirty="0"/>
          </a:p>
        </p:txBody>
      </p:sp>
    </p:spTree>
  </p:cSld>
  <p:clrMapOvr>
    <a:masterClrMapping/>
  </p:clrMapOvr>
</p:sld>
</file>

<file path=ppt/theme/theme1.xml><?xml version="1.0" encoding="utf-8"?>
<a:theme xmlns:a="http://schemas.openxmlformats.org/drawingml/2006/main" name="Keep the decision, not the data (v2)">
  <a:themeElements>
    <a:clrScheme name="Keep the decision, not the data (v2)">
      <a:dk1>
        <a:srgbClr val="17332B"/>
      </a:dk1>
      <a:lt1>
        <a:srgbClr val="EFEBE0"/>
      </a:lt1>
      <a:dk2>
        <a:srgbClr val="4D6158"/>
      </a:dk2>
      <a:lt2>
        <a:srgbClr val="D9D9CE"/>
      </a:lt2>
      <a:accent1>
        <a:srgbClr val="A4501C"/>
      </a:accent1>
      <a:accent2>
        <a:srgbClr val="C2652A"/>
      </a:accent2>
      <a:accent3>
        <a:srgbClr val="E3A06B"/>
      </a:accent3>
      <a:accent4>
        <a:srgbClr val="2F6FA3"/>
      </a:accent4>
      <a:accent5>
        <a:srgbClr val="44524B"/>
      </a:accent5>
      <a:accent6>
        <a:srgbClr val="5E6B64"/>
      </a:accent6>
      <a:hlink>
        <a:srgbClr val="0563C1"/>
      </a:hlink>
      <a:folHlink>
        <a:srgbClr val="954F72"/>
      </a:folHlink>
    </a:clrScheme>
    <a:fontScheme name="Keep the decision, not the data (v2)">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Keep the decision, not the data (v2)</dc:title>
  <dc:subject/>
  <dc:creator/>
  <cp:lastModifiedBy/>
  <cp:revision>1</cp:revision>
  <dcterms:created xsi:type="dcterms:W3CDTF">2026-10-16T18:36:43Z</dcterms:created>
  <dcterms:modified xsi:type="dcterms:W3CDTF">2026-10-16T18:36:43Z</dcterms:modified>
</cp:coreProperties>
</file>